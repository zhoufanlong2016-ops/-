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22"/>
  </p:notesMasterIdLst>
  <p:sldIdLst>
    <p:sldId id="263" r:id="rId3"/>
    <p:sldId id="275" r:id="rId4"/>
    <p:sldId id="282" r:id="rId5"/>
    <p:sldId id="260" r:id="rId6"/>
    <p:sldId id="364" r:id="rId7"/>
    <p:sldId id="360" r:id="rId8"/>
    <p:sldId id="361" r:id="rId9"/>
    <p:sldId id="362" r:id="rId10"/>
    <p:sldId id="363" r:id="rId11"/>
    <p:sldId id="283" r:id="rId12"/>
    <p:sldId id="365" r:id="rId13"/>
    <p:sldId id="366" r:id="rId14"/>
    <p:sldId id="367" r:id="rId15"/>
    <p:sldId id="371" r:id="rId16"/>
    <p:sldId id="313" r:id="rId17"/>
    <p:sldId id="368" r:id="rId18"/>
    <p:sldId id="369" r:id="rId19"/>
    <p:sldId id="372" r:id="rId20"/>
    <p:sldId id="370" r:id="rId2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3" userDrawn="1">
          <p15:clr>
            <a:srgbClr val="A4A3A4"/>
          </p15:clr>
        </p15:guide>
        <p15:guide id="2" pos="2800" userDrawn="1">
          <p15:clr>
            <a:srgbClr val="A4A3A4"/>
          </p15:clr>
        </p15:guide>
      </p15:sldGuideLst>
    </p:ext>
    <p:ext uri="{2D200454-40CA-4A62-9FC3-DE9A4176ACB9}">
      <p15:notesGuideLst xmlns:p15="http://schemas.microsoft.com/office/powerpoint/2012/main">
        <p15:guide id="1" orient="horz" pos="2884">
          <p15:clr>
            <a:srgbClr val="A4A3A4"/>
          </p15:clr>
        </p15:guide>
        <p15:guide id="2" pos="209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5" d="100"/>
          <a:sy n="105" d="100"/>
        </p:scale>
        <p:origin x="806" y="38"/>
      </p:cViewPr>
      <p:guideLst>
        <p:guide orient="horz" pos="1623"/>
        <p:guide pos="2800"/>
      </p:guideLst>
    </p:cSldViewPr>
  </p:slideViewPr>
  <p:notesTextViewPr>
    <p:cViewPr>
      <p:scale>
        <a:sx n="100" d="100"/>
        <a:sy n="100" d="100"/>
      </p:scale>
      <p:origin x="0" y="0"/>
    </p:cViewPr>
  </p:notesTextViewPr>
  <p:notesViewPr>
    <p:cSldViewPr>
      <p:cViewPr varScale="1">
        <p:scale>
          <a:sx n="86" d="100"/>
          <a:sy n="86" d="100"/>
        </p:scale>
        <p:origin x="-3894" y="-90"/>
      </p:cViewPr>
      <p:guideLst>
        <p:guide orient="horz" pos="2884"/>
        <p:guide pos="209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A7B7EB4-10DF-45A7-A402-565BD51F9B67}" type="doc">
      <dgm:prSet loTypeId="urn:microsoft.com/office/officeart/2005/8/layout/list1#1" loCatId="list" qsTypeId="urn:microsoft.com/office/officeart/2005/8/quickstyle/simple1#3" qsCatId="simple" csTypeId="urn:microsoft.com/office/officeart/2005/8/colors/accent1_2#3" csCatId="accent1" phldr="1"/>
      <dgm:spPr/>
      <dgm:t>
        <a:bodyPr/>
        <a:lstStyle/>
        <a:p>
          <a:endParaRPr lang="zh-CN" altLang="en-US"/>
        </a:p>
      </dgm:t>
    </dgm:pt>
    <dgm:pt modelId="{2C39741B-25E8-470F-B50D-640C5B1CEC0C}">
      <dgm:prSet phldr="0" custT="1"/>
      <dgm:spPr/>
      <dgm:t>
        <a:bodyPr vert="horz" wrap="square"/>
        <a:lstStyle/>
        <a:p>
          <a:pPr rtl="0">
            <a:lnSpc>
              <a:spcPct val="100000"/>
            </a:lnSpc>
            <a:spcBef>
              <a:spcPct val="0"/>
            </a:spcBef>
            <a:spcAft>
              <a:spcPct val="35000"/>
            </a:spcAft>
          </a:pPr>
          <a:r>
            <a:rPr lang="zh-CN" sz="800" b="1" dirty="0">
              <a:latin typeface="Arial"/>
              <a:ea typeface="SimHei"/>
              <a:cs typeface="Arial"/>
              <a:sym typeface="Arial"/>
            </a:rPr>
            <a:t>(1) Project Introduction</a:t>
          </a:r>
          <a:endParaRPr lang="zh-CN" altLang="en-US" sz="1800" b="1" dirty="0"/>
        </a:p>
      </dgm:t>
    </dgm:pt>
    <dgm:pt modelId="{CDFF6A37-A04F-4BDA-9C35-7EA6F69A585A}" type="parTrans" cxnId="{DA562DEB-B537-4E53-9510-DD2D941E6295}">
      <dgm:prSet/>
      <dgm:spPr/>
      <dgm:t>
        <a:bodyPr/>
        <a:lstStyle/>
        <a:p>
          <a:endParaRPr lang="zh-CN" altLang="en-US"/>
        </a:p>
      </dgm:t>
    </dgm:pt>
    <dgm:pt modelId="{85680420-EB13-44CF-8AE0-782EA68EA2FB}" type="sibTrans" cxnId="{DA562DEB-B537-4E53-9510-DD2D941E6295}">
      <dgm:prSet/>
      <dgm:spPr/>
      <dgm:t>
        <a:bodyPr/>
        <a:lstStyle/>
        <a:p>
          <a:endParaRPr lang="zh-CN" altLang="en-US"/>
        </a:p>
      </dgm:t>
    </dgm:pt>
    <dgm:pt modelId="{4A1711A8-55BA-45E3-AD66-4E12C0DE1D7F}">
      <dgm:prSet phldr="0" custT="1"/>
      <dgm:spPr/>
      <dgm:t>
        <a:bodyPr vert="horz" wrap="square"/>
        <a:lstStyle/>
        <a:p>
          <a:pPr rtl="0">
            <a:lnSpc>
              <a:spcPct val="100000"/>
            </a:lnSpc>
            <a:spcBef>
              <a:spcPct val="0"/>
            </a:spcBef>
            <a:spcAft>
              <a:spcPct val="35000"/>
            </a:spcAft>
          </a:pPr>
          <a:r>
            <a:rPr lang="zh-CN" sz="800" b="1" dirty="0">
              <a:latin typeface="Arial Narrow"/>
              <a:ea typeface="SimHei"/>
              <a:cs typeface="Arial Narrow"/>
              <a:sym typeface="Arial Narrow"/>
            </a:rPr>
            <a:t>(II) Bid Evaluation Rules and Bid Organization</a:t>
          </a:r>
          <a:endParaRPr lang="zh-CN" sz="1800" b="1" dirty="0"/>
        </a:p>
      </dgm:t>
    </dgm:pt>
    <dgm:pt modelId="{D01911FD-E78D-4905-AE84-A952DC4FDB8C}" type="parTrans" cxnId="{736DD24E-74E6-4220-9CC9-25BE1E11B2D4}">
      <dgm:prSet/>
      <dgm:spPr/>
      <dgm:t>
        <a:bodyPr/>
        <a:lstStyle/>
        <a:p>
          <a:endParaRPr lang="zh-CN" altLang="en-US"/>
        </a:p>
      </dgm:t>
    </dgm:pt>
    <dgm:pt modelId="{E69EA44D-985C-43C6-8BCD-16ADB89B4758}" type="sibTrans" cxnId="{736DD24E-74E6-4220-9CC9-25BE1E11B2D4}">
      <dgm:prSet/>
      <dgm:spPr/>
      <dgm:t>
        <a:bodyPr/>
        <a:lstStyle/>
        <a:p>
          <a:endParaRPr lang="zh-CN" altLang="en-US"/>
        </a:p>
      </dgm:t>
    </dgm:pt>
    <dgm:pt modelId="{6DD90F3D-FA57-45CC-8097-C84E0FA265CA}">
      <dgm:prSet phldr="0" custT="1"/>
      <dgm:spPr/>
      <dgm:t>
        <a:bodyPr vert="horz" wrap="square"/>
        <a:lstStyle/>
        <a:p>
          <a:pPr rtl="0">
            <a:lnSpc>
              <a:spcPct val="100000"/>
            </a:lnSpc>
            <a:spcBef>
              <a:spcPct val="0"/>
            </a:spcBef>
            <a:spcAft>
              <a:spcPct val="35000"/>
            </a:spcAft>
          </a:pPr>
          <a:r>
            <a:rPr lang="zh-CN" sz="800" b="1" dirty="0">
              <a:latin typeface="Arial"/>
              <a:ea typeface="SimHei"/>
              <a:cs typeface="Arial"/>
              <a:sym typeface="Arial"/>
            </a:rPr>
            <a:t>(3) Competition and Risk Analysis</a:t>
          </a:r>
          <a:endParaRPr lang="zh-CN" sz="1800" b="1" dirty="0"/>
        </a:p>
      </dgm:t>
    </dgm:pt>
    <dgm:pt modelId="{52787310-ACFC-4806-85DD-AF4AEDB450BE}" type="parTrans" cxnId="{6639B92C-DFBB-4C67-BBAB-97176951889B}">
      <dgm:prSet/>
      <dgm:spPr/>
      <dgm:t>
        <a:bodyPr/>
        <a:lstStyle/>
        <a:p>
          <a:endParaRPr lang="zh-CN" altLang="en-US"/>
        </a:p>
      </dgm:t>
    </dgm:pt>
    <dgm:pt modelId="{5D3236B7-6796-422E-9880-E179A263D348}" type="sibTrans" cxnId="{6639B92C-DFBB-4C67-BBAB-97176951889B}">
      <dgm:prSet/>
      <dgm:spPr/>
      <dgm:t>
        <a:bodyPr/>
        <a:lstStyle/>
        <a:p>
          <a:endParaRPr lang="zh-CN" altLang="en-US"/>
        </a:p>
      </dgm:t>
    </dgm:pt>
    <dgm:pt modelId="{05FE66B2-B5FD-45A1-8AFE-820A095D28CA}" type="pres">
      <dgm:prSet presAssocID="{0A7B7EB4-10DF-45A7-A402-565BD51F9B67}" presName="linear" presStyleCnt="0">
        <dgm:presLayoutVars>
          <dgm:dir/>
          <dgm:animLvl val="lvl"/>
          <dgm:resizeHandles val="exact"/>
        </dgm:presLayoutVars>
      </dgm:prSet>
      <dgm:spPr/>
    </dgm:pt>
    <dgm:pt modelId="{9B3850B9-374B-42A7-B791-BE6D706A568E}" type="pres">
      <dgm:prSet presAssocID="{2C39741B-25E8-470F-B50D-640C5B1CEC0C}" presName="parentLin" presStyleCnt="0"/>
      <dgm:spPr/>
    </dgm:pt>
    <dgm:pt modelId="{67228E6A-7A45-4175-A8DE-2D26EA40E46D}" type="pres">
      <dgm:prSet presAssocID="{2C39741B-25E8-470F-B50D-640C5B1CEC0C}" presName="parentLeftMargin" presStyleLbl="node1" presStyleIdx="0" presStyleCnt="3"/>
      <dgm:spPr/>
    </dgm:pt>
    <dgm:pt modelId="{34AD5942-41A4-4691-A143-B88CC0CD3BAC}" type="pres">
      <dgm:prSet presAssocID="{2C39741B-25E8-470F-B50D-640C5B1CEC0C}" presName="parentText" presStyleLbl="node1" presStyleIdx="0" presStyleCnt="3">
        <dgm:presLayoutVars>
          <dgm:chMax val="0"/>
          <dgm:bulletEnabled val="1"/>
        </dgm:presLayoutVars>
      </dgm:prSet>
      <dgm:spPr/>
    </dgm:pt>
    <dgm:pt modelId="{765563EF-6927-497B-ADAF-3184FC54FC08}" type="pres">
      <dgm:prSet presAssocID="{2C39741B-25E8-470F-B50D-640C5B1CEC0C}" presName="negativeSpace" presStyleCnt="0"/>
      <dgm:spPr/>
    </dgm:pt>
    <dgm:pt modelId="{CAE10567-CE09-44AC-8E8F-C5B9F21AC231}" type="pres">
      <dgm:prSet presAssocID="{2C39741B-25E8-470F-B50D-640C5B1CEC0C}" presName="childText" presStyleLbl="conFgAcc1" presStyleIdx="0" presStyleCnt="3">
        <dgm:presLayoutVars>
          <dgm:bulletEnabled val="1"/>
        </dgm:presLayoutVars>
      </dgm:prSet>
      <dgm:spPr/>
    </dgm:pt>
    <dgm:pt modelId="{74E33908-6A2D-4900-A71E-E9F326ACCB17}" type="pres">
      <dgm:prSet presAssocID="{85680420-EB13-44CF-8AE0-782EA68EA2FB}" presName="spaceBetweenRectangles" presStyleCnt="0"/>
      <dgm:spPr/>
    </dgm:pt>
    <dgm:pt modelId="{4BD7A068-C0B5-4B66-A1C5-959FAFA94ECA}" type="pres">
      <dgm:prSet presAssocID="{4A1711A8-55BA-45E3-AD66-4E12C0DE1D7F}" presName="parentLin" presStyleCnt="0"/>
      <dgm:spPr/>
    </dgm:pt>
    <dgm:pt modelId="{ADC5E9BF-D191-44B2-8AFE-874D2F110781}" type="pres">
      <dgm:prSet presAssocID="{4A1711A8-55BA-45E3-AD66-4E12C0DE1D7F}" presName="parentLeftMargin" presStyleLbl="node1" presStyleIdx="0" presStyleCnt="3"/>
      <dgm:spPr/>
    </dgm:pt>
    <dgm:pt modelId="{AABCF39E-33B0-4101-BB8E-E90D5ABED560}" type="pres">
      <dgm:prSet presAssocID="{4A1711A8-55BA-45E3-AD66-4E12C0DE1D7F}" presName="parentText" presStyleLbl="node1" presStyleIdx="1" presStyleCnt="3">
        <dgm:presLayoutVars>
          <dgm:chMax val="0"/>
          <dgm:bulletEnabled val="1"/>
        </dgm:presLayoutVars>
      </dgm:prSet>
      <dgm:spPr/>
    </dgm:pt>
    <dgm:pt modelId="{AAAB2740-A124-4503-AA17-E65C1FF7ADFC}" type="pres">
      <dgm:prSet presAssocID="{4A1711A8-55BA-45E3-AD66-4E12C0DE1D7F}" presName="negativeSpace" presStyleCnt="0"/>
      <dgm:spPr/>
    </dgm:pt>
    <dgm:pt modelId="{35F1A7BB-5848-4134-834D-A95E69AAE32F}" type="pres">
      <dgm:prSet presAssocID="{4A1711A8-55BA-45E3-AD66-4E12C0DE1D7F}" presName="childText" presStyleLbl="conFgAcc1" presStyleIdx="1" presStyleCnt="3">
        <dgm:presLayoutVars>
          <dgm:bulletEnabled val="1"/>
        </dgm:presLayoutVars>
      </dgm:prSet>
      <dgm:spPr/>
    </dgm:pt>
    <dgm:pt modelId="{4124E96A-AA91-4578-8EA3-32B415756EF3}" type="pres">
      <dgm:prSet presAssocID="{E69EA44D-985C-43C6-8BCD-16ADB89B4758}" presName="spaceBetweenRectangles" presStyleCnt="0"/>
      <dgm:spPr/>
    </dgm:pt>
    <dgm:pt modelId="{DB289762-6268-48D9-95BE-9DBBA274EC37}" type="pres">
      <dgm:prSet presAssocID="{6DD90F3D-FA57-45CC-8097-C84E0FA265CA}" presName="parentLin" presStyleCnt="0"/>
      <dgm:spPr/>
    </dgm:pt>
    <dgm:pt modelId="{2EA9F202-9A91-4577-94DC-6F606EF7D86F}" type="pres">
      <dgm:prSet presAssocID="{6DD90F3D-FA57-45CC-8097-C84E0FA265CA}" presName="parentLeftMargin" presStyleLbl="node1" presStyleIdx="1" presStyleCnt="3"/>
      <dgm:spPr/>
    </dgm:pt>
    <dgm:pt modelId="{842F7237-80AB-4CBE-A86A-099502AC5B28}" type="pres">
      <dgm:prSet presAssocID="{6DD90F3D-FA57-45CC-8097-C84E0FA265CA}" presName="parentText" presStyleLbl="node1" presStyleIdx="2" presStyleCnt="3">
        <dgm:presLayoutVars>
          <dgm:chMax val="0"/>
          <dgm:bulletEnabled val="1"/>
        </dgm:presLayoutVars>
      </dgm:prSet>
      <dgm:spPr/>
    </dgm:pt>
    <dgm:pt modelId="{57E3A75A-B477-4D36-8ED8-F96426A65490}" type="pres">
      <dgm:prSet presAssocID="{6DD90F3D-FA57-45CC-8097-C84E0FA265CA}" presName="negativeSpace" presStyleCnt="0"/>
      <dgm:spPr/>
    </dgm:pt>
    <dgm:pt modelId="{3137EA89-BF5A-44F6-9E6D-2E892534E866}" type="pres">
      <dgm:prSet presAssocID="{6DD90F3D-FA57-45CC-8097-C84E0FA265CA}" presName="childText" presStyleLbl="conFgAcc1" presStyleIdx="2" presStyleCnt="3">
        <dgm:presLayoutVars>
          <dgm:bulletEnabled val="1"/>
        </dgm:presLayoutVars>
      </dgm:prSet>
      <dgm:spPr/>
    </dgm:pt>
  </dgm:ptLst>
  <dgm:cxnLst>
    <dgm:cxn modelId="{39F3EF0B-E2AA-4164-8D59-8553477FB47B}" type="presOf" srcId="{6DD90F3D-FA57-45CC-8097-C84E0FA265CA}" destId="{842F7237-80AB-4CBE-A86A-099502AC5B28}" srcOrd="1" destOrd="0" presId="urn:microsoft.com/office/officeart/2005/8/layout/list1#1"/>
    <dgm:cxn modelId="{AFFE030C-BA99-473F-BAD5-6309364DE6C5}" type="presOf" srcId="{6DD90F3D-FA57-45CC-8097-C84E0FA265CA}" destId="{2EA9F202-9A91-4577-94DC-6F606EF7D86F}" srcOrd="0" destOrd="0" presId="urn:microsoft.com/office/officeart/2005/8/layout/list1#1"/>
    <dgm:cxn modelId="{2CBF041E-7FF3-42E4-9AF4-C76D5BC18BDB}" type="presOf" srcId="{4A1711A8-55BA-45E3-AD66-4E12C0DE1D7F}" destId="{AABCF39E-33B0-4101-BB8E-E90D5ABED560}" srcOrd="1" destOrd="0" presId="urn:microsoft.com/office/officeart/2005/8/layout/list1#1"/>
    <dgm:cxn modelId="{EB071227-0566-4A43-8320-6402A12AEC18}" type="presOf" srcId="{0A7B7EB4-10DF-45A7-A402-565BD51F9B67}" destId="{05FE66B2-B5FD-45A1-8AFE-820A095D28CA}" srcOrd="0" destOrd="0" presId="urn:microsoft.com/office/officeart/2005/8/layout/list1#1"/>
    <dgm:cxn modelId="{6639B92C-DFBB-4C67-BBAB-97176951889B}" srcId="{0A7B7EB4-10DF-45A7-A402-565BD51F9B67}" destId="{6DD90F3D-FA57-45CC-8097-C84E0FA265CA}" srcOrd="2" destOrd="0" parTransId="{52787310-ACFC-4806-85DD-AF4AEDB450BE}" sibTransId="{5D3236B7-6796-422E-9880-E179A263D348}"/>
    <dgm:cxn modelId="{736DD24E-74E6-4220-9CC9-25BE1E11B2D4}" srcId="{0A7B7EB4-10DF-45A7-A402-565BD51F9B67}" destId="{4A1711A8-55BA-45E3-AD66-4E12C0DE1D7F}" srcOrd="1" destOrd="0" parTransId="{D01911FD-E78D-4905-AE84-A952DC4FDB8C}" sibTransId="{E69EA44D-985C-43C6-8BCD-16ADB89B4758}"/>
    <dgm:cxn modelId="{79068F9C-CD47-4627-B605-603CDC8FB6D3}" type="presOf" srcId="{4A1711A8-55BA-45E3-AD66-4E12C0DE1D7F}" destId="{ADC5E9BF-D191-44B2-8AFE-874D2F110781}" srcOrd="0" destOrd="0" presId="urn:microsoft.com/office/officeart/2005/8/layout/list1#1"/>
    <dgm:cxn modelId="{5A8A2DCA-4767-4923-BC8B-F5CB2E73AD9D}" type="presOf" srcId="{2C39741B-25E8-470F-B50D-640C5B1CEC0C}" destId="{34AD5942-41A4-4691-A143-B88CC0CD3BAC}" srcOrd="1" destOrd="0" presId="urn:microsoft.com/office/officeart/2005/8/layout/list1#1"/>
    <dgm:cxn modelId="{198256CF-E225-4D45-A7D7-51FCD6A566D0}" type="presOf" srcId="{2C39741B-25E8-470F-B50D-640C5B1CEC0C}" destId="{67228E6A-7A45-4175-A8DE-2D26EA40E46D}" srcOrd="0" destOrd="0" presId="urn:microsoft.com/office/officeart/2005/8/layout/list1#1"/>
    <dgm:cxn modelId="{DA562DEB-B537-4E53-9510-DD2D941E6295}" srcId="{0A7B7EB4-10DF-45A7-A402-565BD51F9B67}" destId="{2C39741B-25E8-470F-B50D-640C5B1CEC0C}" srcOrd="0" destOrd="0" parTransId="{CDFF6A37-A04F-4BDA-9C35-7EA6F69A585A}" sibTransId="{85680420-EB13-44CF-8AE0-782EA68EA2FB}"/>
    <dgm:cxn modelId="{B455B776-B82A-4F1B-89B8-EE0DA9A4A477}" type="presParOf" srcId="{05FE66B2-B5FD-45A1-8AFE-820A095D28CA}" destId="{9B3850B9-374B-42A7-B791-BE6D706A568E}" srcOrd="0" destOrd="0" presId="urn:microsoft.com/office/officeart/2005/8/layout/list1#1"/>
    <dgm:cxn modelId="{7D31DC0E-7B32-4C6E-9BEE-960AAC0E44B3}" type="presParOf" srcId="{9B3850B9-374B-42A7-B791-BE6D706A568E}" destId="{67228E6A-7A45-4175-A8DE-2D26EA40E46D}" srcOrd="0" destOrd="0" presId="urn:microsoft.com/office/officeart/2005/8/layout/list1#1"/>
    <dgm:cxn modelId="{6B5268DE-46BE-4D00-A4C6-89F17DA45D45}" type="presParOf" srcId="{9B3850B9-374B-42A7-B791-BE6D706A568E}" destId="{34AD5942-41A4-4691-A143-B88CC0CD3BAC}" srcOrd="1" destOrd="0" presId="urn:microsoft.com/office/officeart/2005/8/layout/list1#1"/>
    <dgm:cxn modelId="{B4A67BBD-BF2A-43A8-AC4F-F0BB413A5C2B}" type="presParOf" srcId="{05FE66B2-B5FD-45A1-8AFE-820A095D28CA}" destId="{765563EF-6927-497B-ADAF-3184FC54FC08}" srcOrd="1" destOrd="0" presId="urn:microsoft.com/office/officeart/2005/8/layout/list1#1"/>
    <dgm:cxn modelId="{39A8345E-E725-4611-8567-AE8575812EDA}" type="presParOf" srcId="{05FE66B2-B5FD-45A1-8AFE-820A095D28CA}" destId="{CAE10567-CE09-44AC-8E8F-C5B9F21AC231}" srcOrd="2" destOrd="0" presId="urn:microsoft.com/office/officeart/2005/8/layout/list1#1"/>
    <dgm:cxn modelId="{0D16DDC7-670B-4234-9B39-7009E67A9C4D}" type="presParOf" srcId="{05FE66B2-B5FD-45A1-8AFE-820A095D28CA}" destId="{74E33908-6A2D-4900-A71E-E9F326ACCB17}" srcOrd="3" destOrd="0" presId="urn:microsoft.com/office/officeart/2005/8/layout/list1#1"/>
    <dgm:cxn modelId="{ABE6060E-13E1-4E0E-8BFC-F0EFCD161562}" type="presParOf" srcId="{05FE66B2-B5FD-45A1-8AFE-820A095D28CA}" destId="{4BD7A068-C0B5-4B66-A1C5-959FAFA94ECA}" srcOrd="4" destOrd="0" presId="urn:microsoft.com/office/officeart/2005/8/layout/list1#1"/>
    <dgm:cxn modelId="{CA56A750-116C-478F-9B49-BBE3D7BA208C}" type="presParOf" srcId="{4BD7A068-C0B5-4B66-A1C5-959FAFA94ECA}" destId="{ADC5E9BF-D191-44B2-8AFE-874D2F110781}" srcOrd="0" destOrd="0" presId="urn:microsoft.com/office/officeart/2005/8/layout/list1#1"/>
    <dgm:cxn modelId="{28B1A6EF-1E47-4DE2-9FFF-9EB8C7B88BCF}" type="presParOf" srcId="{4BD7A068-C0B5-4B66-A1C5-959FAFA94ECA}" destId="{AABCF39E-33B0-4101-BB8E-E90D5ABED560}" srcOrd="1" destOrd="0" presId="urn:microsoft.com/office/officeart/2005/8/layout/list1#1"/>
    <dgm:cxn modelId="{C90CEDFB-0454-4A25-AEE6-EBD38212CA77}" type="presParOf" srcId="{05FE66B2-B5FD-45A1-8AFE-820A095D28CA}" destId="{AAAB2740-A124-4503-AA17-E65C1FF7ADFC}" srcOrd="5" destOrd="0" presId="urn:microsoft.com/office/officeart/2005/8/layout/list1#1"/>
    <dgm:cxn modelId="{DBB5FE4E-C8CA-41DE-AAA8-5542656C1C1A}" type="presParOf" srcId="{05FE66B2-B5FD-45A1-8AFE-820A095D28CA}" destId="{35F1A7BB-5848-4134-834D-A95E69AAE32F}" srcOrd="6" destOrd="0" presId="urn:microsoft.com/office/officeart/2005/8/layout/list1#1"/>
    <dgm:cxn modelId="{3F2E3554-55D5-41BE-B805-0F90EE08880C}" type="presParOf" srcId="{05FE66B2-B5FD-45A1-8AFE-820A095D28CA}" destId="{4124E96A-AA91-4578-8EA3-32B415756EF3}" srcOrd="7" destOrd="0" presId="urn:microsoft.com/office/officeart/2005/8/layout/list1#1"/>
    <dgm:cxn modelId="{1DF42F09-686B-41FE-B41E-678D414B1233}" type="presParOf" srcId="{05FE66B2-B5FD-45A1-8AFE-820A095D28CA}" destId="{DB289762-6268-48D9-95BE-9DBBA274EC37}" srcOrd="8" destOrd="0" presId="urn:microsoft.com/office/officeart/2005/8/layout/list1#1"/>
    <dgm:cxn modelId="{C453B031-C95C-41EC-A1CD-D3A0544E9024}" type="presParOf" srcId="{DB289762-6268-48D9-95BE-9DBBA274EC37}" destId="{2EA9F202-9A91-4577-94DC-6F606EF7D86F}" srcOrd="0" destOrd="0" presId="urn:microsoft.com/office/officeart/2005/8/layout/list1#1"/>
    <dgm:cxn modelId="{59574BE8-377C-43AC-B5C4-1C577A6D778A}" type="presParOf" srcId="{DB289762-6268-48D9-95BE-9DBBA274EC37}" destId="{842F7237-80AB-4CBE-A86A-099502AC5B28}" srcOrd="1" destOrd="0" presId="urn:microsoft.com/office/officeart/2005/8/layout/list1#1"/>
    <dgm:cxn modelId="{652AF2DE-1F7E-4229-A110-614C5EC85758}" type="presParOf" srcId="{05FE66B2-B5FD-45A1-8AFE-820A095D28CA}" destId="{57E3A75A-B477-4D36-8ED8-F96426A65490}" srcOrd="9" destOrd="0" presId="urn:microsoft.com/office/officeart/2005/8/layout/list1#1"/>
    <dgm:cxn modelId="{005C52C0-4215-41B7-BB2D-DE860BB19921}" type="presParOf" srcId="{05FE66B2-B5FD-45A1-8AFE-820A095D28CA}" destId="{3137EA89-BF5A-44F6-9E6D-2E892534E866}" srcOrd="10"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10567-CE09-44AC-8E8F-C5B9F21AC231}">
      <dsp:nvSpPr>
        <dsp:cNvPr id="0" name=""/>
        <dsp:cNvSpPr/>
      </dsp:nvSpPr>
      <dsp:spPr>
        <a:xfrm>
          <a:off x="0" y="384831"/>
          <a:ext cx="7200802" cy="579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AD5942-41A4-4691-A143-B88CC0CD3BAC}">
      <dsp:nvSpPr>
        <dsp:cNvPr id="0" name=""/>
        <dsp:cNvSpPr/>
      </dsp:nvSpPr>
      <dsp:spPr>
        <a:xfrm>
          <a:off x="360040" y="45351"/>
          <a:ext cx="5040561" cy="6789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21" tIns="0" rIns="190521" bIns="0" numCol="1" spcCol="1270" anchor="ctr" anchorCtr="0">
          <a:noAutofit/>
        </a:bodyPr>
        <a:lstStyle/>
        <a:p>
          <a:pPr marL="0" lvl="0" indent="0" algn="l" defTabSz="355600" rtl="0">
            <a:lnSpc>
              <a:spcPct val="100000"/>
            </a:lnSpc>
            <a:spcBef>
              <a:spcPct val="0"/>
            </a:spcBef>
            <a:spcAft>
              <a:spcPct val="35000"/>
            </a:spcAft>
            <a:buNone/>
          </a:pPr>
          <a:r>
            <a:rPr lang="en-US" altLang="zh-CN" sz="800" b="1" kern="1200" dirty="0">
              <a:latin typeface="Arial"/>
              <a:ea typeface="SimHei"/>
              <a:cs typeface="Arial"/>
              <a:sym typeface="Arial"/>
            </a:rPr>
            <a:t>(1) Project Introduction</a:t>
          </a:r>
          <a:endParaRPr lang="zh-CN" altLang="en-US" sz="1800" b="1" kern="1200" dirty="0"/>
        </a:p>
      </dsp:txBody>
      <dsp:txXfrm>
        <a:off x="393184" y="78495"/>
        <a:ext cx="4974273" cy="612672"/>
      </dsp:txXfrm>
    </dsp:sp>
    <dsp:sp modelId="{35F1A7BB-5848-4134-834D-A95E69AAE32F}">
      <dsp:nvSpPr>
        <dsp:cNvPr id="0" name=""/>
        <dsp:cNvSpPr/>
      </dsp:nvSpPr>
      <dsp:spPr>
        <a:xfrm>
          <a:off x="0" y="1428111"/>
          <a:ext cx="7200802" cy="579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ABCF39E-33B0-4101-BB8E-E90D5ABED560}">
      <dsp:nvSpPr>
        <dsp:cNvPr id="0" name=""/>
        <dsp:cNvSpPr/>
      </dsp:nvSpPr>
      <dsp:spPr>
        <a:xfrm>
          <a:off x="360040" y="1088631"/>
          <a:ext cx="5040561" cy="6789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21" tIns="0" rIns="190521" bIns="0" numCol="1" spcCol="1270" anchor="ctr" anchorCtr="0">
          <a:noAutofit/>
        </a:bodyPr>
        <a:lstStyle/>
        <a:p>
          <a:pPr marL="0" lvl="0" indent="0" algn="l" defTabSz="355600" rtl="0">
            <a:lnSpc>
              <a:spcPct val="100000"/>
            </a:lnSpc>
            <a:spcBef>
              <a:spcPct val="0"/>
            </a:spcBef>
            <a:spcAft>
              <a:spcPct val="35000"/>
            </a:spcAft>
            <a:buNone/>
          </a:pPr>
          <a:r>
            <a:rPr lang="en-US" altLang="zh-CN" sz="800" b="1" kern="1200" dirty="0">
              <a:latin typeface="Arial Narrow"/>
              <a:ea typeface="SimHei"/>
              <a:cs typeface="Arial Narrow"/>
              <a:sym typeface="Arial Narrow"/>
            </a:rPr>
            <a:t>(II) Bid Evaluation Rules and Bid Organization</a:t>
          </a:r>
          <a:endParaRPr lang="zh-CN" altLang="en-US" sz="1800" b="1" kern="1200" dirty="0"/>
        </a:p>
      </dsp:txBody>
      <dsp:txXfrm>
        <a:off x="393184" y="1121775"/>
        <a:ext cx="4974273" cy="612672"/>
      </dsp:txXfrm>
    </dsp:sp>
    <dsp:sp modelId="{3137EA89-BF5A-44F6-9E6D-2E892534E866}">
      <dsp:nvSpPr>
        <dsp:cNvPr id="0" name=""/>
        <dsp:cNvSpPr/>
      </dsp:nvSpPr>
      <dsp:spPr>
        <a:xfrm>
          <a:off x="0" y="2471391"/>
          <a:ext cx="7200802" cy="579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2F7237-80AB-4CBE-A86A-099502AC5B28}">
      <dsp:nvSpPr>
        <dsp:cNvPr id="0" name=""/>
        <dsp:cNvSpPr/>
      </dsp:nvSpPr>
      <dsp:spPr>
        <a:xfrm>
          <a:off x="360040" y="2131912"/>
          <a:ext cx="5040561" cy="6789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21" tIns="0" rIns="190521" bIns="0" numCol="1" spcCol="1270" anchor="ctr" anchorCtr="0">
          <a:noAutofit/>
        </a:bodyPr>
        <a:lstStyle/>
        <a:p>
          <a:pPr marL="0" lvl="0" indent="0" algn="l" defTabSz="355600" rtl="0">
            <a:lnSpc>
              <a:spcPct val="100000"/>
            </a:lnSpc>
            <a:spcBef>
              <a:spcPct val="0"/>
            </a:spcBef>
            <a:spcAft>
              <a:spcPct val="35000"/>
            </a:spcAft>
            <a:buNone/>
          </a:pPr>
          <a:r>
            <a:rPr lang="en-US" altLang="zh-CN" sz="800" b="1" kern="1200" dirty="0">
              <a:latin typeface="Arial"/>
              <a:ea typeface="SimHei"/>
              <a:cs typeface="Arial"/>
              <a:sym typeface="Arial"/>
            </a:rPr>
            <a:t>(3) Competition and Risk Analysis</a:t>
          </a:r>
          <a:endParaRPr lang="zh-CN" altLang="en-US" sz="1800" b="1" kern="1200" dirty="0"/>
        </a:p>
      </dsp:txBody>
      <dsp:txXfrm>
        <a:off x="393184" y="2165056"/>
        <a:ext cx="4974273" cy="612672"/>
      </dsp:txXfrm>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872A42-46BD-4547-8DDA-A60B962BB6B9}" type="datetimeFigureOut">
              <a:rPr lang="zh-CN" altLang="en-US" smtClean="0"/>
              <a:t>2026/9/10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B5CA9B-D085-4A76-8339-6F219D8C55C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2" descr="C:\Users\Redamancy\Desktop\图片展示条.png图片展示条"/>
          <p:cNvPicPr>
            <a:picLocks noChangeAspect="1" noChangeArrowheads="1"/>
          </p:cNvPicPr>
          <p:nvPr userDrawn="1"/>
        </p:nvPicPr>
        <p:blipFill rotWithShape="1">
          <a:blip r:embed="rId3" cstate="print"/>
          <a:srcRect/>
          <a:stretch>
            <a:fillRect/>
          </a:stretch>
        </p:blipFill>
        <p:spPr bwMode="auto">
          <a:xfrm>
            <a:off x="1818" y="3931426"/>
            <a:ext cx="9147175" cy="62865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C:\Users\topduty\Desktop\ppt-09.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818" y="374213"/>
            <a:ext cx="9150351" cy="25122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Users\topduty\Desktop\ppt-10.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817" y="4569972"/>
            <a:ext cx="9170988" cy="157163"/>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C:\Users\Redamancy\Desktop\LOGO.pngLOGO"/>
          <p:cNvPicPr>
            <a:picLocks noChangeAspect="1"/>
          </p:cNvPicPr>
          <p:nvPr userDrawn="1"/>
        </p:nvPicPr>
        <p:blipFill>
          <a:blip r:embed="rId6" cstate="print"/>
          <a:srcRect/>
          <a:stretch>
            <a:fillRect/>
          </a:stretch>
        </p:blipFill>
        <p:spPr>
          <a:xfrm>
            <a:off x="251460" y="151765"/>
            <a:ext cx="1926590" cy="236220"/>
          </a:xfrm>
          <a:prstGeom prst="rect">
            <a:avLst/>
          </a:prstGeom>
        </p:spPr>
      </p:pic>
      <p:pic>
        <p:nvPicPr>
          <p:cNvPr id="8" name="Picture 4" descr="C:\Users\Redamancy\Desktop\slogen.pngslogen"/>
          <p:cNvPicPr>
            <a:picLocks noChangeAspect="1" noChangeArrowheads="1"/>
          </p:cNvPicPr>
          <p:nvPr userDrawn="1"/>
        </p:nvPicPr>
        <p:blipFill>
          <a:blip r:embed="rId7"/>
          <a:srcRect/>
          <a:stretch>
            <a:fillRect/>
          </a:stretch>
        </p:blipFill>
        <p:spPr bwMode="auto">
          <a:xfrm>
            <a:off x="7625500" y="4755035"/>
            <a:ext cx="1440180" cy="21958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5" descr="C:\Users\topduty\Desktop\ppt-09.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818" y="374213"/>
            <a:ext cx="9150351" cy="25122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C:\Users\topduty\Desktop\ppt-10.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817" y="4569972"/>
            <a:ext cx="9170988" cy="15716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Redamancy\Desktop\slogen.pngslogen"/>
          <p:cNvPicPr>
            <a:picLocks noChangeAspect="1" noChangeArrowheads="1"/>
          </p:cNvPicPr>
          <p:nvPr userDrawn="1"/>
        </p:nvPicPr>
        <p:blipFill>
          <a:blip r:embed="rId5"/>
          <a:srcRect/>
          <a:stretch>
            <a:fillRect/>
          </a:stretch>
        </p:blipFill>
        <p:spPr bwMode="auto">
          <a:xfrm>
            <a:off x="7625500" y="4755035"/>
            <a:ext cx="1440180" cy="219582"/>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C:\Users\Redamancy\Desktop\LOGO.pngLOGO"/>
          <p:cNvPicPr>
            <a:picLocks noChangeAspect="1"/>
          </p:cNvPicPr>
          <p:nvPr userDrawn="1"/>
        </p:nvPicPr>
        <p:blipFill>
          <a:blip r:embed="rId6" cstate="print"/>
          <a:srcRect/>
          <a:stretch>
            <a:fillRect/>
          </a:stretch>
        </p:blipFill>
        <p:spPr>
          <a:xfrm>
            <a:off x="251460" y="151765"/>
            <a:ext cx="1926590" cy="236220"/>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9695" y="1113790"/>
            <a:ext cx="6288405" cy="1568450"/>
          </a:xfrm>
          <a:prstGeom prst="rect">
            <a:avLst/>
          </a:prstGeom>
          <a:noFill/>
        </p:spPr>
        <p:txBody>
          <a:bodyPr wrap="none" lIns="12700" tIns="12700" rIns="12700" bIns="12700" rtlCol="0">
            <a:noAutofit/>
          </a:bodyPr>
          <a:lstStyle/>
          <a:p>
            <a:pPr algn="ctr"/>
            <a:r>
              <a:rPr lang="zh-CN" altLang="en-US" sz="2900" b="1" dirty="0">
                <a:solidFill>
                  <a:srgbClr val="0070C0"/>
                </a:solidFill>
                <a:latin typeface="Arial Narrow" panose="020B0606020202030204" pitchFamily="34" charset="0"/>
                <a:ea typeface="SimHei" panose="020B0503020204020204" pitchFamily="34" charset="-122"/>
                <a:cs typeface="Arial Narrow"/>
                <a:sym typeface="Arial Narrow"/>
              </a:rPr>
              <a:t>Lahore Sewerage Pipeline and Terminal Discharge Station Project</a:t>
            </a:r>
          </a:p>
          <a:p>
            <a:pPr algn="ctr"/>
            <a:endParaRPr lang="zh-CN" altLang="en-US" sz="2900" b="1" dirty="0">
              <a:solidFill>
                <a:srgbClr val="0070C0"/>
              </a:solidFill>
              <a:latin typeface="Arial Narrow" panose="020B0606020202030204" pitchFamily="34" charset="0"/>
              <a:ea typeface="微软雅黑" panose="020B0503020204020204" pitchFamily="34" charset="-122"/>
            </a:endParaRPr>
          </a:p>
          <a:p>
            <a:pPr algn="ctr"/>
            <a:r>
              <a:rPr lang="zh-CN" altLang="en-US" sz="2900" b="1" dirty="0">
                <a:solidFill>
                  <a:srgbClr val="0070C0"/>
                </a:solidFill>
                <a:latin typeface="Arial Narrow" panose="020B0606020202030204" pitchFamily="34" charset="0"/>
                <a:ea typeface="SimHei" panose="020B0503020204020204" pitchFamily="34" charset="-122"/>
                <a:cs typeface="Arial"/>
                <a:sym typeface="Arial"/>
              </a:rPr>
              <a:t>Bid Initiation Report</a:t>
            </a:r>
          </a:p>
        </p:txBody>
      </p:sp>
      <p:sp>
        <p:nvSpPr>
          <p:cNvPr id="3" name="TextBox 2"/>
          <p:cNvSpPr txBox="1"/>
          <p:nvPr/>
        </p:nvSpPr>
        <p:spPr>
          <a:xfrm>
            <a:off x="3769360" y="3085465"/>
            <a:ext cx="1605280" cy="337185"/>
          </a:xfrm>
          <a:prstGeom prst="rect">
            <a:avLst/>
          </a:prstGeom>
          <a:noFill/>
        </p:spPr>
        <p:txBody>
          <a:bodyPr wrap="none" lIns="12700" tIns="12700" rIns="12700" bIns="12700" rtlCol="0">
            <a:noAutofit/>
          </a:bodyPr>
          <a:lstStyle/>
          <a:p>
            <a:r>
              <a:rPr lang="zh-CN" altLang="en-US" sz="1300" dirty="0">
                <a:solidFill>
                  <a:schemeClr val="tx1">
                    <a:lumMod val="65000"/>
                    <a:lumOff val="35000"/>
                  </a:schemeClr>
                </a:solidFill>
                <a:latin typeface="Arial Narrow" panose="020B0606020202030204" pitchFamily="34" charset="0"/>
                <a:ea typeface="SimHei" panose="020B0503020204020204" pitchFamily="34" charset="-122"/>
                <a:cs typeface="Arial"/>
                <a:sym typeface="Arial"/>
              </a:rPr>
              <a:t>Pakistan Branch</a:t>
            </a:r>
          </a:p>
        </p:txBody>
      </p:sp>
      <p:sp>
        <p:nvSpPr>
          <p:cNvPr id="5" name="TextBox 4"/>
          <p:cNvSpPr txBox="1"/>
          <p:nvPr/>
        </p:nvSpPr>
        <p:spPr>
          <a:xfrm>
            <a:off x="3966210" y="3422650"/>
            <a:ext cx="1211580" cy="275590"/>
          </a:xfrm>
          <a:prstGeom prst="rect">
            <a:avLst/>
          </a:prstGeom>
          <a:noFill/>
        </p:spPr>
        <p:txBody>
          <a:bodyPr wrap="none" lIns="12700" tIns="12700" rIns="12700" bIns="12700" rtlCol="0">
            <a:noAutofit/>
          </a:bodyPr>
          <a:lstStyle/>
          <a:p>
            <a:r>
              <a:rPr lang="en-US" sz="900" dirty="0">
                <a:solidFill>
                  <a:schemeClr val="tx1">
                    <a:lumMod val="65000"/>
                    <a:lumOff val="35000"/>
                  </a:schemeClr>
                </a:solidFill>
                <a:latin typeface="Arial Narrow" panose="020B0606020202030204" pitchFamily="34" charset="0"/>
                <a:ea typeface="SimHei" panose="020B0503020204020204" pitchFamily="34" charset="-122"/>
                <a:cs typeface="Arial"/>
                <a:sym typeface="Arial"/>
              </a:rPr>
              <a:t>January 3, 2025</a:t>
            </a:r>
            <a:endParaRPr lang="zh-CN" altLang="en-US" sz="900" dirty="0">
              <a:solidFill>
                <a:schemeClr val="tx1">
                  <a:lumMod val="65000"/>
                  <a:lumOff val="35000"/>
                </a:schemeClr>
              </a:solidFill>
              <a:latin typeface="Arial Narrow" panose="020B0606020202030204" pitchFamily="34" charset="0"/>
              <a:ea typeface="SimHei" panose="020B0503020204020204" pitchFamily="34" charset="-122"/>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2"/>
          <p:cNvSpPr>
            <a:spLocks noChangeArrowheads="1"/>
          </p:cNvSpPr>
          <p:nvPr/>
        </p:nvSpPr>
        <p:spPr bwMode="auto">
          <a:xfrm>
            <a:off x="3608998" y="723900"/>
            <a:ext cx="19191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700" tIns="12700" rIns="12700" bIns="12700">
            <a:noAutofit/>
          </a:bodyPr>
          <a:lstStyle>
            <a:lvl1pPr>
              <a:spcBef>
                <a:spcPct val="20000"/>
              </a:spcBef>
              <a:buFont typeface="Arial" panose="020B0604020202090204" pitchFamily="34" charset="0"/>
              <a:buChar char="•"/>
              <a:defRPr sz="3200">
                <a:solidFill>
                  <a:schemeClr val="tx1"/>
                </a:solidFill>
                <a:latin typeface="Arial" panose="020B0604020202090204" pitchFamily="34" charset="0"/>
                <a:ea typeface="微软雅黑" panose="020B0503020204020204" pitchFamily="34" charset="-122"/>
              </a:defRPr>
            </a:lvl1pPr>
            <a:lvl2pPr marL="742950" indent="-285750">
              <a:spcBef>
                <a:spcPct val="20000"/>
              </a:spcBef>
              <a:buFont typeface="Arial" panose="020B0604020202090204" pitchFamily="34" charset="0"/>
              <a:buChar char="–"/>
              <a:defRPr sz="2800">
                <a:solidFill>
                  <a:schemeClr val="tx1"/>
                </a:solidFill>
                <a:latin typeface="Arial" panose="020B0604020202090204" pitchFamily="34" charset="0"/>
                <a:ea typeface="微软雅黑" panose="020B0503020204020204" pitchFamily="34" charset="-122"/>
              </a:defRPr>
            </a:lvl2pPr>
            <a:lvl3pPr marL="1143000" indent="-228600">
              <a:spcBef>
                <a:spcPct val="20000"/>
              </a:spcBef>
              <a:buFont typeface="Arial" panose="020B0604020202090204" pitchFamily="34" charset="0"/>
              <a:buChar char="•"/>
              <a:defRPr sz="2400">
                <a:solidFill>
                  <a:schemeClr val="tx1"/>
                </a:solidFill>
                <a:latin typeface="Arial" panose="020B0604020202090204" pitchFamily="34" charset="0"/>
                <a:ea typeface="微软雅黑" panose="020B0503020204020204" pitchFamily="34" charset="-122"/>
              </a:defRPr>
            </a:lvl3pPr>
            <a:lvl4pPr marL="1600200" indent="-228600">
              <a:spcBef>
                <a:spcPct val="20000"/>
              </a:spcBef>
              <a:buFont typeface="Arial" panose="020B0604020202090204" pitchFamily="34" charset="0"/>
              <a:buChar char="–"/>
              <a:defRPr sz="2000">
                <a:solidFill>
                  <a:schemeClr val="tx1"/>
                </a:solidFill>
                <a:latin typeface="Arial" panose="020B0604020202090204" pitchFamily="34" charset="0"/>
                <a:ea typeface="微软雅黑" panose="020B0503020204020204" pitchFamily="34" charset="-122"/>
              </a:defRPr>
            </a:lvl4pPr>
            <a:lvl5pPr marL="2057400" indent="-228600">
              <a:spcBef>
                <a:spcPct val="20000"/>
              </a:spcBef>
              <a:buFont typeface="Arial" panose="020B0604020202090204" pitchFamily="34" charset="0"/>
              <a:buChar char="»"/>
              <a:defRPr sz="20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Arial" panose="020B0604020202090204" pitchFamily="34" charset="0"/>
                <a:ea typeface="微软雅黑" panose="020B0503020204020204" pitchFamily="34" charset="-122"/>
              </a:defRPr>
            </a:lvl9pPr>
          </a:lstStyle>
          <a:p>
            <a:pPr algn="ctr" eaLnBrk="1" hangingPunct="1">
              <a:spcBef>
                <a:spcPct val="0"/>
              </a:spcBef>
              <a:buFont typeface="Arial" panose="020B0604020202090204" pitchFamily="34" charset="0"/>
              <a:buNone/>
            </a:pPr>
            <a:r>
              <a:rPr lang="zh-CN" altLang="en-US" sz="2500" b="1" dirty="0">
                <a:solidFill>
                  <a:srgbClr val="2B67AF"/>
                </a:solidFill>
                <a:latin typeface="Arial Narrow" panose="020B0606020202030204" pitchFamily="34" charset="0"/>
                <a:ea typeface="SimHei"/>
                <a:cs typeface="Arial"/>
                <a:sym typeface="Arial"/>
              </a:rPr>
              <a:t>Reporting Content</a:t>
            </a:r>
          </a:p>
        </p:txBody>
      </p:sp>
      <p:graphicFrame>
        <p:nvGraphicFramePr>
          <p:cNvPr id="6" name="图示 5"/>
          <p:cNvGraphicFramePr/>
          <p:nvPr/>
        </p:nvGraphicFramePr>
        <p:xfrm>
          <a:off x="971599" y="1402326"/>
          <a:ext cx="7200802" cy="30963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2983230" y="1837690"/>
            <a:ext cx="5690870" cy="743585"/>
          </a:xfrm>
          <a:prstGeom prst="rect">
            <a:avLst/>
          </a:prstGeom>
        </p:spPr>
        <p:style>
          <a:lnRef idx="1">
            <a:schemeClr val="accent1"/>
          </a:lnRef>
          <a:fillRef idx="3">
            <a:schemeClr val="accent1"/>
          </a:fillRef>
          <a:effectRef idx="2">
            <a:schemeClr val="accent1"/>
          </a:effectRef>
          <a:fontRef idx="minor">
            <a:schemeClr val="lt1"/>
          </a:fontRef>
        </p:style>
        <p:txBody>
          <a:bodyPr lIns="12700" tIns="12700" rIns="12700" bIns="12700" anchor="ctr">
            <a:noAutofit/>
          </a:bodyPr>
          <a:lstStyle/>
          <a:p>
            <a:pPr marL="0" marR="0" lvl="0" indent="0" algn="ctr" defTabSz="1279525" rtl="0" eaLnBrk="1" fontAlgn="auto" latinLnBrk="0" hangingPunct="1">
              <a:lnSpc>
                <a:spcPct val="90000"/>
              </a:lnSpc>
              <a:spcBef>
                <a:spcPct val="0"/>
              </a:spcBef>
              <a:buClrTx/>
              <a:buSzTx/>
              <a:buFont typeface="Arial" panose="020B0604020202090204" pitchFamily="34" charset="0"/>
              <a:buNone/>
              <a:defRPr/>
            </a:pPr>
            <a:r>
              <a:rPr kumimoji="1" lang="zh-CN" altLang="en-US" sz="2900" b="1" dirty="0">
                <a:solidFill>
                  <a:prstClr val="white"/>
                </a:solidFill>
                <a:latin typeface="Arial Narrow" panose="020B0606020202030204" pitchFamily="34" charset="0"/>
                <a:ea typeface="SimHei" panose="020B0503020204020204" pitchFamily="34" charset="-122"/>
                <a:cs typeface="Arial"/>
                <a:sym typeface="Arial"/>
              </a:rPr>
              <a:t>Project Introduction</a:t>
            </a:r>
          </a:p>
        </p:txBody>
      </p:sp>
      <p:sp>
        <p:nvSpPr>
          <p:cNvPr id="2" name="燕尾形 1"/>
          <p:cNvSpPr/>
          <p:nvPr/>
        </p:nvSpPr>
        <p:spPr>
          <a:xfrm>
            <a:off x="518160" y="1837055"/>
            <a:ext cx="2105025" cy="744220"/>
          </a:xfrm>
          <a:prstGeom prst="chevron">
            <a:avLst/>
          </a:prstGeom>
          <a:solidFill>
            <a:srgbClr val="B40000"/>
          </a:solidFill>
          <a:ln w="25400">
            <a:solidFill>
              <a:schemeClr val="bg1"/>
            </a:solidFill>
          </a:ln>
          <a:effectLst>
            <a:outerShdw blurRad="50800" dist="101600" dir="2700000" algn="tl" rotWithShape="0">
              <a:prstClr val="black">
                <a:alpha val="40000"/>
              </a:prstClr>
            </a:outerShdw>
          </a:effectLst>
        </p:spPr>
        <p:txBody>
          <a:bodyPr lIns="12700" tIns="12700" rIns="12700" bIns="12700" anchor="b">
            <a:noAutofit/>
          </a:bodyPr>
          <a:lstStyle/>
          <a:p>
            <a:pPr marL="0" marR="0" lvl="0" indent="0" algn="l" defTabSz="914400" rtl="0" fontAlgn="auto">
              <a:lnSpc>
                <a:spcPct val="100000"/>
              </a:lnSpc>
              <a:buClrTx/>
              <a:buSzTx/>
              <a:buFont typeface="Arial" panose="020B0604020202090204" pitchFamily="34" charset="0"/>
              <a:buNone/>
              <a:defRPr/>
            </a:pPr>
            <a:r>
              <a:rPr kumimoji="0" lang="zh-CN" altLang="en-US" sz="4620" b="1" i="0" u="none" strike="noStrike" kern="1200" cap="none" spc="0" normalizeH="0" baseline="0" noProof="0" dirty="0">
                <a:ln>
                  <a:noFill/>
                </a:ln>
                <a:solidFill>
                  <a:srgbClr val="1F497D"/>
                </a:solidFill>
                <a:effectLst>
                  <a:outerShdw blurRad="38100" dist="38100" dir="2700000" algn="tl">
                    <a:srgbClr val="FFFFFF"/>
                  </a:outerShdw>
                </a:effectLst>
                <a:uLnTx/>
                <a:uFillTx/>
                <a:latin typeface="Arial" panose="020B0604020202090204" pitchFamily="34" charset="0"/>
                <a:ea typeface="SimHei" panose="02010609060101010101" pitchFamily="49" charset="-122"/>
                <a:cs typeface="Arial"/>
                <a:sym typeface="Arial"/>
              </a:rPr>
              <a:t>1</a:t>
            </a:r>
            <a:endParaRPr kumimoji="0" lang="zh-CN" altLang="en-US" sz="462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Arial" panose="020B0604020202090204" pitchFamily="34" charset="0"/>
              <a:ea typeface="SimHei" panose="02010609060101010101" pitchFamily="49" charset="-122"/>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2933700" cy="368300"/>
          </a:xfrm>
          <a:prstGeom prst="rect">
            <a:avLst/>
          </a:prstGeom>
          <a:noFill/>
        </p:spPr>
        <p:txBody>
          <a:bodyPr wrap="none" rtlCol="0">
            <a:noAutofit/>
          </a:bodyPr>
          <a:lstStyle/>
          <a:p>
            <a:r>
              <a:rPr lang="zh-CN" altLang="en-US" b="1" dirty="0">
                <a:latin typeface="Arial" charset="0"/>
                <a:ea typeface="SimHei" charset="0"/>
                <a:cs typeface="Arial" charset="0"/>
                <a:sym typeface="Arial"/>
              </a:rPr>
              <a:t>I. Project Overview - Basic Information</a:t>
            </a:r>
          </a:p>
        </p:txBody>
      </p:sp>
      <p:sp>
        <p:nvSpPr>
          <p:cNvPr id="7" name="文本框 6"/>
          <p:cNvSpPr txBox="1"/>
          <p:nvPr/>
        </p:nvSpPr>
        <p:spPr>
          <a:xfrm>
            <a:off x="97155" y="908050"/>
            <a:ext cx="5287010" cy="3534410"/>
          </a:xfrm>
          <a:prstGeom prst="rect">
            <a:avLst/>
          </a:prstGeom>
          <a:noFill/>
        </p:spPr>
        <p:txBody>
          <a:bodyPr wrap="square" lIns="12700" tIns="12700" rIns="12700" bIns="12700" rtlCol="0">
            <a:noAutofit/>
          </a:bodyPr>
          <a:lstStyle/>
          <a:p>
            <a:pPr indent="0" algn="just" fontAlgn="auto">
              <a:lnSpc>
                <a:spcPct val="144000"/>
              </a:lnSpc>
              <a:buNone/>
            </a:pPr>
            <a:r>
              <a:rPr lang="zh-CN" altLang="en-US" sz="1350" dirty="0">
                <a:solidFill>
                  <a:schemeClr val="tx1"/>
                </a:solidFill>
                <a:latin typeface="Arial Narrow" panose="020B0606020202030204" pitchFamily="34" charset="0"/>
                <a:ea typeface="SimHei" charset="0"/>
                <a:cs typeface="Arial Narrow" charset="0"/>
                <a:sym typeface="Arial Narrow"/>
              </a:rPr>
              <a:t>[Project Name] Lahore Sewer Pipeline and Terminal Discharge Station Project</a:t>
            </a:r>
          </a:p>
          <a:p>
            <a:pPr indent="0" algn="just" fontAlgn="auto">
              <a:lnSpc>
                <a:spcPct val="144000"/>
              </a:lnSpc>
              <a:buNone/>
            </a:pPr>
            <a:r>
              <a:rPr lang="zh-CN" altLang="en-US" sz="1350" dirty="0">
                <a:solidFill>
                  <a:schemeClr val="tx1"/>
                </a:solidFill>
                <a:latin typeface="Arial Narrow" panose="020B0606020202030204" pitchFamily="34" charset="0"/>
                <a:ea typeface="SimHei" charset="0"/>
                <a:cs typeface="Arial Narrow" charset="0"/>
                <a:sym typeface="Arial Narrow"/>
              </a:rPr>
              <a:t>[Project Owner] Lahore Water and Sanitation Authority (Government)</a:t>
            </a:r>
          </a:p>
          <a:p>
            <a:pPr indent="0" algn="just" fontAlgn="auto">
              <a:lnSpc>
                <a:spcPct val="144000"/>
              </a:lnSpc>
              <a:buNone/>
            </a:pPr>
            <a:r>
              <a:rPr lang="zh-CN" altLang="en-US" sz="1350" dirty="0">
                <a:solidFill>
                  <a:schemeClr val="tx1"/>
                </a:solidFill>
                <a:latin typeface="Arial Narrow" panose="020B0606020202030204" pitchFamily="34" charset="0"/>
                <a:ea typeface="SimHei" charset="0"/>
                <a:cs typeface="Arial Narrow" charset="0"/>
                <a:sym typeface="Arial Narrow"/>
              </a:rPr>
              <a:t>[Project Supervisor] Led by U.S.-based EBA Corporation, in consortium with three Pakistani companies.</a:t>
            </a:r>
          </a:p>
          <a:p>
            <a:pPr indent="0" algn="just" fontAlgn="auto">
              <a:lnSpc>
                <a:spcPct val="144000"/>
              </a:lnSpc>
              <a:buNone/>
            </a:pPr>
            <a:r>
              <a:rPr lang="zh-CN" altLang="en-US" sz="1350" dirty="0">
                <a:solidFill>
                  <a:schemeClr val="tx1"/>
                </a:solidFill>
                <a:latin typeface="Arial Narrow" panose="020B0606020202030204" pitchFamily="34" charset="0"/>
                <a:ea typeface="SimHei" charset="0"/>
                <a:cs typeface="Arial Narrow" charset="0"/>
                <a:sym typeface="Arial Narrow"/>
              </a:rPr>
              <a:t>[Project Location] Lahore, Punjab Province, Pakistan</a:t>
            </a:r>
            <a:endParaRPr lang="en-US" altLang="zh-CN" sz="1350" dirty="0">
              <a:solidFill>
                <a:schemeClr val="tx1"/>
              </a:solidFill>
              <a:latin typeface="Arial Narrow" panose="020B0606020202030204" pitchFamily="34" charset="0"/>
              <a:ea typeface="SimHei" charset="0"/>
              <a:cs typeface="Arial Narrow" charset="0"/>
              <a:sym typeface="Arial Narrow"/>
            </a:endParaRPr>
          </a:p>
          <a:p>
            <a:pPr indent="0" algn="just" fontAlgn="auto">
              <a:lnSpc>
                <a:spcPct val="144000"/>
              </a:lnSpc>
              <a:buNone/>
            </a:pPr>
            <a:r>
              <a:rPr lang="zh-CN" altLang="en-US" sz="1350" dirty="0">
                <a:solidFill>
                  <a:schemeClr val="tx1"/>
                </a:solidFill>
                <a:latin typeface="Arial Narrow" panose="020B0606020202030204" pitchFamily="34" charset="0"/>
                <a:ea typeface="SimHei" charset="0"/>
                <a:cs typeface="Arial Narrow" charset="0"/>
                <a:sym typeface="Arial Narrow"/>
              </a:rPr>
              <a:t>[Estimated Contract Amount] USD 1.75 billion</a:t>
            </a:r>
          </a:p>
          <a:p>
            <a:pPr indent="0" algn="just" fontAlgn="auto">
              <a:lnSpc>
                <a:spcPct val="144000"/>
              </a:lnSpc>
              <a:buNone/>
            </a:pPr>
            <a:r>
              <a:rPr lang="zh-CN" altLang="en-US" sz="1350" dirty="0">
                <a:solidFill>
                  <a:schemeClr val="tx1"/>
                </a:solidFill>
                <a:latin typeface="Arial Narrow" panose="020B0606020202030204" pitchFamily="34" charset="0"/>
                <a:ea typeface="SimHei" charset="0"/>
                <a:cs typeface="Arial Narrow" charset="0"/>
                <a:sym typeface="Arial Narrow"/>
              </a:rPr>
              <a:t>[Source of Funds] Asian Infrastructure Investment Bank</a:t>
            </a:r>
          </a:p>
          <a:p>
            <a:pPr indent="-355600" algn="l" fontAlgn="auto">
              <a:lnSpc>
                <a:spcPct val="144000"/>
              </a:lnSpc>
              <a:buNone/>
              <a:extLst>
                <a:ext uri="{35155182-B16C-46BC-9424-99874614C6A1}">
                  <ns2:indentchars xmlns="" xmlns:ns0="http://schemas.openxmlformats.org/presentationml/2006/main" xmlns:ns1="http://schemas.openxmlformats.org/drawingml/2006/main" xmlns:ns2="http://www.wps.cn/officeDocument/2017/drawingmlCustomData" val="-200" checksum="3501742630"/>
                </a:ext>
              </a:extLst>
            </a:pPr>
            <a:r>
              <a:rPr lang="zh-CN" altLang="en-US" sz="1350" dirty="0">
                <a:solidFill>
                  <a:schemeClr val="tx1"/>
                </a:solidFill>
                <a:latin typeface="Arial Narrow" panose="020B0606020202030204" pitchFamily="34" charset="0"/>
                <a:ea typeface="SimHei" charset="0"/>
                <a:cs typeface="Arial Narrow" charset="0"/>
                <a:sym typeface="Arial Narrow"/>
              </a:rPr>
              <a:t>[Scope of Work] Design and construction of a 32-kilometer concrete sewer pipeline, together with a terminal discharge station.</a:t>
            </a:r>
          </a:p>
          <a:p>
            <a:pPr indent="0" algn="just" fontAlgn="auto">
              <a:lnSpc>
                <a:spcPct val="144000"/>
              </a:lnSpc>
              <a:buNone/>
            </a:pPr>
            <a:r>
              <a:rPr lang="zh-CN" altLang="en-US" sz="1350">
                <a:solidFill>
                  <a:schemeClr val="tx1"/>
                </a:solidFill>
                <a:latin typeface="Arial Narrow" panose="020B0606020202030204" pitchFamily="34" charset="0"/>
                <a:ea typeface="SimHei" charset="0"/>
                <a:cs typeface="Arial Narrow" charset="0"/>
                <a:sym typeface="Arial Narrow"/>
              </a:rPr>
              <a:t>【Bidding Method】 International Open Bidding + Post-qualification Review</a:t>
            </a:r>
          </a:p>
          <a:p>
            <a:pPr indent="0" algn="just" fontAlgn="auto">
              <a:lnSpc>
                <a:spcPct val="144000"/>
              </a:lnSpc>
              <a:buNone/>
            </a:pPr>
            <a:r>
              <a:rPr lang="zh-CN" altLang="en-US" sz="1350">
                <a:solidFill>
                  <a:schemeClr val="tx1"/>
                </a:solidFill>
                <a:latin typeface="Arial Narrow" panose="020B0606020202030204" pitchFamily="34" charset="0"/>
                <a:ea typeface="SimHei" charset="0"/>
                <a:cs typeface="Arial" charset="0"/>
                <a:sym typeface="Arial"/>
              </a:rPr>
              <a:t>【Bid Submission Date】 January 29, 2026</a:t>
            </a:r>
          </a:p>
        </p:txBody>
      </p:sp>
      <p:pic>
        <p:nvPicPr>
          <p:cNvPr id="8" name="图片 7" descr="/Users/xuzhuoran/Library/Containers/com.kingsoft.wpsoffice.mac/Data/tmp/picturecompress_20260102174539/output_1.pngoutput_1"/>
          <p:cNvPicPr>
            <a:picLocks noChangeAspect="1"/>
          </p:cNvPicPr>
          <p:nvPr/>
        </p:nvPicPr>
        <p:blipFill>
          <a:blip r:embed="rId2"/>
          <a:stretch>
            <a:fillRect/>
          </a:stretch>
        </p:blipFill>
        <p:spPr>
          <a:xfrm>
            <a:off x="5501640" y="539750"/>
            <a:ext cx="3583940" cy="2331085"/>
          </a:xfrm>
          <a:prstGeom prst="rect">
            <a:avLst/>
          </a:prstGeom>
        </p:spPr>
      </p:pic>
      <p:pic>
        <p:nvPicPr>
          <p:cNvPr id="5" name="图片 4" descr="/Users/xuzhuoran/Library/Containers/com.kingsoft.wpsoffice.mac/Data/tmp/picturecompress_20251021232346/output_1.pngoutput_1"/>
          <p:cNvPicPr>
            <a:picLocks noChangeAspect="1"/>
          </p:cNvPicPr>
          <p:nvPr/>
        </p:nvPicPr>
        <p:blipFill>
          <a:blip r:embed="rId3"/>
          <a:stretch>
            <a:fillRect/>
          </a:stretch>
        </p:blipFill>
        <p:spPr>
          <a:xfrm>
            <a:off x="5501640" y="2455545"/>
            <a:ext cx="3583305" cy="20243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2933700" cy="368300"/>
          </a:xfrm>
          <a:prstGeom prst="rect">
            <a:avLst/>
          </a:prstGeom>
          <a:noFill/>
        </p:spPr>
        <p:txBody>
          <a:bodyPr wrap="none" rtlCol="0">
            <a:noAutofit/>
          </a:bodyPr>
          <a:lstStyle/>
          <a:p>
            <a:r>
              <a:rPr lang="zh-CN" altLang="en-US" b="1" dirty="0">
                <a:latin typeface="Arial" charset="0"/>
                <a:ea typeface="SimHei" charset="0"/>
                <a:cs typeface="Arial" charset="0"/>
                <a:sym typeface="Arial"/>
              </a:rPr>
              <a:t>I. Project Overview - Commercial Terms</a:t>
            </a:r>
          </a:p>
        </p:txBody>
      </p:sp>
      <p:graphicFrame>
        <p:nvGraphicFramePr>
          <p:cNvPr id="4" name="表格 3"/>
          <p:cNvGraphicFramePr/>
          <p:nvPr>
            <p:extLst>
              <p:ext uri="{D42A27DB-BD31-4B8C-83A1-F6EECF244321}">
                <p14:modId xmlns:p14="http://schemas.microsoft.com/office/powerpoint/2010/main" val="2623796606"/>
              </p:ext>
            </p:extLst>
          </p:nvPr>
        </p:nvGraphicFramePr>
        <p:xfrm>
          <a:off x="663575" y="908050"/>
          <a:ext cx="3543300" cy="3681730"/>
        </p:xfrm>
        <a:graphic>
          <a:graphicData uri="http://schemas.openxmlformats.org/drawingml/2006/table">
            <a:tbl>
              <a:tblPr firstRow="1" bandRow="1">
                <a:tableStyleId>{3B4B98B0-60AC-42C2-AFA5-B58CD77FA1E5}</a:tableStyleId>
              </a:tblPr>
              <a:tblGrid>
                <a:gridCol w="1188720">
                  <a:extLst>
                    <a:ext uri="{9D8B030D-6E8A-4147-A177-3AD203B41FA5}">
                      <a16:colId xmlns:a16="http://schemas.microsoft.com/office/drawing/2014/main" val="20000"/>
                    </a:ext>
                  </a:extLst>
                </a:gridCol>
                <a:gridCol w="2354580">
                  <a:extLst>
                    <a:ext uri="{9D8B030D-6E8A-4147-A177-3AD203B41FA5}">
                      <a16:colId xmlns:a16="http://schemas.microsoft.com/office/drawing/2014/main" val="20001"/>
                    </a:ext>
                  </a:extLst>
                </a:gridCol>
              </a:tblGrid>
              <a:tr h="381088">
                <a:tc>
                  <a:txBody>
                    <a:bodyPr/>
                    <a:lstStyle/>
                    <a:p>
                      <a:pPr>
                        <a:buNone/>
                      </a:pPr>
                      <a:r>
                        <a:rPr lang="zh-CN" altLang="en-US" sz="980" b="1">
                          <a:latin typeface="Arial"/>
                          <a:ea typeface="SimHei"/>
                          <a:cs typeface="Arial"/>
                          <a:sym typeface="Arial"/>
                        </a:rPr>
                        <a:t>Contract Type</a:t>
                      </a:r>
                    </a:p>
                  </a:txBody>
                  <a:tcPr anchor="ctr"/>
                </a:tc>
                <a:tc>
                  <a:txBody>
                    <a:bodyPr/>
                    <a:lstStyle/>
                    <a:p>
                      <a:pPr>
                        <a:buNone/>
                      </a:pPr>
                      <a:r>
                        <a:rPr lang="en-US" altLang="zh-CN" sz="980" b="0">
                          <a:latin typeface="Arial"/>
                          <a:ea typeface="SimHei"/>
                          <a:cs typeface="Arial"/>
                          <a:sym typeface="Arial"/>
                        </a:rPr>
                        <a:t>EPC General Construction Contract</a:t>
                      </a:r>
                      <a:endParaRPr lang="zh-CN" altLang="en-US" sz="980" b="0">
                        <a:latin typeface="Arial"/>
                        <a:ea typeface="SimHei"/>
                        <a:cs typeface="Arial"/>
                        <a:sym typeface="Arial"/>
                      </a:endParaRPr>
                    </a:p>
                  </a:txBody>
                  <a:tcPr anchor="ctr"/>
                </a:tc>
                <a:extLst>
                  <a:ext uri="{0D108BD9-81ED-4DB2-BD59-A6C34878D82A}">
                    <a16:rowId xmlns:a16="http://schemas.microsoft.com/office/drawing/2014/main" val="10000"/>
                  </a:ext>
                </a:extLst>
              </a:tr>
              <a:tr h="381088">
                <a:tc>
                  <a:txBody>
                    <a:bodyPr/>
                    <a:lstStyle/>
                    <a:p>
                      <a:pPr>
                        <a:buNone/>
                      </a:pPr>
                      <a:r>
                        <a:rPr lang="zh-CN" altLang="en-US" sz="980" b="1">
                          <a:latin typeface="Arial"/>
                          <a:ea typeface="SimHei"/>
                          <a:cs typeface="Arial"/>
                          <a:sym typeface="Arial"/>
                        </a:rPr>
                        <a:t>Use Contract</a:t>
                      </a:r>
                    </a:p>
                  </a:txBody>
                  <a:tcPr anchor="ctr"/>
                </a:tc>
                <a:tc>
                  <a:txBody>
                    <a:bodyPr/>
                    <a:lstStyle/>
                    <a:p>
                      <a:pPr>
                        <a:buNone/>
                      </a:pPr>
                      <a:r>
                        <a:rPr lang="en-US" altLang="zh-CN" sz="980" b="0">
                          <a:latin typeface="Arial Narrow"/>
                          <a:ea typeface="SimHei"/>
                          <a:cs typeface="Arial Narrow"/>
                          <a:sym typeface="Arial Narrow"/>
                        </a:rPr>
                        <a:t>FIDIC EPC Silver Book 2017 Edition (Revised and Reissued in 2022)</a:t>
                      </a:r>
                      <a:endParaRPr lang="zh-CN" altLang="en-US" sz="980" b="0">
                        <a:latin typeface="Arial Narrow"/>
                        <a:ea typeface="SimHei"/>
                        <a:cs typeface="Arial Narrow"/>
                        <a:sym typeface="Arial Narrow"/>
                      </a:endParaRPr>
                    </a:p>
                  </a:txBody>
                  <a:tcPr anchor="ctr"/>
                </a:tc>
                <a:extLst>
                  <a:ext uri="{0D108BD9-81ED-4DB2-BD59-A6C34878D82A}">
                    <a16:rowId xmlns:a16="http://schemas.microsoft.com/office/drawing/2014/main" val="10001"/>
                  </a:ext>
                </a:extLst>
              </a:tr>
              <a:tr h="381088">
                <a:tc>
                  <a:txBody>
                    <a:bodyPr/>
                    <a:lstStyle/>
                    <a:p>
                      <a:pPr>
                        <a:buNone/>
                      </a:pPr>
                      <a:r>
                        <a:rPr lang="zh-CN" altLang="en-US" sz="980" b="1">
                          <a:latin typeface="Arial"/>
                          <a:ea typeface="SimHei"/>
                          <a:cs typeface="Arial"/>
                          <a:sym typeface="Arial"/>
                        </a:rPr>
                        <a:t>Construction period</a:t>
                      </a:r>
                    </a:p>
                  </a:txBody>
                  <a:tcPr anchor="ctr"/>
                </a:tc>
                <a:tc>
                  <a:txBody>
                    <a:bodyPr/>
                    <a:lstStyle/>
                    <a:p>
                      <a:pPr>
                        <a:buNone/>
                      </a:pPr>
                      <a:r>
                        <a:rPr lang="en-US" altLang="zh-CN" sz="980" b="0">
                          <a:latin typeface="Arial Narrow"/>
                          <a:ea typeface="SimHei"/>
                          <a:cs typeface="Arial Narrow"/>
                          <a:sym typeface="Arial Narrow"/>
                        </a:rPr>
                        <a:t>30 months (including 6 months for design)</a:t>
                      </a:r>
                      <a:endParaRPr lang="zh-CN" altLang="en-US" sz="980" b="0">
                        <a:latin typeface="Arial Narrow"/>
                        <a:ea typeface="SimHei"/>
                        <a:cs typeface="Arial Narrow"/>
                        <a:sym typeface="Arial Narrow"/>
                      </a:endParaRPr>
                    </a:p>
                  </a:txBody>
                  <a:tcPr anchor="ctr"/>
                </a:tc>
                <a:extLst>
                  <a:ext uri="{0D108BD9-81ED-4DB2-BD59-A6C34878D82A}">
                    <a16:rowId xmlns:a16="http://schemas.microsoft.com/office/drawing/2014/main" val="10002"/>
                  </a:ext>
                </a:extLst>
              </a:tr>
              <a:tr h="328159">
                <a:tc>
                  <a:txBody>
                    <a:bodyPr/>
                    <a:lstStyle/>
                    <a:p>
                      <a:pPr>
                        <a:buNone/>
                      </a:pPr>
                      <a:r>
                        <a:rPr lang="zh-CN" altLang="en-US" sz="980" b="1">
                          <a:latin typeface="Arial"/>
                          <a:ea typeface="SimHei"/>
                          <a:cs typeface="Arial"/>
                          <a:sym typeface="Arial"/>
                        </a:rPr>
                        <a:t>Bid Bond</a:t>
                      </a:r>
                    </a:p>
                  </a:txBody>
                  <a:tcPr anchor="ctr"/>
                </a:tc>
                <a:tc>
                  <a:txBody>
                    <a:bodyPr/>
                    <a:lstStyle/>
                    <a:p>
                      <a:pPr>
                        <a:buNone/>
                      </a:pPr>
                      <a:r>
                        <a:rPr lang="en-US" altLang="zh-CN" sz="980" b="0">
                          <a:latin typeface="Arial"/>
                          <a:ea typeface="SimHei"/>
                          <a:cs typeface="Arial"/>
                          <a:sym typeface="Arial"/>
                        </a:rPr>
                        <a:t>150 US dollars</a:t>
                      </a:r>
                      <a:endParaRPr lang="zh-CN" altLang="en-US" sz="980" b="0">
                        <a:latin typeface="Arial"/>
                        <a:ea typeface="SimHei"/>
                        <a:cs typeface="Arial"/>
                        <a:sym typeface="Arial"/>
                      </a:endParaRPr>
                    </a:p>
                  </a:txBody>
                  <a:tcPr anchor="ctr"/>
                </a:tc>
                <a:extLst>
                  <a:ext uri="{0D108BD9-81ED-4DB2-BD59-A6C34878D82A}">
                    <a16:rowId xmlns:a16="http://schemas.microsoft.com/office/drawing/2014/main" val="10003"/>
                  </a:ext>
                </a:extLst>
              </a:tr>
              <a:tr h="533523">
                <a:tc>
                  <a:txBody>
                    <a:bodyPr/>
                    <a:lstStyle/>
                    <a:p>
                      <a:pPr>
                        <a:buNone/>
                      </a:pPr>
                      <a:r>
                        <a:rPr lang="zh-CN" altLang="en-US" sz="980" b="1">
                          <a:latin typeface="Arial"/>
                          <a:ea typeface="SimHei"/>
                          <a:cs typeface="Arial"/>
                          <a:sym typeface="Arial"/>
                        </a:rPr>
                        <a:t>Advance Payment Guarantee</a:t>
                      </a:r>
                    </a:p>
                  </a:txBody>
                  <a:tcPr anchor="ctr"/>
                </a:tc>
                <a:tc>
                  <a:txBody>
                    <a:bodyPr/>
                    <a:lstStyle/>
                    <a:p>
                      <a:pPr>
                        <a:buNone/>
                      </a:pPr>
                      <a:r>
                        <a:rPr lang="en-US" altLang="zh-CN" sz="980" b="0"/>
                        <a:t>20%</a:t>
                      </a:r>
                    </a:p>
                  </a:txBody>
                  <a:tcPr anchor="ctr"/>
                </a:tc>
                <a:extLst>
                  <a:ext uri="{0D108BD9-81ED-4DB2-BD59-A6C34878D82A}">
                    <a16:rowId xmlns:a16="http://schemas.microsoft.com/office/drawing/2014/main" val="10004"/>
                  </a:ext>
                </a:extLst>
              </a:tr>
              <a:tr h="381088">
                <a:tc>
                  <a:txBody>
                    <a:bodyPr/>
                    <a:lstStyle/>
                    <a:p>
                      <a:pPr>
                        <a:buNone/>
                      </a:pPr>
                      <a:r>
                        <a:rPr lang="zh-CN" altLang="en-US" sz="980" b="1">
                          <a:latin typeface="Arial"/>
                          <a:ea typeface="SimHei"/>
                          <a:cs typeface="Arial"/>
                          <a:sym typeface="Arial"/>
                        </a:rPr>
                        <a:t>Performance Bond</a:t>
                      </a:r>
                    </a:p>
                  </a:txBody>
                  <a:tcPr anchor="ctr"/>
                </a:tc>
                <a:tc>
                  <a:txBody>
                    <a:bodyPr/>
                    <a:lstStyle/>
                    <a:p>
                      <a:pPr>
                        <a:buNone/>
                      </a:pPr>
                      <a:r>
                        <a:rPr lang="en-US" altLang="zh-CN" sz="980" b="0"/>
                        <a:t>10%</a:t>
                      </a:r>
                    </a:p>
                  </a:txBody>
                  <a:tcPr anchor="ctr"/>
                </a:tc>
                <a:extLst>
                  <a:ext uri="{0D108BD9-81ED-4DB2-BD59-A6C34878D82A}">
                    <a16:rowId xmlns:a16="http://schemas.microsoft.com/office/drawing/2014/main" val="10005"/>
                  </a:ext>
                </a:extLst>
              </a:tr>
              <a:tr h="381088">
                <a:tc>
                  <a:txBody>
                    <a:bodyPr/>
                    <a:lstStyle/>
                    <a:p>
                      <a:pPr>
                        <a:buNone/>
                      </a:pPr>
                      <a:r>
                        <a:rPr lang="zh-CN" altLang="en-US" sz="980" b="1">
                          <a:latin typeface="Arial"/>
                          <a:ea typeface="SimHei"/>
                          <a:cs typeface="Arial"/>
                          <a:sym typeface="Arial"/>
                        </a:rPr>
                        <a:t>Warranty deposit ratio</a:t>
                      </a:r>
                    </a:p>
                  </a:txBody>
                  <a:tcPr anchor="ctr"/>
                </a:tc>
                <a:tc>
                  <a:txBody>
                    <a:bodyPr/>
                    <a:lstStyle/>
                    <a:p>
                      <a:pPr>
                        <a:buNone/>
                      </a:pPr>
                      <a:r>
                        <a:rPr lang="en-US" altLang="zh-CN" sz="980" b="0"/>
                        <a:t>5%</a:t>
                      </a:r>
                    </a:p>
                  </a:txBody>
                  <a:tcPr anchor="ctr"/>
                </a:tc>
                <a:extLst>
                  <a:ext uri="{0D108BD9-81ED-4DB2-BD59-A6C34878D82A}">
                    <a16:rowId xmlns:a16="http://schemas.microsoft.com/office/drawing/2014/main" val="10006"/>
                  </a:ext>
                </a:extLst>
              </a:tr>
              <a:tr h="381088">
                <a:tc>
                  <a:txBody>
                    <a:bodyPr/>
                    <a:lstStyle/>
                    <a:p>
                      <a:pPr>
                        <a:buNone/>
                      </a:pPr>
                      <a:r>
                        <a:rPr lang="zh-CN" altLang="en-US" sz="980" b="1">
                          <a:latin typeface="Arial"/>
                          <a:ea typeface="SimHei"/>
                          <a:cs typeface="Arial"/>
                          <a:sym typeface="Arial"/>
                        </a:rPr>
                        <a:t>Warranty Period</a:t>
                      </a:r>
                    </a:p>
                  </a:txBody>
                  <a:tcPr anchor="ctr"/>
                </a:tc>
                <a:tc>
                  <a:txBody>
                    <a:bodyPr/>
                    <a:lstStyle/>
                    <a:p>
                      <a:pPr>
                        <a:buNone/>
                      </a:pPr>
                      <a:r>
                        <a:rPr lang="en-US" altLang="zh-CN" sz="980" b="0">
                          <a:latin typeface="Arial"/>
                          <a:ea typeface="SimHei"/>
                          <a:cs typeface="Arial"/>
                          <a:sym typeface="Arial"/>
                        </a:rPr>
                        <a:t>365 days</a:t>
                      </a:r>
                      <a:endParaRPr lang="zh-CN" altLang="en-US" sz="980" b="0">
                        <a:latin typeface="Arial"/>
                        <a:ea typeface="SimHei"/>
                        <a:cs typeface="Arial"/>
                        <a:sym typeface="Arial"/>
                      </a:endParaRPr>
                    </a:p>
                  </a:txBody>
                  <a:tcPr anchor="ctr"/>
                </a:tc>
                <a:extLst>
                  <a:ext uri="{0D108BD9-81ED-4DB2-BD59-A6C34878D82A}">
                    <a16:rowId xmlns:a16="http://schemas.microsoft.com/office/drawing/2014/main" val="10007"/>
                  </a:ext>
                </a:extLst>
              </a:tr>
              <a:tr h="533523">
                <a:tc>
                  <a:txBody>
                    <a:bodyPr/>
                    <a:lstStyle/>
                    <a:p>
                      <a:pPr>
                        <a:buNone/>
                      </a:pPr>
                      <a:r>
                        <a:rPr lang="zh-CN" altLang="en-US" sz="980" b="1">
                          <a:latin typeface="Arial"/>
                          <a:ea typeface="SimHei"/>
                          <a:cs typeface="Arial"/>
                          <a:sym typeface="Arial"/>
                        </a:rPr>
                        <a:t>Late Payment Penalty</a:t>
                      </a:r>
                    </a:p>
                  </a:txBody>
                  <a:tcPr anchor="ctr"/>
                </a:tc>
                <a:tc>
                  <a:txBody>
                    <a:bodyPr/>
                    <a:lstStyle/>
                    <a:p>
                      <a:pPr>
                        <a:buNone/>
                      </a:pPr>
                      <a:r>
                        <a:rPr lang="zh-CN" altLang="en-US" sz="980" b="0">
                          <a:latin typeface="Arial Narrow"/>
                          <a:ea typeface="SimHei"/>
                          <a:cs typeface="Arial Narrow"/>
                          <a:sym typeface="Arial Narrow"/>
                        </a:rPr>
                        <a:t>Design phase: 1% per day; Construction phase: 0.05% per day, with a cap of 10%.</a:t>
                      </a:r>
                      <a:endParaRPr lang="en-US" altLang="zh-CN" sz="980" b="0">
                        <a:latin typeface="Arial Narrow"/>
                        <a:ea typeface="SimHei"/>
                        <a:cs typeface="Arial Narrow"/>
                        <a:sym typeface="Arial Narrow"/>
                      </a:endParaRPr>
                    </a:p>
                  </a:txBody>
                  <a:tcPr anchor="ctr"/>
                </a:tc>
                <a:extLst>
                  <a:ext uri="{0D108BD9-81ED-4DB2-BD59-A6C34878D82A}">
                    <a16:rowId xmlns:a16="http://schemas.microsoft.com/office/drawing/2014/main" val="10008"/>
                  </a:ext>
                </a:extLst>
              </a:tr>
            </a:tbl>
          </a:graphicData>
        </a:graphic>
      </p:graphicFrame>
      <p:graphicFrame>
        <p:nvGraphicFramePr>
          <p:cNvPr id="6" name="表格 5"/>
          <p:cNvGraphicFramePr/>
          <p:nvPr>
            <p:extLst>
              <p:ext uri="{D42A27DB-BD31-4B8C-83A1-F6EECF244321}">
                <p14:modId xmlns:p14="http://schemas.microsoft.com/office/powerpoint/2010/main" val="2873270569"/>
              </p:ext>
            </p:extLst>
          </p:nvPr>
        </p:nvGraphicFramePr>
        <p:xfrm>
          <a:off x="5038090" y="908050"/>
          <a:ext cx="3869055" cy="3681095"/>
        </p:xfrm>
        <a:graphic>
          <a:graphicData uri="http://schemas.openxmlformats.org/drawingml/2006/table">
            <a:tbl>
              <a:tblPr firstRow="1" bandRow="1">
                <a:tableStyleId>{3B4B98B0-60AC-42C2-AFA5-B58CD77FA1E5}</a:tableStyleId>
              </a:tblPr>
              <a:tblGrid>
                <a:gridCol w="1297940">
                  <a:extLst>
                    <a:ext uri="{9D8B030D-6E8A-4147-A177-3AD203B41FA5}">
                      <a16:colId xmlns:a16="http://schemas.microsoft.com/office/drawing/2014/main" val="20000"/>
                    </a:ext>
                  </a:extLst>
                </a:gridCol>
                <a:gridCol w="2571115">
                  <a:extLst>
                    <a:ext uri="{9D8B030D-6E8A-4147-A177-3AD203B41FA5}">
                      <a16:colId xmlns:a16="http://schemas.microsoft.com/office/drawing/2014/main" val="20001"/>
                    </a:ext>
                  </a:extLst>
                </a:gridCol>
              </a:tblGrid>
              <a:tr h="459112">
                <a:tc>
                  <a:txBody>
                    <a:bodyPr/>
                    <a:lstStyle/>
                    <a:p>
                      <a:pPr>
                        <a:buNone/>
                      </a:pPr>
                      <a:r>
                        <a:rPr lang="zh-CN" altLang="en-US" sz="840" b="1">
                          <a:latin typeface="Arial" charset="0"/>
                          <a:ea typeface="SimHei" charset="0"/>
                          <a:cs typeface="Arial"/>
                          <a:sym typeface="Arial"/>
                        </a:rPr>
                        <a:t>Foreign currency payment</a:t>
                      </a:r>
                    </a:p>
                  </a:txBody>
                  <a:tcPr anchor="ctr"/>
                </a:tc>
                <a:tc>
                  <a:txBody>
                    <a:bodyPr/>
                    <a:lstStyle/>
                    <a:p>
                      <a:pPr>
                        <a:buNone/>
                      </a:pPr>
                      <a:r>
                        <a:rPr lang="zh-CN" altLang="en-US" sz="840" b="0">
                          <a:latin typeface="Arial Narrow" charset="0"/>
                          <a:ea typeface="SimHei" charset="0"/>
                          <a:cs typeface="Arial Narrow" charset="0"/>
                          <a:sym typeface="Arial Narrow"/>
                        </a:rPr>
                        <a:t>Up to 50% of payments may be made in foreign currency.</a:t>
                      </a:r>
                    </a:p>
                  </a:txBody>
                  <a:tcPr anchor="ctr"/>
                </a:tc>
                <a:extLst>
                  <a:ext uri="{0D108BD9-81ED-4DB2-BD59-A6C34878D82A}">
                    <a16:rowId xmlns:a16="http://schemas.microsoft.com/office/drawing/2014/main" val="10000"/>
                  </a:ext>
                </a:extLst>
              </a:tr>
              <a:tr h="459112">
                <a:tc>
                  <a:txBody>
                    <a:bodyPr/>
                    <a:lstStyle/>
                    <a:p>
                      <a:pPr>
                        <a:buNone/>
                      </a:pPr>
                      <a:r>
                        <a:rPr lang="zh-CN" altLang="en-US" sz="840" b="1">
                          <a:latin typeface="Arial" charset="0"/>
                          <a:ea typeface="SimHei" charset="0"/>
                          <a:cs typeface="Arial"/>
                          <a:sym typeface="Arial"/>
                        </a:rPr>
                        <a:t>Minimum Pricing Amount</a:t>
                      </a:r>
                    </a:p>
                  </a:txBody>
                  <a:tcPr anchor="ctr"/>
                </a:tc>
                <a:tc>
                  <a:txBody>
                    <a:bodyPr/>
                    <a:lstStyle/>
                    <a:p>
                      <a:pPr indent="0">
                        <a:buFont typeface="Arial" panose="020B0604020202090204" pitchFamily="34" charset="0"/>
                        <a:buNone/>
                      </a:pPr>
                      <a:r>
                        <a:rPr lang="zh-CN" altLang="en-US" sz="840" b="0">
                          <a:latin typeface="Arial" charset="0"/>
                          <a:ea typeface="SimHei" charset="0"/>
                          <a:cs typeface="Arial" charset="0"/>
                          <a:sym typeface="Arial"/>
                        </a:rPr>
                        <a:t>3% of the contract amount</a:t>
                      </a:r>
                      <a:endParaRPr lang="en-US" altLang="zh-CN" sz="840" b="0">
                        <a:latin typeface="Arial" charset="0"/>
                        <a:ea typeface="SimHei" charset="0"/>
                        <a:cs typeface="Arial" charset="0"/>
                        <a:sym typeface="Arial"/>
                      </a:endParaRPr>
                    </a:p>
                  </a:txBody>
                  <a:tcPr anchor="ctr"/>
                </a:tc>
                <a:extLst>
                  <a:ext uri="{0D108BD9-81ED-4DB2-BD59-A6C34878D82A}">
                    <a16:rowId xmlns:a16="http://schemas.microsoft.com/office/drawing/2014/main" val="10001"/>
                  </a:ext>
                </a:extLst>
              </a:tr>
              <a:tr h="266449">
                <a:tc>
                  <a:txBody>
                    <a:bodyPr/>
                    <a:lstStyle/>
                    <a:p>
                      <a:pPr>
                        <a:buNone/>
                      </a:pPr>
                      <a:r>
                        <a:rPr lang="zh-CN" altLang="en-US" sz="840" b="1">
                          <a:latin typeface="Arial" charset="0"/>
                          <a:ea typeface="SimHei" charset="0"/>
                          <a:cs typeface="Arial"/>
                          <a:sym typeface="Arial"/>
                        </a:rPr>
                        <a:t>Pricing Period</a:t>
                      </a:r>
                    </a:p>
                  </a:txBody>
                  <a:tcPr anchor="ctr"/>
                </a:tc>
                <a:tc>
                  <a:txBody>
                    <a:bodyPr/>
                    <a:lstStyle/>
                    <a:p>
                      <a:pPr indent="0">
                        <a:buFont typeface="Arial" panose="020B0604020202090204" pitchFamily="34" charset="0"/>
                        <a:buNone/>
                      </a:pPr>
                      <a:r>
                        <a:rPr lang="en-US" altLang="zh-CN" sz="840" b="0">
                          <a:latin typeface="Arial" charset="0"/>
                          <a:ea typeface="SimHei" charset="0"/>
                          <a:cs typeface="Arial" charset="0"/>
                          <a:sym typeface="Arial"/>
                        </a:rPr>
                        <a:t>56 days</a:t>
                      </a:r>
                      <a:endParaRPr lang="zh-CN" altLang="en-US" sz="840" b="0">
                        <a:latin typeface="Arial" charset="0"/>
                        <a:ea typeface="SimHei" charset="0"/>
                        <a:cs typeface="Arial" charset="0"/>
                        <a:sym typeface="Arial"/>
                      </a:endParaRPr>
                    </a:p>
                  </a:txBody>
                  <a:tcPr anchor="ctr"/>
                </a:tc>
                <a:extLst>
                  <a:ext uri="{0D108BD9-81ED-4DB2-BD59-A6C34878D82A}">
                    <a16:rowId xmlns:a16="http://schemas.microsoft.com/office/drawing/2014/main" val="10002"/>
                  </a:ext>
                </a:extLst>
              </a:tr>
              <a:tr h="852637">
                <a:tc>
                  <a:txBody>
                    <a:bodyPr/>
                    <a:lstStyle/>
                    <a:p>
                      <a:pPr>
                        <a:buNone/>
                      </a:pPr>
                      <a:r>
                        <a:rPr lang="zh-CN" altLang="en-US" sz="840" b="1">
                          <a:latin typeface="Arial" charset="0"/>
                          <a:ea typeface="SimHei" charset="0"/>
                          <a:cs typeface="Arial"/>
                          <a:sym typeface="Arial"/>
                        </a:rPr>
                        <a:t>Price Adjustment</a:t>
                      </a:r>
                    </a:p>
                  </a:txBody>
                  <a:tcPr anchor="ctr"/>
                </a:tc>
                <a:tc>
                  <a:txBody>
                    <a:bodyPr/>
                    <a:lstStyle/>
                    <a:p>
                      <a:pPr marL="171450" indent="-171450">
                        <a:buFont typeface="Arial" panose="020B0604020202090204" pitchFamily="34" charset="0"/>
                        <a:buChar char="•"/>
                      </a:pPr>
                      <a:r>
                        <a:rPr lang="zh-CN" altLang="en-US" sz="840" b="0">
                          <a:latin typeface="Arial Narrow" charset="0"/>
                          <a:ea typeface="SimHei" charset="0"/>
                          <a:cs typeface="Arial Narrow" charset="0"/>
                          <a:sym typeface="Arial Narrow"/>
                        </a:rPr>
                        <a:t>Sixty percent of the rupee portion is adjustable (cement, reinforcing steel, diesel fuel, and labor).</a:t>
                      </a:r>
                    </a:p>
                    <a:p>
                      <a:pPr marL="171450" indent="-171450">
                        <a:buFont typeface="Arial" panose="020B0604020202090204" pitchFamily="34" charset="0"/>
                        <a:buChar char="•"/>
                      </a:pPr>
                      <a:r>
                        <a:rPr lang="zh-CN" altLang="en-US" sz="840" b="0">
                          <a:latin typeface="Arial Narrow" charset="0"/>
                          <a:ea typeface="SimHei" charset="0"/>
                          <a:cs typeface="Arial Narrow" charset="0"/>
                          <a:sym typeface="Arial Narrow"/>
                        </a:rPr>
                        <a:t>Thirty percent of the foreign currency portion is adjustable (foreign labor, stainless steel, HDPE lining).</a:t>
                      </a:r>
                    </a:p>
                  </a:txBody>
                  <a:tcPr anchor="ctr"/>
                </a:tc>
                <a:extLst>
                  <a:ext uri="{0D108BD9-81ED-4DB2-BD59-A6C34878D82A}">
                    <a16:rowId xmlns:a16="http://schemas.microsoft.com/office/drawing/2014/main" val="10003"/>
                  </a:ext>
                </a:extLst>
              </a:tr>
              <a:tr h="327937">
                <a:tc>
                  <a:txBody>
                    <a:bodyPr/>
                    <a:lstStyle/>
                    <a:p>
                      <a:pPr>
                        <a:buNone/>
                      </a:pPr>
                      <a:r>
                        <a:rPr lang="zh-CN" altLang="en-US" sz="840" b="1">
                          <a:latin typeface="Arial" charset="0"/>
                          <a:ea typeface="SimHei" charset="0"/>
                          <a:cs typeface="Arial"/>
                          <a:sym typeface="Arial"/>
                        </a:rPr>
                        <a:t>Contingency Fund</a:t>
                      </a:r>
                    </a:p>
                  </a:txBody>
                  <a:tcPr anchor="ctr"/>
                </a:tc>
                <a:tc>
                  <a:txBody>
                    <a:bodyPr/>
                    <a:lstStyle/>
                    <a:p>
                      <a:pPr>
                        <a:buNone/>
                      </a:pPr>
                      <a:r>
                        <a:rPr lang="en-US" altLang="zh-CN" sz="840" b="0">
                          <a:latin typeface="Arial" charset="0"/>
                          <a:ea typeface="SimHei" charset="0"/>
                          <a:cs typeface="Arial" charset="0"/>
                          <a:sym typeface="Arial"/>
                        </a:rPr>
                        <a:t>39 Rupees (equivalent to US$14 million)</a:t>
                      </a:r>
                      <a:endParaRPr lang="zh-CN" altLang="en-US" sz="840" b="0">
                        <a:latin typeface="Arial" charset="0"/>
                        <a:ea typeface="SimHei" charset="0"/>
                        <a:cs typeface="Arial" charset="0"/>
                        <a:sym typeface="Arial"/>
                      </a:endParaRPr>
                    </a:p>
                  </a:txBody>
                  <a:tcPr anchor="ctr"/>
                </a:tc>
                <a:extLst>
                  <a:ext uri="{0D108BD9-81ED-4DB2-BD59-A6C34878D82A}">
                    <a16:rowId xmlns:a16="http://schemas.microsoft.com/office/drawing/2014/main" val="10004"/>
                  </a:ext>
                </a:extLst>
              </a:tr>
              <a:tr h="721462">
                <a:tc>
                  <a:txBody>
                    <a:bodyPr/>
                    <a:lstStyle/>
                    <a:p>
                      <a:pPr>
                        <a:buNone/>
                      </a:pPr>
                      <a:r>
                        <a:rPr lang="en-US" altLang="zh-CN" sz="840" b="1">
                          <a:latin typeface="Arial" charset="0"/>
                          <a:ea typeface="SimHei" charset="0"/>
                          <a:cs typeface="Arial"/>
                          <a:sym typeface="Arial"/>
                        </a:rPr>
                        <a:t>DAAB</a:t>
                      </a:r>
                    </a:p>
                  </a:txBody>
                  <a:tcPr anchor="ctr"/>
                </a:tc>
                <a:tc>
                  <a:txBody>
                    <a:bodyPr/>
                    <a:lstStyle/>
                    <a:p>
                      <a:pPr>
                        <a:buNone/>
                      </a:pPr>
                      <a:r>
                        <a:rPr lang="zh-CN" altLang="en-US" sz="840" b="0">
                          <a:latin typeface="Arial Narrow" charset="0"/>
                          <a:ea typeface="SimHei" charset="0"/>
                          <a:cs typeface="Arial Narrow" charset="0"/>
                          <a:sym typeface="Arial Narrow"/>
                        </a:rPr>
                        <a:t>The International Chamber of Commerce Arbitration Rules shall apply. The arbitral tribunal shall consist of three members, and the seat of arbitration shall be Dubai or London.</a:t>
                      </a:r>
                    </a:p>
                  </a:txBody>
                  <a:tcPr anchor="ctr"/>
                </a:tc>
                <a:extLst>
                  <a:ext uri="{0D108BD9-81ED-4DB2-BD59-A6C34878D82A}">
                    <a16:rowId xmlns:a16="http://schemas.microsoft.com/office/drawing/2014/main" val="10005"/>
                  </a:ext>
                </a:extLst>
              </a:tr>
              <a:tr h="327937">
                <a:tc>
                  <a:txBody>
                    <a:bodyPr/>
                    <a:lstStyle/>
                    <a:p>
                      <a:pPr>
                        <a:buNone/>
                      </a:pPr>
                      <a:r>
                        <a:rPr lang="zh-CN" altLang="en-US" sz="840" b="1">
                          <a:latin typeface="Arial" charset="0"/>
                          <a:ea typeface="SimHei" charset="0"/>
                          <a:cs typeface="Arial"/>
                          <a:sym typeface="Arial"/>
                        </a:rPr>
                        <a:t>Bid Qualification</a:t>
                      </a:r>
                    </a:p>
                  </a:txBody>
                  <a:tcPr anchor="ctr"/>
                </a:tc>
                <a:tc>
                  <a:txBody>
                    <a:bodyPr/>
                    <a:lstStyle/>
                    <a:p>
                      <a:pPr>
                        <a:buNone/>
                      </a:pPr>
                      <a:r>
                        <a:rPr lang="zh-CN" altLang="en-US" sz="840" b="0">
                          <a:latin typeface="Arial Narrow" charset="0"/>
                          <a:ea typeface="SimHei" charset="0"/>
                          <a:cs typeface="Arial Narrow"/>
                          <a:sym typeface="Arial Narrow"/>
                        </a:rPr>
                        <a:t>International open tender, post-qualification review</a:t>
                      </a:r>
                    </a:p>
                  </a:txBody>
                  <a:tcPr anchor="ctr"/>
                </a:tc>
                <a:extLst>
                  <a:ext uri="{0D108BD9-81ED-4DB2-BD59-A6C34878D82A}">
                    <a16:rowId xmlns:a16="http://schemas.microsoft.com/office/drawing/2014/main" val="10006"/>
                  </a:ext>
                </a:extLst>
              </a:tr>
              <a:tr h="266449">
                <a:tc>
                  <a:txBody>
                    <a:bodyPr/>
                    <a:lstStyle/>
                    <a:p>
                      <a:pPr>
                        <a:buNone/>
                      </a:pPr>
                      <a:r>
                        <a:rPr lang="zh-CN" altLang="en-US" sz="840" b="1">
                          <a:latin typeface="Arial" charset="0"/>
                          <a:ea typeface="SimHei" charset="0"/>
                          <a:cs typeface="Arial"/>
                          <a:sym typeface="Arial"/>
                        </a:rPr>
                        <a:t>Applicable Law</a:t>
                      </a:r>
                    </a:p>
                  </a:txBody>
                  <a:tcPr anchor="ctr"/>
                </a:tc>
                <a:tc>
                  <a:txBody>
                    <a:bodyPr/>
                    <a:lstStyle/>
                    <a:p>
                      <a:pPr>
                        <a:buNone/>
                      </a:pPr>
                      <a:r>
                        <a:rPr lang="zh-CN" altLang="en-US" sz="840" b="0">
                          <a:latin typeface="Arial" charset="0"/>
                          <a:ea typeface="SimHei" charset="0"/>
                          <a:cs typeface="Arial"/>
                          <a:sym typeface="Arial"/>
                        </a:rPr>
                        <a:t>Pakistani Law</a:t>
                      </a:r>
                    </a:p>
                  </a:txBody>
                  <a:tcPr anchor="ctr"/>
                </a:tc>
                <a:extLst>
                  <a:ext uri="{0D108BD9-81ED-4DB2-BD59-A6C34878D82A}">
                    <a16:rowId xmlns:a16="http://schemas.microsoft.com/office/drawing/2014/main" val="10007"/>
                  </a:ext>
                </a:extLst>
              </a:tr>
            </a:tbl>
          </a:graphicData>
        </a:graphic>
      </p:graphicFrame>
      <p:cxnSp>
        <p:nvCxnSpPr>
          <p:cNvPr id="11" name="直接连接符 10"/>
          <p:cNvCxnSpPr/>
          <p:nvPr/>
        </p:nvCxnSpPr>
        <p:spPr>
          <a:xfrm>
            <a:off x="4622800" y="1062355"/>
            <a:ext cx="0" cy="333375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4996815" cy="368300"/>
          </a:xfrm>
          <a:prstGeom prst="rect">
            <a:avLst/>
          </a:prstGeom>
          <a:noFill/>
        </p:spPr>
        <p:txBody>
          <a:bodyPr wrap="none" rtlCol="0">
            <a:noAutofit/>
          </a:bodyPr>
          <a:lstStyle/>
          <a:p>
            <a:r>
              <a:rPr lang="zh-CN" altLang="en-US" b="1" dirty="0">
                <a:latin typeface="Arial Narrow" charset="0"/>
                <a:ea typeface="SimHei" charset="0"/>
                <a:cs typeface="Arial Narrow" charset="0"/>
                <a:sym typeface="Arial Narrow"/>
              </a:rPr>
              <a:t>I. Project Overview - Major Scope of Works (Organized by Route)</a:t>
            </a:r>
          </a:p>
        </p:txBody>
      </p:sp>
      <p:graphicFrame>
        <p:nvGraphicFramePr>
          <p:cNvPr id="3" name="表格 2"/>
          <p:cNvGraphicFramePr/>
          <p:nvPr>
            <p:custDataLst>
              <p:tags r:id="rId1"/>
            </p:custDataLst>
            <p:extLst>
              <p:ext uri="{D42A27DB-BD31-4B8C-83A1-F6EECF244321}">
                <p14:modId xmlns:p14="http://schemas.microsoft.com/office/powerpoint/2010/main" val="3553502228"/>
              </p:ext>
            </p:extLst>
          </p:nvPr>
        </p:nvGraphicFramePr>
        <p:xfrm>
          <a:off x="97155" y="908050"/>
          <a:ext cx="2795905" cy="3625850"/>
        </p:xfrm>
        <a:graphic>
          <a:graphicData uri="http://schemas.openxmlformats.org/drawingml/2006/table">
            <a:tbl>
              <a:tblPr/>
              <a:tblGrid>
                <a:gridCol w="544830">
                  <a:extLst>
                    <a:ext uri="{9D8B030D-6E8A-4147-A177-3AD203B41FA5}">
                      <a16:colId xmlns:a16="http://schemas.microsoft.com/office/drawing/2014/main" val="20000"/>
                    </a:ext>
                  </a:extLst>
                </a:gridCol>
                <a:gridCol w="772795">
                  <a:extLst>
                    <a:ext uri="{9D8B030D-6E8A-4147-A177-3AD203B41FA5}">
                      <a16:colId xmlns:a16="http://schemas.microsoft.com/office/drawing/2014/main" val="20001"/>
                    </a:ext>
                  </a:extLst>
                </a:gridCol>
                <a:gridCol w="638175">
                  <a:extLst>
                    <a:ext uri="{9D8B030D-6E8A-4147-A177-3AD203B41FA5}">
                      <a16:colId xmlns:a16="http://schemas.microsoft.com/office/drawing/2014/main" val="20002"/>
                    </a:ext>
                  </a:extLst>
                </a:gridCol>
                <a:gridCol w="840105">
                  <a:extLst>
                    <a:ext uri="{9D8B030D-6E8A-4147-A177-3AD203B41FA5}">
                      <a16:colId xmlns:a16="http://schemas.microsoft.com/office/drawing/2014/main" val="20003"/>
                    </a:ext>
                  </a:extLst>
                </a:gridCol>
              </a:tblGrid>
              <a:tr h="690213">
                <a:tc>
                  <a:txBody>
                    <a:bodyPr/>
                    <a:lstStyle/>
                    <a:p>
                      <a:pPr algn="ctr">
                        <a:spcBef>
                          <a:spcPct val="0"/>
                        </a:spcBef>
                        <a:spcAft>
                          <a:spcPct val="0"/>
                        </a:spcAft>
                      </a:pPr>
                      <a:r>
                        <a:rPr lang="zh-CN" sz="1100">
                          <a:latin typeface="Arial"/>
                          <a:ea typeface="SimHei"/>
                          <a:cs typeface="Arial"/>
                          <a:sym typeface="Arial"/>
                        </a:rPr>
                        <a:t>Line</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zh-CN" sz="1100">
                          <a:latin typeface="Arial"/>
                          <a:ea typeface="SimHei"/>
                          <a:cs typeface="Arial"/>
                          <a:sym typeface="Arial"/>
                        </a:rPr>
                        <a:t>Start and end positions</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zh-CN" sz="1100">
                          <a:latin typeface="Arial"/>
                          <a:ea typeface="SimHei"/>
                          <a:cs typeface="Arial"/>
                          <a:sym typeface="Arial"/>
                        </a:rPr>
                        <a:t>Pipe diameter (mm)</a:t>
                      </a:r>
                      <a:endParaRPr lang="zh-CN" altLang="en-US" sz="1100">
                        <a:latin typeface="Arial"/>
                        <a:ea typeface="SimHei"/>
                        <a:cs typeface="Arial"/>
                        <a:sym typeface="Arial"/>
                      </a:endParaRP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zh-CN" sz="1100">
                          <a:latin typeface="Arial"/>
                          <a:ea typeface="SimHei"/>
                          <a:cs typeface="Arial"/>
                          <a:sym typeface="Arial"/>
                        </a:rPr>
                        <a:t>Length (km)</a:t>
                      </a:r>
                      <a:endParaRPr lang="zh-CN" altLang="en-US" sz="1100">
                        <a:latin typeface="Arial"/>
                        <a:ea typeface="SimHei"/>
                        <a:cs typeface="Arial"/>
                        <a:sym typeface="Arial"/>
                      </a:endParaRP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extLst>
                  <a:ext uri="{0D108BD9-81ED-4DB2-BD59-A6C34878D82A}">
                    <a16:rowId xmlns:a16="http://schemas.microsoft.com/office/drawing/2014/main" val="10000"/>
                  </a:ext>
                </a:extLst>
              </a:tr>
              <a:tr h="1027294">
                <a:tc>
                  <a:txBody>
                    <a:bodyPr/>
                    <a:lstStyle/>
                    <a:p>
                      <a:pPr algn="ctr">
                        <a:spcBef>
                          <a:spcPct val="0"/>
                        </a:spcBef>
                        <a:spcAft>
                          <a:spcPct val="0"/>
                        </a:spcAft>
                      </a:pPr>
                      <a:r>
                        <a:rPr lang="zh-CN" sz="1100">
                          <a:latin typeface="Arial"/>
                          <a:ea typeface="SimHei"/>
                          <a:cs typeface="Arial"/>
                          <a:sym typeface="Arial"/>
                        </a:rPr>
                        <a:t>Red Line</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b="1">
                          <a:solidFill>
                            <a:srgbClr val="FF0000"/>
                          </a:solidFill>
                          <a:latin typeface="Arial"/>
                          <a:ea typeface="SimHei"/>
                          <a:cs typeface="Arial"/>
                          <a:sym typeface="Arial"/>
                        </a:rPr>
                        <a:t>LARECHS Colony to Qartaba Chowk</a:t>
                      </a:r>
                      <a:endParaRPr lang="en-US" altLang="zh-CN" sz="1100">
                        <a:latin typeface="Arial"/>
                        <a:ea typeface="SimHei"/>
                        <a:cs typeface="Arial"/>
                        <a:sym typeface="Arial"/>
                      </a:endParaRP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a:latin typeface="仿宋"/>
                          <a:ea typeface="仿宋"/>
                        </a:rPr>
                        <a:t>1050, 1500, 2400</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a:latin typeface="仿宋"/>
                          <a:ea typeface="仿宋"/>
                        </a:rPr>
                        <a:t>12.14</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extLst>
                  <a:ext uri="{0D108BD9-81ED-4DB2-BD59-A6C34878D82A}">
                    <a16:rowId xmlns:a16="http://schemas.microsoft.com/office/drawing/2014/main" val="10001"/>
                  </a:ext>
                </a:extLst>
              </a:tr>
              <a:tr h="881048">
                <a:tc>
                  <a:txBody>
                    <a:bodyPr/>
                    <a:lstStyle/>
                    <a:p>
                      <a:pPr algn="ctr">
                        <a:spcBef>
                          <a:spcPct val="0"/>
                        </a:spcBef>
                        <a:spcAft>
                          <a:spcPct val="0"/>
                        </a:spcAft>
                      </a:pPr>
                      <a:r>
                        <a:rPr lang="zh-CN" sz="1100">
                          <a:latin typeface="Arial"/>
                          <a:ea typeface="SimHei"/>
                          <a:cs typeface="Arial"/>
                          <a:sym typeface="Arial"/>
                        </a:rPr>
                        <a:t>Green Line</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b="1">
                          <a:solidFill>
                            <a:srgbClr val="00B050"/>
                          </a:solidFill>
                          <a:latin typeface="Arial"/>
                          <a:ea typeface="SimHei"/>
                          <a:cs typeface="Arial"/>
                          <a:sym typeface="Arial"/>
                        </a:rPr>
                        <a:t>Gurumangat Road to Qartaba Chowk</a:t>
                      </a:r>
                      <a:endParaRPr lang="en-US" altLang="zh-CN" sz="1100">
                        <a:latin typeface="Arial"/>
                        <a:ea typeface="SimHei"/>
                        <a:cs typeface="Arial"/>
                        <a:sym typeface="Arial"/>
                      </a:endParaRP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a:latin typeface="仿宋"/>
                          <a:ea typeface="仿宋"/>
                        </a:rPr>
                        <a:t>1050, 1500, 2400</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a:latin typeface="仿宋"/>
                          <a:ea typeface="仿宋"/>
                        </a:rPr>
                        <a:t>12.82</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extLst>
                  <a:ext uri="{0D108BD9-81ED-4DB2-BD59-A6C34878D82A}">
                    <a16:rowId xmlns:a16="http://schemas.microsoft.com/office/drawing/2014/main" val="10002"/>
                  </a:ext>
                </a:extLst>
              </a:tr>
              <a:tr h="1027294">
                <a:tc>
                  <a:txBody>
                    <a:bodyPr/>
                    <a:lstStyle/>
                    <a:p>
                      <a:pPr algn="ctr">
                        <a:spcBef>
                          <a:spcPct val="0"/>
                        </a:spcBef>
                        <a:spcAft>
                          <a:spcPct val="0"/>
                        </a:spcAft>
                      </a:pPr>
                      <a:r>
                        <a:rPr lang="zh-CN" sz="1100">
                          <a:latin typeface="Arial"/>
                          <a:ea typeface="SimHei"/>
                          <a:cs typeface="Arial"/>
                          <a:sym typeface="Arial"/>
                        </a:rPr>
                        <a:t>Pink line</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b="1">
                          <a:solidFill>
                            <a:srgbClr val="FF54EB"/>
                          </a:solidFill>
                          <a:latin typeface="Arial Narrow"/>
                          <a:ea typeface="SimHei"/>
                          <a:cs typeface="Arial Narrow"/>
                          <a:sym typeface="Arial Narrow"/>
                        </a:rPr>
                        <a:t>Qartaba Chowk to Gulshan-e-Ravi (Drainage Station)</a:t>
                      </a:r>
                      <a:endParaRPr lang="zh-CN" altLang="en-US" sz="1100">
                        <a:latin typeface="Arial Narrow"/>
                        <a:ea typeface="SimHei"/>
                        <a:cs typeface="Arial Narrow"/>
                        <a:sym typeface="Arial Narrow"/>
                      </a:endParaRP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a:latin typeface="仿宋"/>
                          <a:ea typeface="仿宋"/>
                        </a:rPr>
                        <a:t>1050, 3500</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lstStyle/>
                    <a:p>
                      <a:pPr algn="ctr">
                        <a:spcBef>
                          <a:spcPct val="0"/>
                        </a:spcBef>
                        <a:spcAft>
                          <a:spcPct val="0"/>
                        </a:spcAft>
                      </a:pPr>
                      <a:r>
                        <a:rPr lang="en-US" altLang="zh-CN" sz="1100">
                          <a:latin typeface="仿宋"/>
                          <a:ea typeface="仿宋"/>
                        </a:rPr>
                        <a:t>7.25</a:t>
                      </a:r>
                    </a:p>
                  </a:txBody>
                  <a:tcPr marL="68580" marR="6858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extLst>
                  <a:ext uri="{0D108BD9-81ED-4DB2-BD59-A6C34878D82A}">
                    <a16:rowId xmlns:a16="http://schemas.microsoft.com/office/drawing/2014/main" val="10003"/>
                  </a:ext>
                </a:extLst>
              </a:tr>
            </a:tbl>
          </a:graphicData>
        </a:graphic>
      </p:graphicFrame>
      <p:pic>
        <p:nvPicPr>
          <p:cNvPr id="4" name="图片 3" descr="/Users/xuzhuoran/Library/Containers/com.kingsoft.wpsoffice.mac/Data/tmp/picturecompress_20251021232043/output_1.pngoutput_1"/>
          <p:cNvPicPr>
            <a:picLocks noChangeAspect="1"/>
          </p:cNvPicPr>
          <p:nvPr/>
        </p:nvPicPr>
        <p:blipFill>
          <a:blip r:embed="rId3"/>
          <a:stretch>
            <a:fillRect/>
          </a:stretch>
        </p:blipFill>
        <p:spPr>
          <a:xfrm>
            <a:off x="2894330" y="908050"/>
            <a:ext cx="6249670" cy="36252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4996815" cy="368300"/>
          </a:xfrm>
          <a:prstGeom prst="rect">
            <a:avLst/>
          </a:prstGeom>
          <a:noFill/>
        </p:spPr>
        <p:txBody>
          <a:bodyPr wrap="none" rtlCol="0">
            <a:noAutofit/>
          </a:bodyPr>
          <a:lstStyle/>
          <a:p>
            <a:r>
              <a:rPr lang="zh-CN" altLang="en-US" b="1" dirty="0">
                <a:latin typeface="Arial Narrow" charset="0"/>
                <a:ea typeface="SimHei" charset="0"/>
                <a:cs typeface="Arial Narrow" charset="0"/>
                <a:sym typeface="Arial Narrow"/>
              </a:rPr>
              <a:t>I. Project Overview - Major Scope of Works (Categorized by Pipe Diameter)</a:t>
            </a:r>
          </a:p>
        </p:txBody>
      </p:sp>
      <p:graphicFrame>
        <p:nvGraphicFramePr>
          <p:cNvPr id="11" name="表格 10"/>
          <p:cNvGraphicFramePr/>
          <p:nvPr>
            <p:extLst>
              <p:ext uri="{D42A27DB-BD31-4B8C-83A1-F6EECF244321}">
                <p14:modId xmlns:p14="http://schemas.microsoft.com/office/powerpoint/2010/main" val="1397104663"/>
              </p:ext>
            </p:extLst>
          </p:nvPr>
        </p:nvGraphicFramePr>
        <p:xfrm>
          <a:off x="328295" y="1024890"/>
          <a:ext cx="8478520" cy="3408045"/>
        </p:xfrm>
        <a:graphic>
          <a:graphicData uri="http://schemas.openxmlformats.org/drawingml/2006/table">
            <a:tbl>
              <a:tblPr firstRow="1" bandRow="1">
                <a:tableStyleId>{5C22544A-7EE6-4342-B048-85BDC9FD1C3A}</a:tableStyleId>
              </a:tblPr>
              <a:tblGrid>
                <a:gridCol w="2119630">
                  <a:extLst>
                    <a:ext uri="{9D8B030D-6E8A-4147-A177-3AD203B41FA5}">
                      <a16:colId xmlns:a16="http://schemas.microsoft.com/office/drawing/2014/main" val="20000"/>
                    </a:ext>
                  </a:extLst>
                </a:gridCol>
                <a:gridCol w="2119630">
                  <a:extLst>
                    <a:ext uri="{9D8B030D-6E8A-4147-A177-3AD203B41FA5}">
                      <a16:colId xmlns:a16="http://schemas.microsoft.com/office/drawing/2014/main" val="20001"/>
                    </a:ext>
                  </a:extLst>
                </a:gridCol>
                <a:gridCol w="2119630">
                  <a:extLst>
                    <a:ext uri="{9D8B030D-6E8A-4147-A177-3AD203B41FA5}">
                      <a16:colId xmlns:a16="http://schemas.microsoft.com/office/drawing/2014/main" val="20002"/>
                    </a:ext>
                  </a:extLst>
                </a:gridCol>
                <a:gridCol w="2119630">
                  <a:extLst>
                    <a:ext uri="{9D8B030D-6E8A-4147-A177-3AD203B41FA5}">
                      <a16:colId xmlns:a16="http://schemas.microsoft.com/office/drawing/2014/main" val="20003"/>
                    </a:ext>
                  </a:extLst>
                </a:gridCol>
              </a:tblGrid>
              <a:tr h="673079">
                <a:tc>
                  <a:txBody>
                    <a:bodyPr/>
                    <a:lstStyle/>
                    <a:p>
                      <a:pPr algn="ctr">
                        <a:buClrTx/>
                        <a:buSzTx/>
                        <a:buFontTx/>
                      </a:pPr>
                      <a:r>
                        <a:rPr lang="zh-CN" altLang="en-US" sz="1440">
                          <a:latin typeface="Arial" charset="0"/>
                          <a:ea typeface="SimHei" charset="0"/>
                          <a:cs typeface="Arial"/>
                          <a:sym typeface="Arial"/>
                        </a:rPr>
                        <a:t>Pipe inner diameter (mm)</a:t>
                      </a:r>
                    </a:p>
                  </a:txBody>
                  <a:tcPr marL="68580" marR="68580" marT="0" marB="0" anchor="ctr"/>
                </a:tc>
                <a:tc>
                  <a:txBody>
                    <a:bodyPr/>
                    <a:lstStyle/>
                    <a:p>
                      <a:pPr algn="ctr">
                        <a:buClrTx/>
                        <a:buSzTx/>
                        <a:buFontTx/>
                      </a:pPr>
                      <a:r>
                        <a:rPr lang="zh-CN" altLang="en-US" sz="1440">
                          <a:latin typeface="Arial" charset="0"/>
                          <a:ea typeface="SimHei" charset="0"/>
                          <a:cs typeface="Arial"/>
                          <a:sym typeface="Arial"/>
                        </a:rPr>
                        <a:t>Cumulative Mileage (m)</a:t>
                      </a:r>
                    </a:p>
                  </a:txBody>
                  <a:tcPr marL="68580" marR="68580" marT="0" marB="0" anchor="ctr"/>
                </a:tc>
                <a:tc>
                  <a:txBody>
                    <a:bodyPr/>
                    <a:lstStyle/>
                    <a:p>
                      <a:pPr algn="ctr">
                        <a:buClrTx/>
                        <a:buSzTx/>
                        <a:buFontTx/>
                      </a:pPr>
                      <a:r>
                        <a:rPr lang="zh-CN" altLang="en-US" sz="1440">
                          <a:latin typeface="Arial" charset="0"/>
                          <a:ea typeface="SimHei" charset="0"/>
                          <a:cs typeface="Arial"/>
                          <a:sym typeface="Arial"/>
                        </a:rPr>
                        <a:t>Maximum spacing of working shafts (m)</a:t>
                      </a:r>
                    </a:p>
                  </a:txBody>
                  <a:tcPr marL="68580" marR="68580" marT="0" marB="0" anchor="ctr"/>
                </a:tc>
                <a:tc>
                  <a:txBody>
                    <a:bodyPr/>
                    <a:lstStyle/>
                    <a:p>
                      <a:pPr algn="ctr">
                        <a:buClrTx/>
                        <a:buSzTx/>
                        <a:buFontTx/>
                        <a:buNone/>
                      </a:pPr>
                      <a:r>
                        <a:rPr lang="zh-CN" altLang="en-US" sz="1440">
                          <a:latin typeface="Arial" charset="0"/>
                          <a:ea typeface="SimHei" charset="0"/>
                          <a:cs typeface="Arial"/>
                          <a:sym typeface="Arial"/>
                        </a:rPr>
                        <a:t>Pipe jacking machine</a:t>
                      </a:r>
                    </a:p>
                  </a:txBody>
                  <a:tcPr marL="68580" marR="68580" marT="0" marB="0" anchor="ctr"/>
                </a:tc>
                <a:extLst>
                  <a:ext uri="{0D108BD9-81ED-4DB2-BD59-A6C34878D82A}">
                    <a16:rowId xmlns:a16="http://schemas.microsoft.com/office/drawing/2014/main" val="10000"/>
                  </a:ext>
                </a:extLst>
              </a:tr>
              <a:tr h="440539">
                <a:tc>
                  <a:txBody>
                    <a:bodyPr/>
                    <a:lstStyle/>
                    <a:p>
                      <a:pPr algn="ctr">
                        <a:buClrTx/>
                        <a:buSzTx/>
                        <a:buFontTx/>
                        <a:buNone/>
                      </a:pPr>
                      <a:r>
                        <a:rPr lang="zh-CN" altLang="en-US" sz="1440">
                          <a:latin typeface="宋体" charset="0"/>
                          <a:ea typeface="宋体" charset="0"/>
                        </a:rPr>
                        <a:t>1050</a:t>
                      </a:r>
                    </a:p>
                  </a:txBody>
                  <a:tcPr marL="68580" marR="68580" marT="0" marB="0" anchor="ctr"/>
                </a:tc>
                <a:tc>
                  <a:txBody>
                    <a:bodyPr/>
                    <a:lstStyle/>
                    <a:p>
                      <a:pPr algn="ctr">
                        <a:buClrTx/>
                        <a:buSzTx/>
                        <a:buFontTx/>
                        <a:buNone/>
                      </a:pPr>
                      <a:r>
                        <a:rPr lang="zh-CN" altLang="en-US" sz="1440">
                          <a:latin typeface="宋体" charset="0"/>
                          <a:ea typeface="宋体" charset="0"/>
                        </a:rPr>
                        <a:t>9837</a:t>
                      </a:r>
                    </a:p>
                  </a:txBody>
                  <a:tcPr marL="68580" marR="68580" marT="0" marB="0" anchor="ctr"/>
                </a:tc>
                <a:tc>
                  <a:txBody>
                    <a:bodyPr/>
                    <a:lstStyle/>
                    <a:p>
                      <a:pPr algn="ctr">
                        <a:buClrTx/>
                        <a:buSzTx/>
                        <a:buFontTx/>
                        <a:buNone/>
                      </a:pPr>
                      <a:r>
                        <a:rPr lang="zh-CN" altLang="en-US" sz="1440">
                          <a:latin typeface="宋体" charset="0"/>
                          <a:ea typeface="宋体" charset="0"/>
                        </a:rPr>
                        <a:t>190</a:t>
                      </a:r>
                    </a:p>
                  </a:txBody>
                  <a:tcPr marL="68580" marR="68580" marT="0" marB="0" anchor="ctr"/>
                </a:tc>
                <a:tc>
                  <a:txBody>
                    <a:bodyPr/>
                    <a:lstStyle/>
                    <a:p>
                      <a:pPr algn="ctr">
                        <a:buClrTx/>
                        <a:buSzTx/>
                        <a:buFontTx/>
                        <a:buNone/>
                      </a:pPr>
                      <a:r>
                        <a:rPr lang="zh-CN" altLang="en-US" sz="1440">
                          <a:latin typeface="Arial" charset="0"/>
                          <a:ea typeface="SimHei" charset="0"/>
                          <a:cs typeface="Arial" charset="0"/>
                          <a:sym typeface="Arial"/>
                        </a:rPr>
                        <a:t>2 units</a:t>
                      </a:r>
                    </a:p>
                  </a:txBody>
                  <a:tcPr marL="68580" marR="68580" marT="0" marB="0" anchor="ctr"/>
                </a:tc>
                <a:extLst>
                  <a:ext uri="{0D108BD9-81ED-4DB2-BD59-A6C34878D82A}">
                    <a16:rowId xmlns:a16="http://schemas.microsoft.com/office/drawing/2014/main" val="10001"/>
                  </a:ext>
                </a:extLst>
              </a:tr>
              <a:tr h="440539">
                <a:tc>
                  <a:txBody>
                    <a:bodyPr/>
                    <a:lstStyle/>
                    <a:p>
                      <a:pPr algn="ctr">
                        <a:buClrTx/>
                        <a:buSzTx/>
                        <a:buFontTx/>
                        <a:buNone/>
                      </a:pPr>
                      <a:r>
                        <a:rPr lang="zh-CN" altLang="en-US" sz="1440">
                          <a:latin typeface="宋体" charset="0"/>
                          <a:ea typeface="宋体" charset="0"/>
                        </a:rPr>
                        <a:t>1500</a:t>
                      </a:r>
                    </a:p>
                  </a:txBody>
                  <a:tcPr marL="68580" marR="68580" marT="0" marB="0" anchor="ctr"/>
                </a:tc>
                <a:tc>
                  <a:txBody>
                    <a:bodyPr/>
                    <a:lstStyle/>
                    <a:p>
                      <a:pPr algn="ctr">
                        <a:buClrTx/>
                        <a:buSzTx/>
                        <a:buFontTx/>
                        <a:buNone/>
                      </a:pPr>
                      <a:r>
                        <a:rPr lang="zh-CN" altLang="en-US" sz="1440">
                          <a:latin typeface="宋体" charset="0"/>
                          <a:ea typeface="宋体" charset="0"/>
                        </a:rPr>
                        <a:t>5454</a:t>
                      </a:r>
                    </a:p>
                  </a:txBody>
                  <a:tcPr marL="68580" marR="68580" marT="0" marB="0" anchor="ctr"/>
                </a:tc>
                <a:tc>
                  <a:txBody>
                    <a:bodyPr/>
                    <a:lstStyle/>
                    <a:p>
                      <a:pPr algn="ctr">
                        <a:buClrTx/>
                        <a:buSzTx/>
                        <a:buFontTx/>
                        <a:buNone/>
                      </a:pPr>
                      <a:r>
                        <a:rPr lang="zh-CN" altLang="en-US" sz="1440">
                          <a:latin typeface="宋体" charset="0"/>
                          <a:ea typeface="宋体" charset="0"/>
                        </a:rPr>
                        <a:t>250</a:t>
                      </a:r>
                    </a:p>
                  </a:txBody>
                  <a:tcPr marL="68580" marR="68580" marT="0" marB="0" anchor="ctr"/>
                </a:tc>
                <a:tc>
                  <a:txBody>
                    <a:bodyPr/>
                    <a:lstStyle/>
                    <a:p>
                      <a:pPr algn="ctr">
                        <a:buClrTx/>
                        <a:buSzTx/>
                        <a:buFontTx/>
                        <a:buNone/>
                      </a:pPr>
                      <a:r>
                        <a:rPr lang="zh-CN" altLang="en-US" sz="1440">
                          <a:latin typeface="Arial" charset="0"/>
                          <a:ea typeface="SimHei" charset="0"/>
                          <a:cs typeface="Arial" charset="0"/>
                          <a:sym typeface="Arial"/>
                        </a:rPr>
                        <a:t>1 unit</a:t>
                      </a:r>
                    </a:p>
                  </a:txBody>
                  <a:tcPr marL="68580" marR="68580" marT="0" marB="0" anchor="ctr"/>
                </a:tc>
                <a:extLst>
                  <a:ext uri="{0D108BD9-81ED-4DB2-BD59-A6C34878D82A}">
                    <a16:rowId xmlns:a16="http://schemas.microsoft.com/office/drawing/2014/main" val="10002"/>
                  </a:ext>
                </a:extLst>
              </a:tr>
              <a:tr h="440539">
                <a:tc>
                  <a:txBody>
                    <a:bodyPr/>
                    <a:lstStyle/>
                    <a:p>
                      <a:pPr algn="ctr">
                        <a:buClrTx/>
                        <a:buSzTx/>
                        <a:buFontTx/>
                        <a:buNone/>
                      </a:pPr>
                      <a:r>
                        <a:rPr lang="zh-CN" altLang="en-US" sz="1440">
                          <a:latin typeface="宋体" charset="0"/>
                          <a:ea typeface="宋体" charset="0"/>
                        </a:rPr>
                        <a:t>2400</a:t>
                      </a:r>
                    </a:p>
                  </a:txBody>
                  <a:tcPr marL="68580" marR="68580" marT="0" marB="0" anchor="ctr"/>
                </a:tc>
                <a:tc>
                  <a:txBody>
                    <a:bodyPr/>
                    <a:lstStyle/>
                    <a:p>
                      <a:pPr algn="ctr">
                        <a:buClrTx/>
                        <a:buSzTx/>
                        <a:buFontTx/>
                        <a:buNone/>
                      </a:pPr>
                      <a:r>
                        <a:rPr lang="zh-CN" altLang="en-US" sz="1440">
                          <a:latin typeface="宋体" charset="0"/>
                          <a:ea typeface="宋体" charset="0"/>
                        </a:rPr>
                        <a:t>11582</a:t>
                      </a:r>
                    </a:p>
                  </a:txBody>
                  <a:tcPr marL="68580" marR="68580" marT="0" marB="0" anchor="ctr"/>
                </a:tc>
                <a:tc>
                  <a:txBody>
                    <a:bodyPr/>
                    <a:lstStyle/>
                    <a:p>
                      <a:pPr algn="ctr">
                        <a:buClrTx/>
                        <a:buSzTx/>
                        <a:buFontTx/>
                        <a:buNone/>
                      </a:pPr>
                      <a:r>
                        <a:rPr lang="zh-CN" altLang="en-US" sz="1440">
                          <a:latin typeface="宋体" charset="0"/>
                          <a:ea typeface="宋体" charset="0"/>
                        </a:rPr>
                        <a:t>350</a:t>
                      </a:r>
                    </a:p>
                  </a:txBody>
                  <a:tcPr marL="68580" marR="68580" marT="0" marB="0" anchor="ctr"/>
                </a:tc>
                <a:tc>
                  <a:txBody>
                    <a:bodyPr/>
                    <a:lstStyle/>
                    <a:p>
                      <a:pPr algn="ctr">
                        <a:buClrTx/>
                        <a:buSzTx/>
                        <a:buFontTx/>
                        <a:buNone/>
                      </a:pPr>
                      <a:r>
                        <a:rPr lang="zh-CN" altLang="en-US" sz="1440">
                          <a:latin typeface="Arial" charset="0"/>
                          <a:ea typeface="SimHei" charset="0"/>
                          <a:cs typeface="Arial" charset="0"/>
                          <a:sym typeface="Arial"/>
                        </a:rPr>
                        <a:t>2 units</a:t>
                      </a:r>
                    </a:p>
                  </a:txBody>
                  <a:tcPr marL="68580" marR="68580" marT="0" marB="0" anchor="ctr"/>
                </a:tc>
                <a:extLst>
                  <a:ext uri="{0D108BD9-81ED-4DB2-BD59-A6C34878D82A}">
                    <a16:rowId xmlns:a16="http://schemas.microsoft.com/office/drawing/2014/main" val="10003"/>
                  </a:ext>
                </a:extLst>
              </a:tr>
              <a:tr h="439955">
                <a:tc>
                  <a:txBody>
                    <a:bodyPr/>
                    <a:lstStyle/>
                    <a:p>
                      <a:pPr algn="ctr">
                        <a:buClrTx/>
                        <a:buSzTx/>
                        <a:buFontTx/>
                        <a:buNone/>
                      </a:pPr>
                      <a:r>
                        <a:rPr lang="zh-CN" altLang="en-US" sz="1440">
                          <a:latin typeface="宋体" charset="0"/>
                          <a:ea typeface="宋体" charset="0"/>
                        </a:rPr>
                        <a:t>3500</a:t>
                      </a:r>
                    </a:p>
                  </a:txBody>
                  <a:tcPr marL="68580" marR="68580" marT="0" marB="0" anchor="ctr"/>
                </a:tc>
                <a:tc>
                  <a:txBody>
                    <a:bodyPr/>
                    <a:lstStyle/>
                    <a:p>
                      <a:pPr algn="ctr">
                        <a:buClrTx/>
                        <a:buSzTx/>
                        <a:buFontTx/>
                        <a:buNone/>
                      </a:pPr>
                      <a:r>
                        <a:rPr lang="zh-CN" altLang="en-US" sz="1440">
                          <a:latin typeface="宋体" charset="0"/>
                          <a:ea typeface="宋体" charset="0"/>
                        </a:rPr>
                        <a:t>5337</a:t>
                      </a:r>
                    </a:p>
                  </a:txBody>
                  <a:tcPr marL="68580" marR="68580" marT="0" marB="0" anchor="ctr"/>
                </a:tc>
                <a:tc>
                  <a:txBody>
                    <a:bodyPr/>
                    <a:lstStyle/>
                    <a:p>
                      <a:pPr algn="ctr">
                        <a:buClrTx/>
                        <a:buSzTx/>
                        <a:buFontTx/>
                        <a:buNone/>
                      </a:pPr>
                      <a:r>
                        <a:rPr lang="zh-CN" altLang="en-US" sz="1440">
                          <a:latin typeface="宋体" charset="0"/>
                          <a:ea typeface="宋体" charset="0"/>
                        </a:rPr>
                        <a:t>500</a:t>
                      </a:r>
                    </a:p>
                  </a:txBody>
                  <a:tcPr marL="68580" marR="68580" marT="0" marB="0" anchor="ctr"/>
                </a:tc>
                <a:tc>
                  <a:txBody>
                    <a:bodyPr/>
                    <a:lstStyle/>
                    <a:p>
                      <a:pPr algn="ctr">
                        <a:buClrTx/>
                        <a:buSzTx/>
                        <a:buFontTx/>
                        <a:buNone/>
                      </a:pPr>
                      <a:r>
                        <a:rPr lang="zh-CN" altLang="en-US" sz="1440">
                          <a:latin typeface="Arial" charset="0"/>
                          <a:ea typeface="SimHei" charset="0"/>
                          <a:cs typeface="Arial" charset="0"/>
                          <a:sym typeface="Arial"/>
                        </a:rPr>
                        <a:t>1 unit</a:t>
                      </a:r>
                    </a:p>
                  </a:txBody>
                  <a:tcPr marL="68580" marR="68580" marT="0" marB="0" anchor="ctr"/>
                </a:tc>
                <a:extLst>
                  <a:ext uri="{0D108BD9-81ED-4DB2-BD59-A6C34878D82A}">
                    <a16:rowId xmlns:a16="http://schemas.microsoft.com/office/drawing/2014/main" val="10004"/>
                  </a:ext>
                </a:extLst>
              </a:tr>
              <a:tr h="440539">
                <a:tc>
                  <a:txBody>
                    <a:bodyPr/>
                    <a:lstStyle/>
                    <a:p>
                      <a:pPr algn="ctr">
                        <a:buClrTx/>
                        <a:buSzTx/>
                        <a:buFontTx/>
                        <a:buNone/>
                      </a:pPr>
                      <a:r>
                        <a:rPr lang="zh-CN" altLang="en-US" sz="1440">
                          <a:latin typeface="宋体" charset="0"/>
                          <a:ea typeface="宋体" charset="0"/>
                        </a:rPr>
                        <a:t>450-750</a:t>
                      </a:r>
                    </a:p>
                  </a:txBody>
                  <a:tcPr marL="68580" marR="68580" marT="0" marB="0" anchor="ctr"/>
                </a:tc>
                <a:tc>
                  <a:txBody>
                    <a:bodyPr/>
                    <a:lstStyle/>
                    <a:p>
                      <a:pPr algn="ctr">
                        <a:buClrTx/>
                        <a:buSzTx/>
                        <a:buFontTx/>
                        <a:buNone/>
                      </a:pPr>
                      <a:r>
                        <a:rPr lang="zh-CN" altLang="en-US" sz="1440">
                          <a:latin typeface="宋体" charset="0"/>
                          <a:ea typeface="宋体" charset="0"/>
                        </a:rPr>
                        <a:t>8480</a:t>
                      </a:r>
                    </a:p>
                  </a:txBody>
                  <a:tcPr marL="68580" marR="68580" marT="0" marB="0" anchor="ctr"/>
                </a:tc>
                <a:tc gridSpan="2">
                  <a:txBody>
                    <a:bodyPr/>
                    <a:lstStyle/>
                    <a:p>
                      <a:pPr algn="ctr">
                        <a:buClrTx/>
                        <a:buSzTx/>
                        <a:buFontTx/>
                        <a:buNone/>
                      </a:pPr>
                      <a:r>
                        <a:rPr lang="zh-CN" altLang="en-US" sz="1290">
                          <a:latin typeface="Arial" charset="0"/>
                          <a:ea typeface="SimHei" charset="0"/>
                          <a:cs typeface="Arial"/>
                          <a:sym typeface="Arial"/>
                        </a:rPr>
                        <a:t>Adopt the open-cut method.</a:t>
                      </a:r>
                    </a:p>
                  </a:txBody>
                  <a:tcPr marL="68580" marR="68580" marT="0" marB="0" anchor="ctr"/>
                </a:tc>
                <a:tc hMerge="1">
                  <a:txBody>
                    <a:bodyPr/>
                    <a:lstStyle/>
                    <a:p>
                      <a:endParaRPr lang="zh-CN"/>
                    </a:p>
                  </a:txBody>
                  <a:tcPr/>
                </a:tc>
                <a:extLst>
                  <a:ext uri="{0D108BD9-81ED-4DB2-BD59-A6C34878D82A}">
                    <a16:rowId xmlns:a16="http://schemas.microsoft.com/office/drawing/2014/main" val="10005"/>
                  </a:ext>
                </a:extLst>
              </a:tr>
              <a:tr h="532854">
                <a:tc gridSpan="4">
                  <a:txBody>
                    <a:bodyPr/>
                    <a:lstStyle/>
                    <a:p>
                      <a:pPr algn="ctr">
                        <a:buNone/>
                      </a:pPr>
                      <a:r>
                        <a:rPr lang="zh-CN" altLang="en-US" sz="1040">
                          <a:latin typeface="Arial Narrow" charset="0"/>
                          <a:ea typeface="SimHei" charset="0"/>
                          <a:cs typeface="Arial Narrow" charset="0"/>
                          <a:sym typeface="Arial Narrow"/>
                        </a:rPr>
                        <a:t>A total of 32.2 kilometers of pipe jacking, 8.48 kilometers of open-cut excavation, and 165 working shafts have been completed.</a:t>
                      </a:r>
                    </a:p>
                  </a:txBody>
                  <a:tcPr anchor="ct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392170" cy="368300"/>
          </a:xfrm>
          <a:prstGeom prst="rect">
            <a:avLst/>
          </a:prstGeom>
          <a:noFill/>
        </p:spPr>
        <p:txBody>
          <a:bodyPr wrap="none" rtlCol="0">
            <a:noAutofit/>
          </a:bodyPr>
          <a:lstStyle/>
          <a:p>
            <a:r>
              <a:rPr lang="zh-CN" altLang="en-US" b="1" dirty="0">
                <a:latin typeface="Arial Narrow" charset="0"/>
                <a:ea typeface="SimHei" charset="0"/>
                <a:cs typeface="Arial Narrow" charset="0"/>
                <a:sym typeface="Arial Narrow"/>
              </a:rPr>
              <a:t>I. Project Overview - Main Scope of Works</a:t>
            </a:r>
          </a:p>
        </p:txBody>
      </p:sp>
      <p:sp>
        <p:nvSpPr>
          <p:cNvPr id="5" name="文本框 4"/>
          <p:cNvSpPr txBox="1"/>
          <p:nvPr/>
        </p:nvSpPr>
        <p:spPr>
          <a:xfrm>
            <a:off x="304800" y="1061720"/>
            <a:ext cx="5038090" cy="2984500"/>
          </a:xfrm>
          <a:prstGeom prst="rect">
            <a:avLst/>
          </a:prstGeom>
          <a:noFill/>
        </p:spPr>
        <p:txBody>
          <a:bodyPr wrap="square" rtlCol="0">
            <a:noAutofit/>
          </a:bodyPr>
          <a:lstStyle/>
          <a:p>
            <a:pPr>
              <a:lnSpc>
                <a:spcPct val="117000"/>
              </a:lnSpc>
            </a:pPr>
            <a:r>
              <a:rPr lang="zh-CN" altLang="en-US" sz="1600">
                <a:latin typeface="Arial" charset="0"/>
                <a:ea typeface="SimHei" charset="0"/>
                <a:cs typeface="Arial" charset="0"/>
                <a:sym typeface="Arial"/>
              </a:rPr>
              <a:t>Terminal Emission Station:</a:t>
            </a:r>
          </a:p>
          <a:p>
            <a:pPr marL="285750" indent="-285750">
              <a:lnSpc>
                <a:spcPct val="117000"/>
              </a:lnSpc>
              <a:buFont typeface="Arial" panose="020B0604020202090204" pitchFamily="34" charset="0"/>
              <a:buChar char="•"/>
            </a:pPr>
            <a:r>
              <a:rPr lang="en-US" altLang="zh-CN" sz="1600" dirty="0">
                <a:latin typeface="Arial" charset="0"/>
                <a:ea typeface="SimHei" charset="0"/>
                <a:cs typeface="Arial" charset="0"/>
                <a:sym typeface="Arial"/>
              </a:rPr>
              <a:t>848 cusec (24 cubic meters per second)</a:t>
            </a:r>
            <a:endParaRPr lang="zh-CN" altLang="en-US" sz="1600" dirty="0">
              <a:latin typeface="Arial" charset="0"/>
              <a:ea typeface="SimHei" charset="0"/>
              <a:cs typeface="Arial" charset="0"/>
              <a:sym typeface="Arial"/>
            </a:endParaRPr>
          </a:p>
          <a:p>
            <a:pPr marL="285750" indent="-285750">
              <a:lnSpc>
                <a:spcPct val="117000"/>
              </a:lnSpc>
              <a:buFont typeface="Arial" panose="020B0604020202090204" pitchFamily="34" charset="0"/>
              <a:buChar char="•"/>
            </a:pPr>
            <a:r>
              <a:rPr lang="zh-CN" altLang="en-US" sz="1600">
                <a:latin typeface="Arial Narrow" charset="0"/>
                <a:ea typeface="SimHei" charset="0"/>
                <a:cs typeface="Arial Narrow" charset="0"/>
                <a:sym typeface="Arial Narrow"/>
              </a:rPr>
              <a:t>The head regulating gates of the intake structures, filtration chambers, wet wells, dry wells, distribution wells, effluent pipelines, diversion channels, and discharge channels, as well as the associated ancillary works.</a:t>
            </a:r>
          </a:p>
          <a:p>
            <a:pPr marL="285750" indent="-285750">
              <a:lnSpc>
                <a:spcPct val="117000"/>
              </a:lnSpc>
              <a:buFont typeface="Arial" panose="020B0604020202090204" pitchFamily="34" charset="0"/>
              <a:buChar char="•"/>
            </a:pPr>
            <a:r>
              <a:rPr lang="en-US" altLang="zh-CN" sz="1600">
                <a:latin typeface="Arial" charset="0"/>
                <a:ea typeface="SimHei" charset="0"/>
                <a:cs typeface="Arial" charset="0"/>
                <a:sym typeface="Arial"/>
              </a:rPr>
              <a:t>SCADA system</a:t>
            </a:r>
            <a:endParaRPr lang="zh-CN" altLang="en-US" sz="1600">
              <a:latin typeface="Arial" charset="0"/>
              <a:ea typeface="SimHei" charset="0"/>
              <a:cs typeface="Arial" charset="0"/>
              <a:sym typeface="Arial"/>
            </a:endParaRPr>
          </a:p>
          <a:p>
            <a:pPr marL="285750" indent="-285750">
              <a:lnSpc>
                <a:spcPct val="117000"/>
              </a:lnSpc>
              <a:buFont typeface="Arial" panose="020B0604020202090204" pitchFamily="34" charset="0"/>
              <a:buChar char="•"/>
            </a:pPr>
            <a:r>
              <a:rPr lang="en-US" altLang="zh-CN" sz="1600">
                <a:latin typeface="Arial" charset="0"/>
                <a:ea typeface="SimHei" charset="0"/>
                <a:cs typeface="Arial" charset="0"/>
                <a:sym typeface="Arial"/>
              </a:rPr>
              <a:t>450kW photovoltaic system</a:t>
            </a:r>
            <a:endParaRPr lang="zh-CN" altLang="en-US" sz="1600">
              <a:latin typeface="Arial" charset="0"/>
              <a:ea typeface="SimHei" charset="0"/>
              <a:cs typeface="Arial" charset="0"/>
              <a:sym typeface="Arial"/>
            </a:endParaRPr>
          </a:p>
        </p:txBody>
      </p:sp>
      <p:pic>
        <p:nvPicPr>
          <p:cNvPr id="10" name="图片 9"/>
          <p:cNvPicPr>
            <a:picLocks noChangeAspect="1"/>
          </p:cNvPicPr>
          <p:nvPr/>
        </p:nvPicPr>
        <p:blipFill>
          <a:blip r:embed="rId2"/>
          <a:stretch>
            <a:fillRect/>
          </a:stretch>
        </p:blipFill>
        <p:spPr>
          <a:xfrm>
            <a:off x="5406390" y="1061720"/>
            <a:ext cx="3346450" cy="3111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rtlCol="0">
            <a:noAutofit/>
          </a:bodyPr>
          <a:lstStyle/>
          <a:p>
            <a:r>
              <a:rPr lang="zh-CN" altLang="en-US" b="1" dirty="0">
                <a:latin typeface="Arial Narrow" charset="0"/>
                <a:ea typeface="SimHei" charset="0"/>
                <a:cs typeface="Arial Narrow" charset="0"/>
                <a:sym typeface="Arial Narrow"/>
              </a:rPr>
              <a:t>I. Project Overview - Construction Technology</a:t>
            </a:r>
          </a:p>
        </p:txBody>
      </p:sp>
      <p:sp>
        <p:nvSpPr>
          <p:cNvPr id="3" name="文本框 2"/>
          <p:cNvSpPr txBox="1"/>
          <p:nvPr/>
        </p:nvSpPr>
        <p:spPr>
          <a:xfrm>
            <a:off x="255905" y="1120775"/>
            <a:ext cx="4267200" cy="4022725"/>
          </a:xfrm>
          <a:prstGeom prst="rect">
            <a:avLst/>
          </a:prstGeom>
          <a:noFill/>
        </p:spPr>
        <p:txBody>
          <a:bodyPr wrap="square" lIns="12700" tIns="12700" rIns="12700" bIns="12700" rtlCol="0">
            <a:noAutofit/>
          </a:bodyPr>
          <a:lstStyle/>
          <a:p>
            <a:r>
              <a:rPr lang="zh-CN" altLang="en-US" sz="1110">
                <a:latin typeface="Arial Narrow" panose="020B0606020202030204" pitchFamily="34" charset="0"/>
                <a:ea typeface="SimHei" charset="0"/>
                <a:cs typeface="Arial Narrow" charset="0"/>
                <a:sym typeface="Arial Narrow"/>
              </a:rPr>
              <a:t>Pakistan’s first municipal pipeline project to employ pipe-jacking construction:</a:t>
            </a:r>
          </a:p>
          <a:p>
            <a:endParaRPr lang="zh-CN" altLang="en-US" sz="1110">
              <a:latin typeface="Arial Narrow" panose="020B0606020202030204" pitchFamily="34" charset="0"/>
              <a:ea typeface="宋体" charset="0"/>
              <a:cs typeface="宋体" charset="0"/>
            </a:endParaRPr>
          </a:p>
          <a:p>
            <a:r>
              <a:rPr lang="zh-CN" altLang="en-US" sz="1110">
                <a:latin typeface="Arial Narrow" panose="020B0606020202030204" pitchFamily="34" charset="0"/>
                <a:ea typeface="SimHei" charset="0"/>
                <a:cs typeface="Arial Narrow" charset="0"/>
                <a:sym typeface="Arial Narrow"/>
              </a:rPr>
              <a:t>【Working Shaft Depth】There are 165 working shafts, with depths ranging from 8 to 20 meters.</a:t>
            </a:r>
          </a:p>
          <a:p>
            <a:endParaRPr lang="zh-CN" altLang="en-US" sz="1110">
              <a:latin typeface="Arial Narrow" panose="020B0606020202030204" pitchFamily="34" charset="0"/>
              <a:ea typeface="宋体" charset="0"/>
              <a:cs typeface="宋体" charset="0"/>
            </a:endParaRPr>
          </a:p>
          <a:p>
            <a:r>
              <a:rPr lang="zh-CN" altLang="en-US" sz="1110">
                <a:latin typeface="Arial Narrow" panose="020B0606020202030204" pitchFamily="34" charset="0"/>
                <a:ea typeface="SimHei" charset="0"/>
                <a:cs typeface="Arial Narrow" charset="0"/>
                <a:sym typeface="Arial Narrow"/>
              </a:rPr>
              <a:t>[Geological Conditions] The Indus River alluvial plain features a flat topography. The surface layer is predominantly silty clay and clay, ranging from soft plastic to hard plastic, with a thickness of 0–7m. The pipe-jacking working stratum is mainly composed of sandy soils, interbedded with some silt and a small amount of gravel, slightly wet to saturated, and ranging from medium dense to dense. No groundwater was observed along the red line and green line (25km); however, in certain sections along the pink line (7.2km), the groundwater depth ranges from 12 to 20 meters.</a:t>
            </a:r>
          </a:p>
          <a:p>
            <a:endParaRPr lang="zh-CN" altLang="en-US" sz="1110">
              <a:latin typeface="Arial Narrow" panose="020B0606020202030204" pitchFamily="34" charset="0"/>
              <a:ea typeface="宋体" charset="0"/>
              <a:cs typeface="宋体" charset="0"/>
            </a:endParaRPr>
          </a:p>
          <a:p>
            <a:r>
              <a:rPr lang="zh-CN" altLang="en-US" sz="1110">
                <a:latin typeface="Arial Narrow" panose="020B0606020202030204" pitchFamily="34" charset="0"/>
                <a:ea typeface="SimHei" charset="0"/>
                <a:cs typeface="Arial Narrow" charset="0"/>
                <a:sym typeface="Arial Narrow"/>
              </a:rPr>
              <a:t>[Existing Facilities] The existing underground facilities have been clearly identified on the drawings; construction may result in traffic disruptions.</a:t>
            </a:r>
          </a:p>
          <a:p>
            <a:endParaRPr lang="zh-CN" altLang="en-US" sz="1110">
              <a:latin typeface="Arial Narrow" panose="020B0606020202030204" pitchFamily="34" charset="0"/>
              <a:ea typeface="宋体" charset="0"/>
              <a:cs typeface="宋体" charset="0"/>
            </a:endParaRPr>
          </a:p>
        </p:txBody>
      </p:sp>
      <p:pic>
        <p:nvPicPr>
          <p:cNvPr id="4" name="图片 3"/>
          <p:cNvPicPr>
            <a:picLocks noChangeAspect="1"/>
          </p:cNvPicPr>
          <p:nvPr/>
        </p:nvPicPr>
        <p:blipFill>
          <a:blip r:embed="rId2"/>
          <a:stretch>
            <a:fillRect/>
          </a:stretch>
        </p:blipFill>
        <p:spPr>
          <a:xfrm>
            <a:off x="4911725" y="631825"/>
            <a:ext cx="1963420" cy="1866900"/>
          </a:xfrm>
          <a:prstGeom prst="rect">
            <a:avLst/>
          </a:prstGeom>
        </p:spPr>
      </p:pic>
      <p:pic>
        <p:nvPicPr>
          <p:cNvPr id="9" name="图片 8"/>
          <p:cNvPicPr>
            <a:picLocks noChangeAspect="1"/>
          </p:cNvPicPr>
          <p:nvPr/>
        </p:nvPicPr>
        <p:blipFill>
          <a:blip r:embed="rId3"/>
          <a:stretch>
            <a:fillRect/>
          </a:stretch>
        </p:blipFill>
        <p:spPr>
          <a:xfrm>
            <a:off x="4911725" y="2498725"/>
            <a:ext cx="4163695" cy="2032000"/>
          </a:xfrm>
          <a:prstGeom prst="rect">
            <a:avLst/>
          </a:prstGeom>
        </p:spPr>
      </p:pic>
      <p:pic>
        <p:nvPicPr>
          <p:cNvPr id="5" name="图片 4" descr="/Users/xuzhuoran/Library/Containers/com.kingsoft.wpsoffice.mac/Data/tmp/picturecompress_20260102194342/output_1.pngoutput_1"/>
          <p:cNvPicPr>
            <a:picLocks noChangeAspect="1"/>
          </p:cNvPicPr>
          <p:nvPr/>
        </p:nvPicPr>
        <p:blipFill>
          <a:blip r:embed="rId4"/>
          <a:stretch>
            <a:fillRect/>
          </a:stretch>
        </p:blipFill>
        <p:spPr>
          <a:xfrm>
            <a:off x="6875145" y="631825"/>
            <a:ext cx="2199640" cy="1866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2983230" y="1837690"/>
            <a:ext cx="5690870" cy="743585"/>
          </a:xfrm>
          <a:prstGeom prst="rect">
            <a:avLst/>
          </a:prstGeom>
        </p:spPr>
        <p:style>
          <a:lnRef idx="1">
            <a:schemeClr val="accent1"/>
          </a:lnRef>
          <a:fillRef idx="3">
            <a:schemeClr val="accent1"/>
          </a:fillRef>
          <a:effectRef idx="2">
            <a:schemeClr val="accent1"/>
          </a:effectRef>
          <a:fontRef idx="minor">
            <a:schemeClr val="lt1"/>
          </a:fontRef>
        </p:style>
        <p:txBody>
          <a:bodyPr lIns="12700" tIns="12700" rIns="12700" bIns="12700" anchor="ctr">
            <a:noAutofit/>
          </a:bodyPr>
          <a:lstStyle/>
          <a:p>
            <a:pPr marL="0" marR="0" lvl="0" indent="0" algn="ctr" defTabSz="1279525" rtl="0" eaLnBrk="1" fontAlgn="auto" latinLnBrk="0" hangingPunct="1">
              <a:lnSpc>
                <a:spcPct val="90000"/>
              </a:lnSpc>
              <a:spcBef>
                <a:spcPct val="0"/>
              </a:spcBef>
              <a:buClrTx/>
              <a:buSzTx/>
              <a:buFont typeface="Arial" panose="020B0604020202090204" pitchFamily="34" charset="0"/>
              <a:buNone/>
              <a:defRPr/>
            </a:pPr>
            <a:r>
              <a:rPr lang="zh-CN" sz="2260" b="1" dirty="0">
                <a:latin typeface="Arial Narrow" panose="020B0606020202030204" pitchFamily="34" charset="0"/>
                <a:sym typeface="Arial"/>
              </a:rPr>
              <a:t>Evaluation Criteria and Bid Organization</a:t>
            </a:r>
            <a:endParaRPr kumimoji="1" lang="zh-CN" altLang="en-US" sz="2260" b="1" i="0" u="none" strike="noStrike" kern="1200" cap="none" spc="0" normalizeH="0" baseline="0" noProof="0" dirty="0">
              <a:ln>
                <a:noFill/>
              </a:ln>
              <a:solidFill>
                <a:prstClr val="white"/>
              </a:solidFill>
              <a:effectLst/>
              <a:uLnTx/>
              <a:uFillTx/>
              <a:latin typeface="Arial Narrow" panose="020B0606020202030204" pitchFamily="34" charset="0"/>
              <a:ea typeface="SimHei" panose="020B0503020204020204" pitchFamily="34" charset="-122"/>
              <a:cs typeface="Arial"/>
              <a:sym typeface="Arial"/>
            </a:endParaRPr>
          </a:p>
        </p:txBody>
      </p:sp>
      <p:sp>
        <p:nvSpPr>
          <p:cNvPr id="2" name="燕尾形 1"/>
          <p:cNvSpPr/>
          <p:nvPr/>
        </p:nvSpPr>
        <p:spPr>
          <a:xfrm>
            <a:off x="518160" y="1837055"/>
            <a:ext cx="2105025" cy="744220"/>
          </a:xfrm>
          <a:prstGeom prst="chevron">
            <a:avLst/>
          </a:prstGeom>
          <a:solidFill>
            <a:srgbClr val="B40000"/>
          </a:solidFill>
          <a:ln w="25400">
            <a:solidFill>
              <a:schemeClr val="bg1"/>
            </a:solidFill>
          </a:ln>
          <a:effectLst>
            <a:outerShdw blurRad="50800" dist="101600" dir="2700000" algn="tl" rotWithShape="0">
              <a:prstClr val="black">
                <a:alpha val="40000"/>
              </a:prstClr>
            </a:outerShdw>
          </a:effectLst>
        </p:spPr>
        <p:txBody>
          <a:bodyPr lIns="12700" tIns="12700" rIns="12700" bIns="12700" anchor="b">
            <a:noAutofit/>
          </a:bodyPr>
          <a:lstStyle/>
          <a:p>
            <a:pPr marL="0" marR="0" lvl="0" indent="0" algn="l" defTabSz="914400" rtl="0" fontAlgn="auto">
              <a:lnSpc>
                <a:spcPct val="100000"/>
              </a:lnSpc>
              <a:buClrTx/>
              <a:buSzTx/>
              <a:buFont typeface="Arial" panose="020B0604020202090204" pitchFamily="34" charset="0"/>
              <a:buNone/>
              <a:defRPr/>
            </a:pPr>
            <a:r>
              <a:rPr kumimoji="0" lang="zh-CN" altLang="en-US" sz="4620" b="1" i="0" u="none" strike="noStrike" kern="1200" cap="none" spc="0" normalizeH="0" baseline="0" noProof="0" dirty="0">
                <a:ln>
                  <a:noFill/>
                </a:ln>
                <a:solidFill>
                  <a:srgbClr val="1F497D"/>
                </a:solidFill>
                <a:effectLst>
                  <a:outerShdw blurRad="38100" dist="38100" dir="2700000" algn="tl">
                    <a:srgbClr val="FFFFFF"/>
                  </a:outerShdw>
                </a:effectLst>
                <a:uLnTx/>
                <a:uFillTx/>
                <a:latin typeface="Arial" panose="020B0604020202090204" pitchFamily="34" charset="0"/>
                <a:ea typeface="SimHei" panose="02010609060101010101" pitchFamily="49" charset="-122"/>
                <a:cs typeface="Arial"/>
                <a:sym typeface="Arial"/>
              </a:rPr>
              <a:t>II</a:t>
            </a:r>
            <a:endParaRPr kumimoji="0" lang="zh-CN" altLang="en-US" sz="462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Arial" panose="020B0604020202090204" pitchFamily="34" charset="0"/>
              <a:ea typeface="SimHei" panose="02010609060101010101" pitchFamily="49" charset="-122"/>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lIns="12700" tIns="12700" rIns="12700" bIns="12700" rtlCol="0">
            <a:noAutofit/>
          </a:bodyPr>
          <a:lstStyle/>
          <a:p>
            <a:pPr algn="l"/>
            <a:r>
              <a:rPr lang="zh-CN" altLang="en-US" sz="1100" b="1" dirty="0">
                <a:latin typeface="Arial Narrow" charset="0"/>
                <a:ea typeface="SimHei" charset="0"/>
                <a:cs typeface="Arial Narrow" charset="0"/>
                <a:sym typeface="Arial Narrow"/>
              </a:rPr>
              <a:t>II. Bid Evaluation Rules and Bid Organization</a:t>
            </a:r>
            <a:endParaRPr kumimoji="1" lang="zh-CN" altLang="en-US" sz="1100" b="1" i="0" u="none" strike="noStrike" kern="1200" cap="none" spc="0" normalizeH="0" baseline="0" noProof="0" dirty="0">
              <a:ln>
                <a:noFill/>
              </a:ln>
              <a:solidFill>
                <a:prstClr val="white"/>
              </a:solidFill>
              <a:effectLst/>
              <a:uLnTx/>
              <a:uFillTx/>
              <a:latin typeface="Arial Narrow" panose="020B0503020204020204" pitchFamily="34" charset="-122"/>
              <a:ea typeface="SimHei" panose="020B0503020204020204" pitchFamily="34" charset="-122"/>
              <a:cs typeface="Arial Narrow"/>
              <a:sym typeface="Arial Narrow"/>
            </a:endParaRPr>
          </a:p>
          <a:p>
            <a:endParaRPr lang="zh-CN" altLang="en-US" sz="1100" b="1" dirty="0">
              <a:latin typeface="宋体" charset="0"/>
              <a:ea typeface="宋体" charset="0"/>
              <a:cs typeface="宋体" charset="0"/>
            </a:endParaRPr>
          </a:p>
        </p:txBody>
      </p:sp>
      <p:sp>
        <p:nvSpPr>
          <p:cNvPr id="6" name="文本框 5"/>
          <p:cNvSpPr txBox="1"/>
          <p:nvPr/>
        </p:nvSpPr>
        <p:spPr>
          <a:xfrm>
            <a:off x="368935" y="1071879"/>
            <a:ext cx="8382635" cy="4071620"/>
          </a:xfrm>
          <a:prstGeom prst="rect">
            <a:avLst/>
          </a:prstGeom>
          <a:noFill/>
        </p:spPr>
        <p:txBody>
          <a:bodyPr wrap="square" lIns="12700" tIns="12700" rIns="12700" bIns="12700" rtlCol="0" anchor="t">
            <a:noAutofit/>
          </a:bodyPr>
          <a:lstStyle/>
          <a:p>
            <a:pPr>
              <a:lnSpc>
                <a:spcPct val="153000"/>
              </a:lnSpc>
            </a:pPr>
            <a:r>
              <a:rPr lang="zh-CN" altLang="en-US" sz="1560">
                <a:latin typeface="Arial Narrow" panose="020B0606020202030204" pitchFamily="34" charset="0"/>
                <a:sym typeface="Arial"/>
              </a:rPr>
              <a:t>Evaluation Criteria:</a:t>
            </a:r>
          </a:p>
          <a:p>
            <a:pPr marL="285750" indent="-285750">
              <a:lnSpc>
                <a:spcPct val="153000"/>
              </a:lnSpc>
              <a:buFont typeface="Arial" panose="020B0604020202090204" pitchFamily="34" charset="0"/>
              <a:buChar char="•"/>
            </a:pPr>
            <a:r>
              <a:rPr lang="zh-CN" altLang="en-US" sz="1560">
                <a:latin typeface="Arial Narrow" panose="020B0606020202030204" pitchFamily="34" charset="0"/>
                <a:sym typeface="Arial Narrow"/>
              </a:rPr>
              <a:t>Under the two-envelope, single-stage procedure, only those bidders whose technical proposals have been approved shall proceed to the financial proposal stage; in principle, the bidder submitting the lowest evaluated financial proposal shall be awarded the contract.</a:t>
            </a:r>
            <a:endParaRPr lang="zh-CN" altLang="en-US" sz="1560">
              <a:latin typeface="Arial Narrow" panose="020B0606020202030204" pitchFamily="34" charset="0"/>
              <a:ea typeface="SimHei"/>
              <a:cs typeface="Arial Narrow"/>
              <a:sym typeface="Arial Narrow"/>
            </a:endParaRPr>
          </a:p>
          <a:p>
            <a:pPr marL="285750" indent="-285750">
              <a:lnSpc>
                <a:spcPct val="153000"/>
              </a:lnSpc>
              <a:buFont typeface="Arial" panose="020B0604020202090204" pitchFamily="34" charset="0"/>
              <a:buChar char="•"/>
            </a:pPr>
            <a:r>
              <a:rPr lang="zh-CN" altLang="en-US" sz="1560">
                <a:latin typeface="Arial Narrow" panose="020B0606020202030204" pitchFamily="34" charset="0"/>
                <a:sym typeface="Arial Narrow"/>
              </a:rPr>
              <a:t>Technical Proposal Passing Criteria: The maximum score is 100 points; a total of 65 points or higher is required to pass, with scoring conducted in accordance with the tender’s established evaluation criteria.</a:t>
            </a:r>
            <a:endParaRPr lang="zh-CN" altLang="en-US" sz="1560">
              <a:latin typeface="Arial Narrow" panose="020B0606020202030204" pitchFamily="34" charset="0"/>
              <a:ea typeface="SimHei"/>
              <a:cs typeface="Arial Narrow"/>
              <a:sym typeface="Arial Narrow"/>
            </a:endParaRPr>
          </a:p>
          <a:p>
            <a:pPr marL="285750" indent="-285750">
              <a:lnSpc>
                <a:spcPct val="153000"/>
              </a:lnSpc>
              <a:buFont typeface="Arial" panose="020B0604020202090204" pitchFamily="34" charset="0"/>
              <a:buChar char="•"/>
            </a:pPr>
            <a:r>
              <a:rPr lang="zh-CN" altLang="en-US" sz="1560">
                <a:latin typeface="Arial Narrow" panose="020B0606020202030204" pitchFamily="34" charset="0"/>
                <a:sym typeface="Arial Narrow"/>
              </a:rPr>
              <a:t>Technical Proposal Scoring Method: Performance [Quantity Weight] multiplied by [Quality Weight]</a:t>
            </a:r>
            <a:endParaRPr lang="zh-CN" altLang="en-US" sz="1560">
              <a:latin typeface="Arial Narrow" panose="020B0606020202030204" pitchFamily="34" charset="0"/>
              <a:ea typeface="SimHei"/>
              <a:cs typeface="Arial Narrow"/>
              <a:sym typeface="Arial Narrow"/>
            </a:endParaRPr>
          </a:p>
          <a:p>
            <a:pPr marL="285750" indent="-285750">
              <a:lnSpc>
                <a:spcPct val="153000"/>
              </a:lnSpc>
              <a:buFont typeface="Arial" panose="020B0604020202090204" pitchFamily="34" charset="0"/>
              <a:buChar char="•"/>
            </a:pPr>
            <a:r>
              <a:rPr lang="zh-CN" altLang="en-US" sz="1560">
                <a:latin typeface="Arial Narrow" panose="020B0606020202030204" pitchFamily="34" charset="0"/>
                <a:sym typeface="Arial Narrow"/>
              </a:rPr>
              <a:t>The financial bid shall not be less than 20% of the Engineer’s budgeted price.</a:t>
            </a:r>
            <a:endParaRPr lang="en-US" altLang="zh-CN" sz="1560">
              <a:latin typeface="Arial Narrow" panose="020B0606020202030204" pitchFamily="34" charset="0"/>
              <a:sym typeface="Arial Narro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lIns="12700" tIns="12700" rIns="12700" bIns="12700" rtlCol="0">
            <a:noAutofit/>
          </a:bodyPr>
          <a:lstStyle/>
          <a:p>
            <a:pPr algn="l"/>
            <a:r>
              <a:rPr lang="zh-CN" altLang="en-US" sz="1100" b="1" dirty="0">
                <a:latin typeface="Arial Narrow" charset="0"/>
                <a:ea typeface="SimHei" charset="0"/>
                <a:cs typeface="Arial Narrow" charset="0"/>
                <a:sym typeface="Arial Narrow"/>
              </a:rPr>
              <a:t>II. Bid Evaluation Rules and Bid Organization</a:t>
            </a:r>
            <a:endParaRPr kumimoji="1" lang="zh-CN" altLang="en-US" sz="1100" b="1" i="0" u="none" strike="noStrike" kern="1200" cap="none" spc="0" normalizeH="0" baseline="0" noProof="0" dirty="0">
              <a:ln>
                <a:noFill/>
              </a:ln>
              <a:solidFill>
                <a:prstClr val="white"/>
              </a:solidFill>
              <a:effectLst/>
              <a:uLnTx/>
              <a:uFillTx/>
              <a:latin typeface="Arial Narrow" panose="020B0503020204020204" pitchFamily="34" charset="-122"/>
              <a:ea typeface="SimHei" panose="020B0503020204020204" pitchFamily="34" charset="-122"/>
              <a:cs typeface="Arial Narrow"/>
              <a:sym typeface="Arial Narrow"/>
            </a:endParaRPr>
          </a:p>
          <a:p>
            <a:endParaRPr lang="zh-CN" altLang="en-US" sz="1100" b="1" dirty="0">
              <a:latin typeface="宋体" charset="0"/>
              <a:ea typeface="宋体" charset="0"/>
              <a:cs typeface="宋体" charset="0"/>
            </a:endParaRPr>
          </a:p>
        </p:txBody>
      </p:sp>
      <p:sp>
        <p:nvSpPr>
          <p:cNvPr id="6" name="文本框 5"/>
          <p:cNvSpPr txBox="1"/>
          <p:nvPr/>
        </p:nvSpPr>
        <p:spPr>
          <a:xfrm>
            <a:off x="368935" y="908050"/>
            <a:ext cx="8382635" cy="4235450"/>
          </a:xfrm>
          <a:prstGeom prst="rect">
            <a:avLst/>
          </a:prstGeom>
          <a:noFill/>
        </p:spPr>
        <p:txBody>
          <a:bodyPr wrap="square" lIns="12700" tIns="12700" rIns="12700" bIns="12700" rtlCol="0" anchor="t">
            <a:noAutofit/>
          </a:bodyPr>
          <a:lstStyle/>
          <a:p>
            <a:pPr indent="0">
              <a:lnSpc>
                <a:spcPct val="153000"/>
              </a:lnSpc>
              <a:buFont typeface="Arial" panose="020B0604020202090204" pitchFamily="34" charset="0"/>
              <a:buNone/>
            </a:pPr>
            <a:r>
              <a:rPr lang="zh-CN" altLang="en-US" sz="1570">
                <a:latin typeface="Arial Narrow" panose="020B0606020202030204" pitchFamily="34" charset="0"/>
                <a:sym typeface="Arial"/>
              </a:rPr>
              <a:t>Bidding Organization:</a:t>
            </a:r>
          </a:p>
          <a:p>
            <a:pPr indent="0">
              <a:lnSpc>
                <a:spcPct val="153000"/>
              </a:lnSpc>
              <a:buFont typeface="Arial" panose="020B0604020202090204" pitchFamily="34" charset="0"/>
              <a:buNone/>
            </a:pPr>
            <a:r>
              <a:rPr lang="zh-CN" altLang="en-US" sz="1570">
                <a:latin typeface="Arial Narrow" panose="020B0606020202030204" pitchFamily="34" charset="0"/>
                <a:sym typeface="Arial Narrow"/>
              </a:rPr>
              <a:t>[Lead Partner of the Consortium] Bids in the name of the consortium; China State Construction Engineering Corporation serves as the lead partner, holding a 51% stake, and is responsible for organizing the bidding process, coordinating with embassies, consulates, and the employer, preparing the quotation, assembling and submitting the bid documents, and other related tasks.</a:t>
            </a:r>
          </a:p>
          <a:p>
            <a:pPr indent="0">
              <a:lnSpc>
                <a:spcPct val="153000"/>
              </a:lnSpc>
              <a:buFont typeface="Arial" panose="020B0604020202090204" pitchFamily="34" charset="0"/>
              <a:buNone/>
            </a:pPr>
            <a:r>
              <a:rPr lang="zh-CN" altLang="en-US" sz="1570">
                <a:latin typeface="Arial Narrow" panose="020B0606020202030204" pitchFamily="34" charset="0"/>
                <a:sym typeface="Arial Narrow"/>
              </a:rPr>
              <a:t>[Consortium Partner] China Railway Long Engineering Group Co., Ltd., holding a 49% stake</a:t>
            </a:r>
          </a:p>
          <a:p>
            <a:pPr indent="0">
              <a:lnSpc>
                <a:spcPct val="153000"/>
              </a:lnSpc>
              <a:buFont typeface="Arial" panose="020B0604020202090204" pitchFamily="34" charset="0"/>
              <a:buNone/>
            </a:pPr>
            <a:r>
              <a:rPr lang="zh-CN" altLang="en-US" sz="1570">
                <a:latin typeface="Arial Narrow" panose="020B0606020202030204" pitchFamily="34" charset="0"/>
                <a:sym typeface="Arial Narrow"/>
              </a:rPr>
              <a:t>[Design Specialty Subcontract] Shenzhen Municipal Design Institute Co., Ltd.</a:t>
            </a:r>
          </a:p>
          <a:p>
            <a:pPr indent="0">
              <a:lnSpc>
                <a:spcPct val="153000"/>
              </a:lnSpc>
              <a:buFont typeface="Arial" panose="020B0604020202090204" pitchFamily="34" charset="0"/>
              <a:buNone/>
            </a:pPr>
            <a:r>
              <a:rPr lang="zh-CN" altLang="en-US" sz="1570">
                <a:latin typeface="Arial Narrow" panose="020B0606020202030204" pitchFamily="34" charset="0"/>
                <a:sym typeface="Arial Narrow"/>
              </a:rPr>
              <a:t>Shanghai Municipal Engineering Design &amp; Research Institute (Group) Co., Ltd.</a:t>
            </a:r>
          </a:p>
          <a:p>
            <a:pPr indent="0">
              <a:lnSpc>
                <a:spcPct val="153000"/>
              </a:lnSpc>
              <a:buFont typeface="Arial" panose="020B0604020202090204" pitchFamily="34" charset="0"/>
              <a:buNone/>
            </a:pPr>
            <a:r>
              <a:rPr lang="zh-CN" altLang="en-US" sz="1570">
                <a:latin typeface="Arial Narrow" panose="020B0606020202030204" pitchFamily="34" charset="0"/>
                <a:sym typeface="Arial Narrow"/>
              </a:rPr>
              <a:t>[Equipment Supplier] China Railway Construction Heavy Industry Co., Ltd. (tentative; subject to price comparison)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lIns="12700" tIns="12700" rIns="12700" bIns="12700" rtlCol="0">
            <a:noAutofit/>
          </a:bodyPr>
          <a:lstStyle/>
          <a:p>
            <a:pPr algn="l"/>
            <a:r>
              <a:rPr lang="zh-CN" altLang="en-US" sz="1100" b="1" dirty="0">
                <a:latin typeface="Arial Narrow" charset="0"/>
                <a:ea typeface="SimHei" charset="0"/>
                <a:cs typeface="Arial Narrow" charset="0"/>
                <a:sym typeface="Arial Narrow"/>
              </a:rPr>
              <a:t>II. Bid Evaluation Rules and Bid Organization</a:t>
            </a:r>
            <a:endParaRPr kumimoji="1" lang="zh-CN" altLang="en-US" sz="1100" b="1" i="0" u="none" strike="noStrike" kern="1200" cap="none" spc="0" normalizeH="0" baseline="0" noProof="0" dirty="0">
              <a:ln>
                <a:noFill/>
              </a:ln>
              <a:solidFill>
                <a:prstClr val="white"/>
              </a:solidFill>
              <a:effectLst/>
              <a:uLnTx/>
              <a:uFillTx/>
              <a:latin typeface="Arial Narrow" panose="020B0503020204020204" pitchFamily="34" charset="-122"/>
              <a:ea typeface="SimHei" panose="020B0503020204020204" pitchFamily="34" charset="-122"/>
              <a:cs typeface="Arial Narrow"/>
              <a:sym typeface="Arial Narrow"/>
            </a:endParaRPr>
          </a:p>
          <a:p>
            <a:endParaRPr lang="zh-CN" altLang="en-US" sz="1100" b="1" dirty="0">
              <a:latin typeface="宋体" charset="0"/>
              <a:ea typeface="宋体" charset="0"/>
              <a:cs typeface="宋体" charset="0"/>
            </a:endParaRPr>
          </a:p>
        </p:txBody>
      </p:sp>
      <p:pic>
        <p:nvPicPr>
          <p:cNvPr id="3" name="图片 2"/>
          <p:cNvPicPr>
            <a:picLocks noChangeAspect="1"/>
          </p:cNvPicPr>
          <p:nvPr/>
        </p:nvPicPr>
        <p:blipFill>
          <a:blip r:embed="rId2"/>
          <a:stretch>
            <a:fillRect/>
          </a:stretch>
        </p:blipFill>
        <p:spPr>
          <a:xfrm>
            <a:off x="127000" y="960120"/>
            <a:ext cx="795655" cy="795655"/>
          </a:xfrm>
          <a:prstGeom prst="rect">
            <a:avLst/>
          </a:prstGeom>
        </p:spPr>
      </p:pic>
      <p:sp>
        <p:nvSpPr>
          <p:cNvPr id="4" name="文本框 3"/>
          <p:cNvSpPr txBox="1"/>
          <p:nvPr/>
        </p:nvSpPr>
        <p:spPr>
          <a:xfrm>
            <a:off x="922655" y="1156335"/>
            <a:ext cx="1844675" cy="386080"/>
          </a:xfrm>
          <a:prstGeom prst="rect">
            <a:avLst/>
          </a:prstGeom>
          <a:noFill/>
        </p:spPr>
        <p:txBody>
          <a:bodyPr wrap="square" lIns="12700" tIns="12700" rIns="12700" bIns="12700" rtlCol="0" anchor="t">
            <a:noAutofit/>
          </a:bodyPr>
          <a:lstStyle/>
          <a:p>
            <a:pPr indent="0" algn="l">
              <a:lnSpc>
                <a:spcPct val="108000"/>
              </a:lnSpc>
              <a:buFont typeface="Arial" panose="020B0604020202090204" pitchFamily="34" charset="0"/>
              <a:buNone/>
            </a:pPr>
            <a:r>
              <a:rPr lang="zh-CN" altLang="en-US" sz="1110">
                <a:latin typeface="Arial" charset="0"/>
                <a:ea typeface="SimHei" charset="0"/>
                <a:cs typeface="Arial" charset="0"/>
                <a:sym typeface="Arial"/>
              </a:rPr>
              <a:t>China Railway Long Engineering Group</a:t>
            </a:r>
            <a:endParaRPr lang="en-US" altLang="zh-CN" sz="1110">
              <a:latin typeface="Arial" charset="0"/>
              <a:ea typeface="SimHei" charset="0"/>
              <a:cs typeface="Arial" charset="0"/>
              <a:sym typeface="Arial"/>
            </a:endParaRPr>
          </a:p>
        </p:txBody>
      </p:sp>
      <p:sp>
        <p:nvSpPr>
          <p:cNvPr id="5" name="文本框 4"/>
          <p:cNvSpPr txBox="1"/>
          <p:nvPr/>
        </p:nvSpPr>
        <p:spPr>
          <a:xfrm>
            <a:off x="135890" y="1710055"/>
            <a:ext cx="2968625" cy="3433445"/>
          </a:xfrm>
          <a:prstGeom prst="rect">
            <a:avLst/>
          </a:prstGeom>
          <a:noFill/>
        </p:spPr>
        <p:txBody>
          <a:bodyPr wrap="square" lIns="12700" tIns="12700" rIns="12700" bIns="12700" rtlCol="0">
            <a:noAutofit/>
          </a:bodyPr>
          <a:lstStyle/>
          <a:p>
            <a:pPr algn="just"/>
            <a:r>
              <a:rPr lang="zh-CN" altLang="en-US" sz="890">
                <a:latin typeface="Arial Narrow" panose="020B0606020202030204" pitchFamily="34" charset="0"/>
                <a:ea typeface="SimHei"/>
                <a:cs typeface="Arial Narrow"/>
                <a:sym typeface="Arial Narrow"/>
              </a:rPr>
              <a:t>Founded in 1998, this engineering general contractor specializes in rail transit, water environment management, and urban renewal. It holds Grade-I municipal general contracting qualifications and is a subsidiary of Shandong High-Speed Group.</a:t>
            </a:r>
          </a:p>
          <a:p>
            <a:pPr algn="just"/>
            <a:endParaRPr lang="zh-CN" altLang="en-US" sz="890">
              <a:latin typeface="Arial Narrow" panose="020B0606020202030204" pitchFamily="34" charset="0"/>
            </a:endParaRPr>
          </a:p>
          <a:p>
            <a:pPr algn="just"/>
            <a:r>
              <a:rPr lang="zh-CN" altLang="en-US" sz="890" b="1">
                <a:latin typeface="Arial Narrow" panose="020B0606020202030204" pitchFamily="34" charset="0"/>
                <a:ea typeface="SimHei"/>
                <a:cs typeface="Arial Narrow"/>
                <a:sym typeface="Arial Narrow"/>
              </a:rPr>
              <a:t>Form a joint venture with China Railway Construction Corporation, with China Railway Construction Corporation holding 51% and China Railway Longyuan Engineering Group Co., Ltd. holding 49%, and issue an equal-amount performance bond.</a:t>
            </a:r>
          </a:p>
          <a:p>
            <a:pPr algn="just"/>
            <a:endParaRPr lang="zh-CN" altLang="en-US" sz="890">
              <a:latin typeface="Arial Narrow" panose="020B0606020202030204" pitchFamily="34" charset="0"/>
            </a:endParaRPr>
          </a:p>
          <a:p>
            <a:pPr algn="just"/>
            <a:r>
              <a:rPr lang="zh-CN" altLang="en-US" sz="890">
                <a:latin typeface="Arial Narrow" panose="020B0606020202030204" pitchFamily="34" charset="0"/>
                <a:ea typeface="SimHei"/>
                <a:cs typeface="Arial Narrow"/>
                <a:sym typeface="Arial Narrow"/>
              </a:rPr>
              <a:t>Primarily responsible for providing construction performance records, preparing technical proposals, and supplying quotation references.</a:t>
            </a:r>
          </a:p>
        </p:txBody>
      </p:sp>
      <p:cxnSp>
        <p:nvCxnSpPr>
          <p:cNvPr id="11" name="直接连接符 10"/>
          <p:cNvCxnSpPr/>
          <p:nvPr/>
        </p:nvCxnSpPr>
        <p:spPr>
          <a:xfrm>
            <a:off x="3256280" y="1062355"/>
            <a:ext cx="0" cy="3333750"/>
          </a:xfrm>
          <a:prstGeom prst="line">
            <a:avLst/>
          </a:prstGeom>
        </p:spPr>
        <p:style>
          <a:lnRef idx="2">
            <a:schemeClr val="accent1"/>
          </a:lnRef>
          <a:fillRef idx="0">
            <a:srgbClr val="FFFFFF"/>
          </a:fillRef>
          <a:effectRef idx="0">
            <a:srgbClr val="FFFFFF"/>
          </a:effectRef>
          <a:fontRef idx="minor">
            <a:schemeClr val="tx1"/>
          </a:fontRef>
        </p:style>
      </p:cxnSp>
      <p:pic>
        <p:nvPicPr>
          <p:cNvPr id="8" name="图片 7" descr="截屏2026-01-02 20.49.42"/>
          <p:cNvPicPr>
            <a:picLocks noChangeAspect="1"/>
          </p:cNvPicPr>
          <p:nvPr/>
        </p:nvPicPr>
        <p:blipFill>
          <a:blip r:embed="rId3"/>
          <a:stretch>
            <a:fillRect/>
          </a:stretch>
        </p:blipFill>
        <p:spPr>
          <a:xfrm>
            <a:off x="6374765" y="986155"/>
            <a:ext cx="520700" cy="647700"/>
          </a:xfrm>
          <a:prstGeom prst="rect">
            <a:avLst/>
          </a:prstGeom>
        </p:spPr>
      </p:pic>
      <p:sp>
        <p:nvSpPr>
          <p:cNvPr id="9" name="文本框 8"/>
          <p:cNvSpPr txBox="1"/>
          <p:nvPr/>
        </p:nvSpPr>
        <p:spPr>
          <a:xfrm>
            <a:off x="6895465" y="1112520"/>
            <a:ext cx="1564640" cy="386080"/>
          </a:xfrm>
          <a:prstGeom prst="rect">
            <a:avLst/>
          </a:prstGeom>
          <a:noFill/>
        </p:spPr>
        <p:txBody>
          <a:bodyPr wrap="square" lIns="12700" tIns="12700" rIns="12700" bIns="12700" rtlCol="0" anchor="t">
            <a:normAutofit/>
          </a:bodyPr>
          <a:lstStyle/>
          <a:p>
            <a:pPr indent="0" algn="ctr">
              <a:lnSpc>
                <a:spcPct val="108000"/>
              </a:lnSpc>
              <a:buFont typeface="Arial" panose="020B0604020202090204" pitchFamily="34" charset="0"/>
              <a:buNone/>
            </a:pPr>
            <a:r>
              <a:rPr lang="zh-CN" altLang="en-US" sz="800">
                <a:latin typeface="Arial Narrow" panose="020B0606020202030204" pitchFamily="34" charset="0"/>
                <a:ea typeface="SimHei" charset="0"/>
                <a:cs typeface="Arial" charset="0"/>
                <a:sym typeface="Arial"/>
              </a:rPr>
              <a:t>Shanghai Municipal Institute</a:t>
            </a:r>
          </a:p>
        </p:txBody>
      </p:sp>
      <p:sp>
        <p:nvSpPr>
          <p:cNvPr id="10" name="文本框 9"/>
          <p:cNvSpPr txBox="1"/>
          <p:nvPr/>
        </p:nvSpPr>
        <p:spPr>
          <a:xfrm>
            <a:off x="3408045" y="1677670"/>
            <a:ext cx="2632710" cy="3465830"/>
          </a:xfrm>
          <a:prstGeom prst="rect">
            <a:avLst/>
          </a:prstGeom>
          <a:noFill/>
        </p:spPr>
        <p:txBody>
          <a:bodyPr wrap="square" lIns="12700" tIns="12700" rIns="12700" bIns="12700" rtlCol="0">
            <a:noAutofit/>
          </a:bodyPr>
          <a:lstStyle/>
          <a:p>
            <a:pPr algn="just"/>
            <a:r>
              <a:rPr lang="zh-CN" altLang="en-US" sz="860">
                <a:latin typeface="Arial Narrow" panose="020B0606020202030204" pitchFamily="34" charset="0"/>
                <a:ea typeface="SimHei"/>
                <a:cs typeface="Arial Narrow"/>
                <a:sym typeface="Arial Narrow"/>
              </a:rPr>
              <a:t>Founded in 1984, the company specializes in design, survey, and consulting services for transportation infrastructure, municipal projects, landscaping, and underground spaces. It holds a Class-A comprehensive qualification for engineering surveys and is a subsidiary of Shenzhen Metro Group.</a:t>
            </a:r>
          </a:p>
          <a:p>
            <a:pPr algn="just"/>
            <a:endParaRPr lang="zh-CN" altLang="en-US" sz="860">
              <a:latin typeface="Arial Narrow" panose="020B0606020202030204" pitchFamily="34" charset="0"/>
            </a:endParaRPr>
          </a:p>
          <a:p>
            <a:pPr algn="just"/>
            <a:r>
              <a:rPr lang="zh-CN" altLang="en-US" sz="860">
                <a:latin typeface="Arial Narrow" panose="020B0606020202030204" pitchFamily="34" charset="0"/>
                <a:ea typeface="SimHei"/>
                <a:cs typeface="Arial Narrow"/>
                <a:sym typeface="Arial Narrow"/>
              </a:rPr>
              <a:t>As a design specialist subcontractor of the joint venture</a:t>
            </a:r>
          </a:p>
          <a:p>
            <a:pPr algn="just"/>
            <a:endParaRPr lang="zh-CN" altLang="en-US" sz="860">
              <a:latin typeface="Arial Narrow" panose="020B0606020202030204" pitchFamily="34" charset="0"/>
            </a:endParaRPr>
          </a:p>
          <a:p>
            <a:pPr algn="just"/>
            <a:endParaRPr lang="zh-CN" altLang="en-US" sz="860">
              <a:latin typeface="Arial Narrow" panose="020B0606020202030204" pitchFamily="34" charset="0"/>
            </a:endParaRPr>
          </a:p>
          <a:p>
            <a:pPr algn="just"/>
            <a:r>
              <a:rPr lang="zh-CN" altLang="en-US" sz="860">
                <a:latin typeface="Arial Narrow" panose="020B0606020202030204" pitchFamily="34" charset="0"/>
                <a:ea typeface="SimHei"/>
                <a:cs typeface="Arial Narrow"/>
                <a:sym typeface="Arial Narrow"/>
              </a:rPr>
              <a:t>Primarily responsible for preparing the pipe-jacking design scheme and assisting in the preparation of the technical proposal.</a:t>
            </a:r>
          </a:p>
        </p:txBody>
      </p:sp>
      <p:pic>
        <p:nvPicPr>
          <p:cNvPr id="12" name="图片 11" descr="截屏2026-01-02 20.49.51"/>
          <p:cNvPicPr>
            <a:picLocks noChangeAspect="1"/>
          </p:cNvPicPr>
          <p:nvPr/>
        </p:nvPicPr>
        <p:blipFill>
          <a:blip r:embed="rId4"/>
          <a:stretch>
            <a:fillRect/>
          </a:stretch>
        </p:blipFill>
        <p:spPr>
          <a:xfrm>
            <a:off x="3547745" y="1062355"/>
            <a:ext cx="584200" cy="571500"/>
          </a:xfrm>
          <a:prstGeom prst="rect">
            <a:avLst/>
          </a:prstGeom>
        </p:spPr>
      </p:pic>
      <p:sp>
        <p:nvSpPr>
          <p:cNvPr id="13" name="文本框 12"/>
          <p:cNvSpPr txBox="1"/>
          <p:nvPr/>
        </p:nvSpPr>
        <p:spPr>
          <a:xfrm>
            <a:off x="4078605" y="1156335"/>
            <a:ext cx="1306830" cy="386080"/>
          </a:xfrm>
          <a:prstGeom prst="rect">
            <a:avLst/>
          </a:prstGeom>
          <a:noFill/>
        </p:spPr>
        <p:txBody>
          <a:bodyPr wrap="square" lIns="12700" tIns="12700" rIns="12700" bIns="12700" rtlCol="0" anchor="t">
            <a:normAutofit/>
          </a:bodyPr>
          <a:lstStyle/>
          <a:p>
            <a:pPr indent="0" algn="ctr">
              <a:lnSpc>
                <a:spcPct val="108000"/>
              </a:lnSpc>
              <a:buFont typeface="Arial" panose="020B0604020202090204" pitchFamily="34" charset="0"/>
              <a:buNone/>
            </a:pPr>
            <a:r>
              <a:rPr lang="zh-CN" altLang="en-US" sz="800">
                <a:latin typeface="Arial Narrow" panose="020B0606020202030204" pitchFamily="34" charset="0"/>
                <a:ea typeface="SimHei" charset="0"/>
                <a:cs typeface="Arial" charset="0"/>
                <a:sym typeface="Arial"/>
              </a:rPr>
              <a:t>Shenzhen Municipal Institute</a:t>
            </a:r>
          </a:p>
        </p:txBody>
      </p:sp>
      <p:cxnSp>
        <p:nvCxnSpPr>
          <p:cNvPr id="14" name="直接连接符 13"/>
          <p:cNvCxnSpPr/>
          <p:nvPr/>
        </p:nvCxnSpPr>
        <p:spPr>
          <a:xfrm>
            <a:off x="6207760" y="1062355"/>
            <a:ext cx="0" cy="3333750"/>
          </a:xfrm>
          <a:prstGeom prst="line">
            <a:avLst/>
          </a:prstGeom>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6344285" y="1677670"/>
            <a:ext cx="2632710" cy="3465830"/>
          </a:xfrm>
          <a:prstGeom prst="rect">
            <a:avLst/>
          </a:prstGeom>
          <a:noFill/>
        </p:spPr>
        <p:txBody>
          <a:bodyPr wrap="square" lIns="12700" tIns="12700" rIns="12700" bIns="12700" rtlCol="0">
            <a:noAutofit/>
          </a:bodyPr>
          <a:lstStyle/>
          <a:p>
            <a:pPr algn="just"/>
            <a:r>
              <a:rPr lang="zh-CN" altLang="en-US" sz="920">
                <a:latin typeface="Arial Narrow" panose="020B0606020202030204" pitchFamily="34" charset="0"/>
                <a:ea typeface="SimHei"/>
                <a:cs typeface="Arial Narrow"/>
                <a:sym typeface="Arial Narrow"/>
              </a:rPr>
              <a:t>Founded in 1954, the company’s core businesses are engineering design consulting, engineering general contracting, and project management, and it holds a Class-A comprehensive qualification for engineering surveying.</a:t>
            </a:r>
            <a:endParaRPr lang="zh-CN" altLang="en-US" sz="920" b="1" u="sng">
              <a:latin typeface="Arial Narrow" panose="020B0606020202030204" pitchFamily="34" charset="0"/>
              <a:ea typeface="SimHei"/>
              <a:cs typeface="Arial Narrow"/>
              <a:sym typeface="Arial Narrow"/>
            </a:endParaRPr>
          </a:p>
          <a:p>
            <a:pPr algn="just"/>
            <a:endParaRPr lang="zh-CN" altLang="en-US" sz="920" b="1" u="sng">
              <a:latin typeface="Arial Narrow" panose="020B0606020202030204" pitchFamily="34" charset="0"/>
            </a:endParaRPr>
          </a:p>
          <a:p>
            <a:pPr algn="just"/>
            <a:endParaRPr lang="zh-CN" altLang="en-US" sz="920">
              <a:latin typeface="Arial Narrow" panose="020B0606020202030204" pitchFamily="34" charset="0"/>
            </a:endParaRPr>
          </a:p>
          <a:p>
            <a:pPr algn="just"/>
            <a:r>
              <a:rPr lang="zh-CN" altLang="en-US" sz="920">
                <a:latin typeface="Arial Narrow" panose="020B0606020202030204" pitchFamily="34" charset="0"/>
                <a:ea typeface="SimHei"/>
                <a:cs typeface="Arial Narrow"/>
                <a:sym typeface="Arial Narrow"/>
              </a:rPr>
              <a:t>As a design specialist subcontractor of the joint venture</a:t>
            </a:r>
          </a:p>
          <a:p>
            <a:pPr algn="just"/>
            <a:endParaRPr lang="zh-CN" altLang="en-US" sz="920">
              <a:latin typeface="Arial Narrow" panose="020B0606020202030204" pitchFamily="34" charset="0"/>
            </a:endParaRPr>
          </a:p>
          <a:p>
            <a:pPr algn="just"/>
            <a:endParaRPr lang="zh-CN" altLang="en-US" sz="920">
              <a:latin typeface="Arial Narrow" panose="020B0606020202030204" pitchFamily="34" charset="0"/>
            </a:endParaRPr>
          </a:p>
          <a:p>
            <a:pPr algn="just"/>
            <a:r>
              <a:rPr lang="zh-CN" altLang="en-US" sz="920">
                <a:latin typeface="Arial Narrow" panose="020B0606020202030204" pitchFamily="34" charset="0"/>
                <a:ea typeface="SimHei"/>
                <a:cs typeface="Arial Narrow"/>
                <a:sym typeface="Arial Narrow"/>
              </a:rPr>
              <a:t>Primarily responsible for preparing the design scheme for the terminal emission station and assisting in the preparation of the technical proposal.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lIns="12700" tIns="12700" rIns="12700" bIns="12700" rtlCol="0">
            <a:noAutofit/>
          </a:bodyPr>
          <a:lstStyle/>
          <a:p>
            <a:pPr algn="l"/>
            <a:r>
              <a:rPr lang="zh-CN" altLang="en-US" sz="1100" b="1" dirty="0">
                <a:latin typeface="Arial Narrow" charset="0"/>
                <a:ea typeface="SimHei" charset="0"/>
                <a:cs typeface="Arial Narrow" charset="0"/>
                <a:sym typeface="Arial Narrow"/>
              </a:rPr>
              <a:t>II. Evaluation Criteria and Bid Organization</a:t>
            </a:r>
            <a:endParaRPr kumimoji="1" lang="zh-CN" altLang="en-US" sz="1100" b="1" i="0" u="none" strike="noStrike" kern="1200" cap="none" spc="0" normalizeH="0" baseline="0" noProof="0" dirty="0">
              <a:ln>
                <a:noFill/>
              </a:ln>
              <a:solidFill>
                <a:prstClr val="white"/>
              </a:solidFill>
              <a:effectLst/>
              <a:uLnTx/>
              <a:uFillTx/>
              <a:latin typeface="Arial Narrow" panose="020B0503020204020204" pitchFamily="34" charset="-122"/>
              <a:ea typeface="SimHei" panose="020B0503020204020204" pitchFamily="34" charset="-122"/>
              <a:cs typeface="Arial Narrow"/>
              <a:sym typeface="Arial Narrow"/>
            </a:endParaRPr>
          </a:p>
          <a:p>
            <a:endParaRPr lang="zh-CN" altLang="en-US" sz="1100" b="1" dirty="0">
              <a:latin typeface="宋体" charset="0"/>
              <a:ea typeface="宋体" charset="0"/>
              <a:cs typeface="宋体" charset="0"/>
            </a:endParaRPr>
          </a:p>
        </p:txBody>
      </p:sp>
      <p:graphicFrame>
        <p:nvGraphicFramePr>
          <p:cNvPr id="4" name="表格 3"/>
          <p:cNvGraphicFramePr/>
          <p:nvPr>
            <p:extLst>
              <p:ext uri="{D42A27DB-BD31-4B8C-83A1-F6EECF244321}">
                <p14:modId xmlns:p14="http://schemas.microsoft.com/office/powerpoint/2010/main" val="1674886537"/>
              </p:ext>
            </p:extLst>
          </p:nvPr>
        </p:nvGraphicFramePr>
        <p:xfrm>
          <a:off x="205740" y="908050"/>
          <a:ext cx="8681720" cy="3613150"/>
        </p:xfrm>
        <a:graphic>
          <a:graphicData uri="http://schemas.openxmlformats.org/drawingml/2006/table">
            <a:tbl>
              <a:tblPr firstRow="1" bandRow="1">
                <a:tableStyleId>{69012ECD-51FC-41F1-AA8D-1B2483CD663E}</a:tableStyleId>
              </a:tblPr>
              <a:tblGrid>
                <a:gridCol w="1768475">
                  <a:extLst>
                    <a:ext uri="{9D8B030D-6E8A-4147-A177-3AD203B41FA5}">
                      <a16:colId xmlns:a16="http://schemas.microsoft.com/office/drawing/2014/main" val="20000"/>
                    </a:ext>
                  </a:extLst>
                </a:gridCol>
                <a:gridCol w="1925955">
                  <a:extLst>
                    <a:ext uri="{9D8B030D-6E8A-4147-A177-3AD203B41FA5}">
                      <a16:colId xmlns:a16="http://schemas.microsoft.com/office/drawing/2014/main" val="20001"/>
                    </a:ext>
                  </a:extLst>
                </a:gridCol>
                <a:gridCol w="1661160">
                  <a:extLst>
                    <a:ext uri="{9D8B030D-6E8A-4147-A177-3AD203B41FA5}">
                      <a16:colId xmlns:a16="http://schemas.microsoft.com/office/drawing/2014/main" val="20002"/>
                    </a:ext>
                  </a:extLst>
                </a:gridCol>
                <a:gridCol w="3326130">
                  <a:extLst>
                    <a:ext uri="{9D8B030D-6E8A-4147-A177-3AD203B41FA5}">
                      <a16:colId xmlns:a16="http://schemas.microsoft.com/office/drawing/2014/main" val="20003"/>
                    </a:ext>
                  </a:extLst>
                </a:gridCol>
              </a:tblGrid>
              <a:tr h="385346">
                <a:tc>
                  <a:txBody>
                    <a:bodyPr/>
                    <a:lstStyle/>
                    <a:p>
                      <a:pPr algn="ctr">
                        <a:buNone/>
                      </a:pPr>
                      <a:r>
                        <a:rPr lang="zh-CN" altLang="en-US" sz="990">
                          <a:latin typeface="Arial"/>
                          <a:ea typeface="SimHei"/>
                          <a:cs typeface="Arial"/>
                          <a:sym typeface="Arial"/>
                        </a:rPr>
                        <a:t>Performance Category</a:t>
                      </a:r>
                    </a:p>
                  </a:txBody>
                  <a:tcPr anchor="ctr">
                    <a:lnL w="9525" cap="flat" cmpd="sng" algn="ctr">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Performance Requirements</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Providing Entity</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Performance Project</a:t>
                      </a:r>
                    </a:p>
                  </a:txBody>
                  <a:tcPr anchor="ctr">
                    <a:lnL w="9525">
                      <a:solidFill>
                        <a:schemeClr val="tx1"/>
                      </a:solidFill>
                      <a:prstDash val="solid"/>
                    </a:lnL>
                    <a:lnR w="9525" cap="flat" cmpd="sng" algn="ctr">
                      <a:solidFill>
                        <a:schemeClr val="tx1"/>
                      </a:solidFill>
                      <a:prstDash val="solid"/>
                    </a:lnR>
                    <a:lnT w="9525" cap="flat" cmpd="sng" algn="ctr">
                      <a:solidFill>
                        <a:schemeClr val="tx1"/>
                      </a:solidFill>
                      <a:prstDash val="solid"/>
                    </a:lnT>
                    <a:lnB w="9525" cap="flat" cmpd="sng" algn="ctr">
                      <a:solidFill>
                        <a:schemeClr val="tx1"/>
                      </a:solidFill>
                      <a:prstDash val="solid"/>
                    </a:lnB>
                  </a:tcPr>
                </a:tc>
                <a:extLst>
                  <a:ext uri="{0D108BD9-81ED-4DB2-BD59-A6C34878D82A}">
                    <a16:rowId xmlns:a16="http://schemas.microsoft.com/office/drawing/2014/main" val="10000"/>
                  </a:ext>
                </a:extLst>
              </a:tr>
              <a:tr h="440471">
                <a:tc rowSpan="2">
                  <a:txBody>
                    <a:bodyPr/>
                    <a:lstStyle/>
                    <a:p>
                      <a:pPr algn="ctr">
                        <a:buNone/>
                      </a:pPr>
                      <a:r>
                        <a:rPr lang="zh-CN" altLang="en-US" sz="810">
                          <a:latin typeface="Arial"/>
                          <a:ea typeface="SimHei"/>
                          <a:cs typeface="Arial"/>
                          <a:sym typeface="Arial"/>
                        </a:rPr>
                        <a:t>Construction Performance</a:t>
                      </a:r>
                    </a:p>
                  </a:txBody>
                  <a:tcPr anchor="ctr">
                    <a:lnL w="9525" cap="flat" cmpd="sng" algn="ctr">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Pipe-jacking construction performance</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rowSpan="2">
                  <a:txBody>
                    <a:bodyPr/>
                    <a:lstStyle/>
                    <a:p>
                      <a:pPr algn="ctr">
                        <a:buNone/>
                      </a:pPr>
                      <a:r>
                        <a:rPr lang="zh-CN" altLang="en-US" sz="810">
                          <a:latin typeface="Arial"/>
                          <a:ea typeface="SimHei"/>
                          <a:cs typeface="Arial"/>
                          <a:sym typeface="Arial"/>
                        </a:rPr>
                        <a:t>China Railway Long</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rowSpan="2">
                  <a:txBody>
                    <a:bodyPr/>
                    <a:lstStyle/>
                    <a:p>
                      <a:pPr marL="171450" indent="-171450" algn="just">
                        <a:buFont typeface="Arial" panose="020B0604020202090204" pitchFamily="34" charset="0"/>
                        <a:buChar char="•"/>
                      </a:pPr>
                      <a:r>
                        <a:rPr lang="zh-CN" altLang="en-US" sz="800">
                          <a:latin typeface="Arial Narrow"/>
                          <a:ea typeface="SimHei"/>
                          <a:cs typeface="Arial Narrow"/>
                          <a:sym typeface="Arial Narrow"/>
                        </a:rPr>
                        <a:t>Wuhou District “Livability Waterfront” Phase I PPP Project</a:t>
                      </a:r>
                    </a:p>
                    <a:p>
                      <a:pPr marL="171450" indent="-171450" algn="just">
                        <a:buFont typeface="Arial" panose="020B0604020202090204" pitchFamily="34" charset="0"/>
                        <a:buChar char="•"/>
                      </a:pPr>
                      <a:r>
                        <a:rPr lang="zh-CN" altLang="en-US" sz="800">
                          <a:latin typeface="Arial Narrow"/>
                          <a:ea typeface="SimHei"/>
                          <a:cs typeface="Arial Narrow"/>
                          <a:sym typeface="Arial Narrow"/>
                        </a:rPr>
                        <a:t>Longquanyi District Xijiang River Basin Water Environment Comprehensive Improvement Project Phase II PPP Project</a:t>
                      </a:r>
                    </a:p>
                    <a:p>
                      <a:pPr marL="171450" indent="-171450" algn="just">
                        <a:buFont typeface="Arial" panose="020B0604020202090204" pitchFamily="34" charset="0"/>
                        <a:buChar char="•"/>
                      </a:pPr>
                      <a:r>
                        <a:rPr lang="zh-CN" altLang="en-US" sz="800">
                          <a:latin typeface="Arial Narrow"/>
                          <a:ea typeface="SimHei"/>
                          <a:cs typeface="Arial Narrow"/>
                          <a:sym typeface="Arial Narrow"/>
                        </a:rPr>
                        <a:t>West River Wastewater Treatment Plant No. 2 Project</a:t>
                      </a:r>
                    </a:p>
                  </a:txBody>
                  <a:tcPr anchor="ctr">
                    <a:lnL w="9525">
                      <a:solidFill>
                        <a:schemeClr val="tx1"/>
                      </a:solidFill>
                      <a:prstDash val="solid"/>
                    </a:lnL>
                    <a:lnR w="9525" cap="flat" cmpd="sng" algn="ctr">
                      <a:solidFill>
                        <a:schemeClr val="tx1"/>
                      </a:solidFill>
                      <a:prstDash val="solid"/>
                    </a:lnR>
                    <a:lnT w="9525" cap="flat" cmpd="sng" algn="ctr">
                      <a:solidFill>
                        <a:schemeClr val="tx1"/>
                      </a:solidFill>
                      <a:prstDash val="solid"/>
                    </a:lnT>
                    <a:lnB w="9525" cap="flat" cmpd="sng" algn="ctr">
                      <a:solidFill>
                        <a:schemeClr val="tx1"/>
                      </a:solidFill>
                      <a:prstDash val="solid"/>
                    </a:lnB>
                  </a:tcPr>
                </a:tc>
                <a:extLst>
                  <a:ext uri="{0D108BD9-81ED-4DB2-BD59-A6C34878D82A}">
                    <a16:rowId xmlns:a16="http://schemas.microsoft.com/office/drawing/2014/main" val="10001"/>
                  </a:ext>
                </a:extLst>
              </a:tr>
              <a:tr h="539484">
                <a:tc vMerge="1">
                  <a:txBody>
                    <a:bodyPr/>
                    <a:lstStyle/>
                    <a:p>
                      <a:endParaRPr lang="zh-CN"/>
                    </a:p>
                  </a:txBody>
                  <a:tcPr>
                    <a:lnL w="9525" cap="flat" cmpd="sng" algn="ctr">
                      <a:solidFill>
                        <a:schemeClr val="tx1"/>
                      </a:solidFill>
                      <a:prstDash val="solid"/>
                    </a:lnL>
                    <a:lnR w="9525">
                      <a:solidFill>
                        <a:schemeClr val="tx1"/>
                      </a:solidFill>
                      <a:prstDash val="solid"/>
                    </a:lnR>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Pump Station Construction Performance</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vMerge="1">
                  <a:txBody>
                    <a:bodyPr/>
                    <a:lstStyle/>
                    <a:p>
                      <a:endParaRPr lang="zh-CN"/>
                    </a:p>
                  </a:txBody>
                  <a:tcPr>
                    <a:lnL w="9525">
                      <a:solidFill>
                        <a:schemeClr val="tx1"/>
                      </a:solidFill>
                      <a:prstDash val="solid"/>
                    </a:lnL>
                    <a:lnR w="9525">
                      <a:solidFill>
                        <a:schemeClr val="tx1"/>
                      </a:solidFill>
                      <a:prstDash val="solid"/>
                    </a:lnR>
                    <a:lnB w="9525" cap="flat" cmpd="sng" algn="ctr">
                      <a:solidFill>
                        <a:schemeClr val="tx1"/>
                      </a:solidFill>
                      <a:prstDash val="solid"/>
                    </a:lnB>
                  </a:tcPr>
                </a:tc>
                <a:tc vMerge="1">
                  <a:txBody>
                    <a:bodyPr/>
                    <a:lstStyle/>
                    <a:p>
                      <a:endParaRPr lang="zh-CN"/>
                    </a:p>
                  </a:txBody>
                  <a:tcPr>
                    <a:lnL w="9525">
                      <a:solidFill>
                        <a:schemeClr val="tx1"/>
                      </a:solidFill>
                      <a:prstDash val="solid"/>
                    </a:lnL>
                    <a:lnR w="9525" cap="flat" cmpd="sng" algn="ctr">
                      <a:solidFill>
                        <a:schemeClr val="tx1"/>
                      </a:solidFill>
                      <a:prstDash val="solid"/>
                    </a:lnR>
                    <a:lnB w="9525" cap="flat" cmpd="sng" algn="ctr">
                      <a:solidFill>
                        <a:schemeClr val="tx1"/>
                      </a:solidFill>
                      <a:prstDash val="solid"/>
                    </a:lnB>
                  </a:tcPr>
                </a:tc>
                <a:extLst>
                  <a:ext uri="{0D108BD9-81ED-4DB2-BD59-A6C34878D82A}">
                    <a16:rowId xmlns:a16="http://schemas.microsoft.com/office/drawing/2014/main" val="10002"/>
                  </a:ext>
                </a:extLst>
              </a:tr>
              <a:tr h="924829">
                <a:tc rowSpan="2">
                  <a:txBody>
                    <a:bodyPr/>
                    <a:lstStyle/>
                    <a:p>
                      <a:pPr algn="ctr">
                        <a:buNone/>
                      </a:pPr>
                      <a:r>
                        <a:rPr lang="zh-CN" altLang="en-US" sz="810">
                          <a:latin typeface="Arial"/>
                          <a:ea typeface="SimHei"/>
                          <a:cs typeface="Arial"/>
                          <a:sym typeface="Arial"/>
                        </a:rPr>
                        <a:t>Design Performance</a:t>
                      </a:r>
                    </a:p>
                  </a:txBody>
                  <a:tcPr anchor="ctr">
                    <a:lnL w="9525" cap="flat" cmpd="sng" algn="ctr">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Pipe-jacking design performance</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Shenzhen Municipal Government</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marL="171450" indent="-171450" algn="just">
                        <a:buFont typeface="Arial" panose="020B0604020202090204" pitchFamily="34" charset="0"/>
                        <a:buChar char="•"/>
                      </a:pPr>
                      <a:r>
                        <a:rPr lang="zh-CN" altLang="en-US" sz="900">
                          <a:latin typeface="Arial Narrow"/>
                          <a:ea typeface="SimHei"/>
                          <a:cs typeface="Arial Narrow"/>
                          <a:sym typeface="Arial Narrow"/>
                        </a:rPr>
                        <a:t>EPC General Contracting Project for the Main Drainage Pipeline Network around Fengqi Road in the Xixian New Area Energy, Finance, and Trade Zone</a:t>
                      </a:r>
                    </a:p>
                    <a:p>
                      <a:pPr marL="171450" indent="-171450" algn="just">
                        <a:buFont typeface="Arial" panose="020B0604020202090204" pitchFamily="34" charset="0"/>
                        <a:buChar char="•"/>
                      </a:pPr>
                      <a:r>
                        <a:rPr lang="zh-CN" altLang="en-US" sz="900">
                          <a:latin typeface="Arial Narrow"/>
                          <a:ea typeface="SimHei"/>
                          <a:cs typeface="Arial Narrow"/>
                          <a:sym typeface="Arial Narrow"/>
                        </a:rPr>
                        <a:t>Survey and Design for the Chengdu Ring Expressway Water Conveyance Pipeline Project (Chengluo Road–Chuanshan Road)</a:t>
                      </a:r>
                    </a:p>
                  </a:txBody>
                  <a:tcPr anchor="ctr">
                    <a:lnL w="9525">
                      <a:solidFill>
                        <a:schemeClr val="tx1"/>
                      </a:solidFill>
                      <a:prstDash val="solid"/>
                    </a:lnL>
                    <a:lnR w="9525" cap="flat" cmpd="sng" algn="ctr">
                      <a:solidFill>
                        <a:schemeClr val="tx1"/>
                      </a:solidFill>
                      <a:prstDash val="solid"/>
                    </a:lnR>
                    <a:lnT w="9525" cap="flat" cmpd="sng" algn="ctr">
                      <a:solidFill>
                        <a:schemeClr val="tx1"/>
                      </a:solidFill>
                      <a:prstDash val="solid"/>
                    </a:lnT>
                    <a:lnB w="9525" cap="flat" cmpd="sng" algn="ctr">
                      <a:solidFill>
                        <a:schemeClr val="tx1"/>
                      </a:solidFill>
                      <a:prstDash val="solid"/>
                    </a:lnB>
                  </a:tcPr>
                </a:tc>
                <a:extLst>
                  <a:ext uri="{0D108BD9-81ED-4DB2-BD59-A6C34878D82A}">
                    <a16:rowId xmlns:a16="http://schemas.microsoft.com/office/drawing/2014/main" val="10003"/>
                  </a:ext>
                </a:extLst>
              </a:tr>
              <a:tr h="783536">
                <a:tc vMerge="1">
                  <a:txBody>
                    <a:bodyPr/>
                    <a:lstStyle/>
                    <a:p>
                      <a:endParaRPr lang="zh-CN"/>
                    </a:p>
                  </a:txBody>
                  <a:tcPr>
                    <a:lnL w="9525" cap="flat" cmpd="sng" algn="ctr">
                      <a:solidFill>
                        <a:schemeClr val="tx1"/>
                      </a:solidFill>
                      <a:prstDash val="solid"/>
                    </a:lnL>
                    <a:lnR w="9525">
                      <a:solidFill>
                        <a:schemeClr val="tx1"/>
                      </a:solidFill>
                      <a:prstDash val="solid"/>
                    </a:lnR>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Pump Station Design Performance</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Shanghai Municipal Government</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marL="171450" indent="-171450" algn="just">
                        <a:buFont typeface="Arial" panose="020B0604020202090204" pitchFamily="34" charset="0"/>
                        <a:buChar char="•"/>
                      </a:pPr>
                      <a:r>
                        <a:rPr lang="zh-CN" altLang="en-US" sz="900">
                          <a:latin typeface="Arial Narrow"/>
                          <a:ea typeface="SimHei"/>
                          <a:cs typeface="Arial Narrow"/>
                          <a:sym typeface="Arial Narrow"/>
                        </a:rPr>
                        <a:t>Yangpu District Minxing South Drainage System Renovation Project</a:t>
                      </a:r>
                    </a:p>
                    <a:p>
                      <a:pPr marL="171450" indent="-171450" algn="just">
                        <a:buFont typeface="Arial" panose="020B0604020202090204" pitchFamily="34" charset="0"/>
                        <a:buChar char="•"/>
                      </a:pPr>
                      <a:r>
                        <a:rPr lang="zh-CN" altLang="en-US" sz="900">
                          <a:latin typeface="Arial Narrow"/>
                          <a:ea typeface="SimHei"/>
                          <a:cs typeface="Arial Narrow"/>
                          <a:sym typeface="Arial Narrow"/>
                        </a:rPr>
                        <a:t>New Construction Project for the Miaopeng Drainage System</a:t>
                      </a:r>
                    </a:p>
                    <a:p>
                      <a:pPr marL="171450" indent="-171450" algn="just">
                        <a:buFont typeface="Arial" panose="020B0604020202090204" pitchFamily="34" charset="0"/>
                        <a:buChar char="•"/>
                      </a:pPr>
                      <a:r>
                        <a:rPr lang="zh-CN" altLang="en-US" sz="900">
                          <a:latin typeface="Arial"/>
                          <a:ea typeface="SimHei"/>
                          <a:cs typeface="Arial"/>
                          <a:sym typeface="Arial"/>
                        </a:rPr>
                        <a:t>Yunling West Drainage System Project</a:t>
                      </a:r>
                    </a:p>
                  </a:txBody>
                  <a:tcPr anchor="ctr">
                    <a:lnL w="9525">
                      <a:solidFill>
                        <a:schemeClr val="tx1"/>
                      </a:solidFill>
                      <a:prstDash val="solid"/>
                    </a:lnL>
                    <a:lnR w="9525" cap="flat" cmpd="sng" algn="ctr">
                      <a:solidFill>
                        <a:schemeClr val="tx1"/>
                      </a:solidFill>
                      <a:prstDash val="solid"/>
                    </a:lnR>
                    <a:lnT w="9525" cap="flat" cmpd="sng" algn="ctr">
                      <a:solidFill>
                        <a:schemeClr val="tx1"/>
                      </a:solidFill>
                      <a:prstDash val="solid"/>
                    </a:lnT>
                    <a:lnB w="9525" cap="flat" cmpd="sng" algn="ctr">
                      <a:solidFill>
                        <a:schemeClr val="tx1"/>
                      </a:solidFill>
                      <a:prstDash val="solid"/>
                    </a:lnB>
                  </a:tcPr>
                </a:tc>
                <a:extLst>
                  <a:ext uri="{0D108BD9-81ED-4DB2-BD59-A6C34878D82A}">
                    <a16:rowId xmlns:a16="http://schemas.microsoft.com/office/drawing/2014/main" val="10004"/>
                  </a:ext>
                </a:extLst>
              </a:tr>
              <a:tr h="539484">
                <a:tc>
                  <a:txBody>
                    <a:bodyPr/>
                    <a:lstStyle/>
                    <a:p>
                      <a:pPr algn="ctr">
                        <a:buNone/>
                      </a:pPr>
                      <a:r>
                        <a:rPr lang="zh-CN" altLang="en-US" sz="990">
                          <a:latin typeface="Arial"/>
                          <a:ea typeface="SimHei"/>
                          <a:cs typeface="Arial"/>
                          <a:sym typeface="Arial"/>
                        </a:rPr>
                        <a:t>General Performance</a:t>
                      </a:r>
                    </a:p>
                  </a:txBody>
                  <a:tcPr anchor="ctr">
                    <a:lnL w="9525" cap="flat" cmpd="sng" algn="ctr">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Narrow"/>
                          <a:ea typeface="SimHei"/>
                          <a:cs typeface="Arial Narrow"/>
                          <a:sym typeface="Arial Narrow"/>
                        </a:rPr>
                        <a:t>General engineering contracting performance and similar performance.</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algn="ctr">
                        <a:buNone/>
                      </a:pPr>
                      <a:r>
                        <a:rPr lang="zh-CN" altLang="en-US" sz="990">
                          <a:latin typeface="Arial"/>
                          <a:ea typeface="SimHei"/>
                          <a:cs typeface="Arial"/>
                          <a:sym typeface="Arial"/>
                        </a:rPr>
                        <a:t>China-Turkey</a:t>
                      </a:r>
                    </a:p>
                  </a:txBody>
                  <a:tcPr anchor="ctr">
                    <a:lnL w="9525">
                      <a:solidFill>
                        <a:schemeClr val="tx1"/>
                      </a:solidFill>
                      <a:prstDash val="solid"/>
                    </a:lnL>
                    <a:lnR w="9525">
                      <a:solidFill>
                        <a:schemeClr val="tx1"/>
                      </a:solidFill>
                      <a:prstDash val="solid"/>
                    </a:lnR>
                    <a:lnT w="9525" cap="flat" cmpd="sng" algn="ctr">
                      <a:solidFill>
                        <a:schemeClr val="tx1"/>
                      </a:solidFill>
                      <a:prstDash val="solid"/>
                    </a:lnT>
                    <a:lnB w="9525" cap="flat" cmpd="sng" algn="ctr">
                      <a:solidFill>
                        <a:schemeClr val="tx1"/>
                      </a:solidFill>
                      <a:prstDash val="solid"/>
                    </a:lnB>
                  </a:tcPr>
                </a:tc>
                <a:tc>
                  <a:txBody>
                    <a:bodyPr/>
                    <a:lstStyle/>
                    <a:p>
                      <a:pPr marL="171450" indent="-171450" algn="just">
                        <a:buFont typeface="Arial" panose="020B0604020202090204" pitchFamily="34" charset="0"/>
                        <a:buChar char="•"/>
                      </a:pPr>
                      <a:r>
                        <a:rPr lang="zh-CN" altLang="en-US" sz="900">
                          <a:latin typeface="Arial"/>
                          <a:ea typeface="SimHei"/>
                          <a:cs typeface="Arial"/>
                          <a:sym typeface="Arial"/>
                        </a:rPr>
                        <a:t>Kafu River Water Supply Project</a:t>
                      </a:r>
                    </a:p>
                    <a:p>
                      <a:pPr marL="171450" indent="-171450" algn="just">
                        <a:buFont typeface="Arial" panose="020B0604020202090204" pitchFamily="34" charset="0"/>
                        <a:buChar char="•"/>
                      </a:pPr>
                      <a:r>
                        <a:rPr lang="zh-CN" altLang="en-US" sz="900">
                          <a:latin typeface="Arial"/>
                          <a:ea typeface="SimHei"/>
                          <a:cs typeface="Arial"/>
                          <a:sym typeface="Arial"/>
                        </a:rPr>
                        <a:t>Tanzania Sengerema Water Supply Project</a:t>
                      </a:r>
                    </a:p>
                  </a:txBody>
                  <a:tcPr anchor="ctr">
                    <a:lnL w="9525">
                      <a:solidFill>
                        <a:schemeClr val="tx1"/>
                      </a:solidFill>
                      <a:prstDash val="solid"/>
                    </a:lnL>
                    <a:lnR w="9525" cap="flat" cmpd="sng" algn="ctr">
                      <a:solidFill>
                        <a:schemeClr val="tx1"/>
                      </a:solidFill>
                      <a:prstDash val="solid"/>
                    </a:lnR>
                    <a:lnT w="9525" cap="flat" cmpd="sng" algn="ctr">
                      <a:solidFill>
                        <a:schemeClr val="tx1"/>
                      </a:solidFill>
                      <a:prstDash val="solid"/>
                    </a:lnT>
                    <a:lnB w="9525" cap="flat" cmpd="sng" algn="ctr">
                      <a:solidFill>
                        <a:schemeClr val="tx1"/>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2983230" y="1837690"/>
            <a:ext cx="5690870" cy="743585"/>
          </a:xfrm>
          <a:prstGeom prst="rect">
            <a:avLst/>
          </a:prstGeom>
        </p:spPr>
        <p:style>
          <a:lnRef idx="1">
            <a:schemeClr val="accent1"/>
          </a:lnRef>
          <a:fillRef idx="3">
            <a:schemeClr val="accent1"/>
          </a:fillRef>
          <a:effectRef idx="2">
            <a:schemeClr val="accent1"/>
          </a:effectRef>
          <a:fontRef idx="minor">
            <a:schemeClr val="lt1"/>
          </a:fontRef>
        </p:style>
        <p:txBody>
          <a:bodyPr lIns="12700" tIns="12700" rIns="12700" bIns="12700" anchor="ctr">
            <a:noAutofit/>
          </a:bodyPr>
          <a:lstStyle/>
          <a:p>
            <a:pPr marL="0" marR="0" lvl="0" indent="0" algn="ctr" defTabSz="1279525" rtl="0" eaLnBrk="1" fontAlgn="auto" latinLnBrk="0" hangingPunct="1">
              <a:lnSpc>
                <a:spcPct val="90000"/>
              </a:lnSpc>
              <a:spcBef>
                <a:spcPct val="0"/>
              </a:spcBef>
              <a:buClrTx/>
              <a:buSzTx/>
              <a:buFont typeface="Arial" panose="020B0604020202090204" pitchFamily="34" charset="0"/>
              <a:buNone/>
              <a:defRPr/>
            </a:pPr>
            <a:r>
              <a:rPr lang="zh-CN" sz="2900" b="1" dirty="0">
                <a:latin typeface="Arial Narrow" panose="020B0606020202030204" pitchFamily="34" charset="0"/>
                <a:sym typeface="Arial"/>
              </a:rPr>
              <a:t>Competition and Risk Analysis</a:t>
            </a:r>
            <a:endParaRPr kumimoji="1" lang="zh-CN" altLang="en-US" sz="2900" b="1" i="0" u="none" strike="noStrike" kern="1200" cap="none" spc="0" normalizeH="0" baseline="0" noProof="0" dirty="0">
              <a:ln>
                <a:noFill/>
              </a:ln>
              <a:solidFill>
                <a:prstClr val="white"/>
              </a:solidFill>
              <a:effectLst/>
              <a:uLnTx/>
              <a:uFillTx/>
              <a:latin typeface="Arial Narrow" panose="020B0606020202030204" pitchFamily="34" charset="0"/>
              <a:ea typeface="SimHei" panose="020B0503020204020204" pitchFamily="34" charset="-122"/>
              <a:cs typeface="Arial"/>
              <a:sym typeface="Arial"/>
            </a:endParaRPr>
          </a:p>
        </p:txBody>
      </p:sp>
      <p:sp>
        <p:nvSpPr>
          <p:cNvPr id="2" name="燕尾形 1"/>
          <p:cNvSpPr/>
          <p:nvPr/>
        </p:nvSpPr>
        <p:spPr>
          <a:xfrm>
            <a:off x="518160" y="1837055"/>
            <a:ext cx="2105025" cy="744220"/>
          </a:xfrm>
          <a:prstGeom prst="chevron">
            <a:avLst/>
          </a:prstGeom>
          <a:solidFill>
            <a:srgbClr val="B40000"/>
          </a:solidFill>
          <a:ln w="25400">
            <a:solidFill>
              <a:schemeClr val="bg1"/>
            </a:solidFill>
          </a:ln>
          <a:effectLst>
            <a:outerShdw blurRad="50800" dist="101600" dir="2700000" algn="tl" rotWithShape="0">
              <a:prstClr val="black">
                <a:alpha val="40000"/>
              </a:prstClr>
            </a:outerShdw>
          </a:effectLst>
        </p:spPr>
        <p:txBody>
          <a:bodyPr lIns="12700" tIns="12700" rIns="12700" bIns="12700" anchor="b">
            <a:noAutofit/>
          </a:bodyPr>
          <a:lstStyle/>
          <a:p>
            <a:pPr marL="0" marR="0" lvl="0" indent="0" algn="l" defTabSz="914400" rtl="0" fontAlgn="auto">
              <a:lnSpc>
                <a:spcPct val="100000"/>
              </a:lnSpc>
              <a:buClrTx/>
              <a:buSzTx/>
              <a:buFont typeface="Arial" panose="020B0604020202090204" pitchFamily="34" charset="0"/>
              <a:buNone/>
              <a:defRPr/>
            </a:pPr>
            <a:r>
              <a:rPr kumimoji="0" lang="zh-CN" altLang="en-US" sz="2310" b="1" i="0" u="none" strike="noStrike" kern="1200" cap="none" spc="0" normalizeH="0" baseline="0" noProof="0" dirty="0">
                <a:ln>
                  <a:noFill/>
                </a:ln>
                <a:solidFill>
                  <a:srgbClr val="1F497D"/>
                </a:solidFill>
                <a:effectLst>
                  <a:outerShdw blurRad="38100" dist="38100" dir="2700000" algn="tl">
                    <a:srgbClr val="FFFFFF"/>
                  </a:outerShdw>
                </a:effectLst>
                <a:uLnTx/>
                <a:uFillTx/>
                <a:latin typeface="Arial" panose="020B0604020202090204" pitchFamily="34" charset="0"/>
                <a:ea typeface="SimHei" panose="02010609060101010101" pitchFamily="49" charset="-122"/>
                <a:cs typeface="Arial"/>
                <a:sym typeface="Arial"/>
              </a:rPr>
              <a:t>Three</a:t>
            </a:r>
            <a:endParaRPr kumimoji="0" lang="zh-CN" altLang="en-US" sz="231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Arial" panose="020B0604020202090204" pitchFamily="34" charset="0"/>
              <a:ea typeface="SimHei" panose="02010609060101010101" pitchFamily="49" charset="-122"/>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lIns="12700" tIns="12700" rIns="12700" bIns="12700" rtlCol="0">
            <a:noAutofit/>
          </a:bodyPr>
          <a:lstStyle/>
          <a:p>
            <a:pPr algn="l"/>
            <a:r>
              <a:rPr lang="zh-CN" altLang="en-US" sz="1100" b="1" dirty="0">
                <a:latin typeface="Arial" charset="0"/>
                <a:ea typeface="SimHei" charset="0"/>
                <a:cs typeface="Arial" charset="0"/>
                <a:sym typeface="Arial"/>
              </a:rPr>
              <a:t>III. Competition and Risk Analysis</a:t>
            </a:r>
            <a:endParaRPr kumimoji="1" lang="zh-CN" altLang="en-US" sz="1100" b="1" i="0" u="none" strike="noStrike" kern="1200" cap="none" spc="0" normalizeH="0" baseline="0" noProof="0" dirty="0">
              <a:ln>
                <a:noFill/>
              </a:ln>
              <a:solidFill>
                <a:prstClr val="white"/>
              </a:solidFill>
              <a:effectLst/>
              <a:uLnTx/>
              <a:uFillTx/>
              <a:latin typeface="Arial" panose="020B0503020204020204" pitchFamily="34" charset="-122"/>
              <a:ea typeface="SimHei" panose="020B0503020204020204" pitchFamily="34" charset="-122"/>
              <a:cs typeface="Arial"/>
              <a:sym typeface="Arial"/>
            </a:endParaRPr>
          </a:p>
          <a:p>
            <a:endParaRPr lang="zh-CN" altLang="en-US" sz="1100" b="1" dirty="0">
              <a:latin typeface="宋体" charset="0"/>
              <a:ea typeface="宋体" charset="0"/>
              <a:cs typeface="宋体" charset="0"/>
            </a:endParaRPr>
          </a:p>
        </p:txBody>
      </p:sp>
      <p:sp>
        <p:nvSpPr>
          <p:cNvPr id="6" name="文本框 5"/>
          <p:cNvSpPr txBox="1"/>
          <p:nvPr/>
        </p:nvSpPr>
        <p:spPr>
          <a:xfrm>
            <a:off x="368935" y="908049"/>
            <a:ext cx="8606155" cy="1596390"/>
          </a:xfrm>
          <a:prstGeom prst="rect">
            <a:avLst/>
          </a:prstGeom>
          <a:noFill/>
        </p:spPr>
        <p:txBody>
          <a:bodyPr wrap="square" lIns="12700" tIns="12700" rIns="12700" bIns="12700" rtlCol="0" anchor="t">
            <a:noAutofit/>
          </a:bodyPr>
          <a:lstStyle/>
          <a:p>
            <a:pPr indent="0">
              <a:lnSpc>
                <a:spcPct val="153000"/>
              </a:lnSpc>
              <a:buFont typeface="Arial" panose="020B0604020202090204" pitchFamily="34" charset="0"/>
              <a:buNone/>
            </a:pPr>
            <a:r>
              <a:rPr lang="zh-CN" altLang="en-US" sz="1340">
                <a:latin typeface="Arial Narrow" panose="020B0606020202030204" pitchFamily="34" charset="0"/>
                <a:sym typeface="Arial"/>
              </a:rPr>
              <a:t>Potential Competitors:</a:t>
            </a:r>
          </a:p>
          <a:p>
            <a:pPr marL="285750" indent="-285750">
              <a:lnSpc>
                <a:spcPct val="153000"/>
              </a:lnSpc>
              <a:buFont typeface="Arial" panose="020B0604020202090204" pitchFamily="34" charset="0"/>
              <a:buChar char="•"/>
            </a:pPr>
            <a:r>
              <a:rPr lang="zh-CN" altLang="en-US" sz="1340">
                <a:latin typeface="Arial Narrow" panose="020B0606020202030204" pitchFamily="34" charset="0"/>
                <a:sym typeface="Arial Narrow"/>
              </a:rPr>
              <a:t>State-owned enterprises such as China Energy Construction, China Road &amp; Bridge Corporation, and China Power Construction: possess strong commercial capabilities, extensive experience in relevant fields, and begin preparing their bids at an early stage.</a:t>
            </a:r>
          </a:p>
          <a:p>
            <a:pPr marL="285750" indent="-285750">
              <a:lnSpc>
                <a:spcPct val="153000"/>
              </a:lnSpc>
              <a:buFont typeface="Arial" panose="020B0604020202090204" pitchFamily="34" charset="0"/>
              <a:buChar char="•"/>
            </a:pPr>
            <a:r>
              <a:rPr lang="zh-CN" altLang="en-US" sz="1340">
                <a:latin typeface="Arial Narrow" panose="020B0606020202030204" pitchFamily="34" charset="0"/>
                <a:sym typeface="Arial Narrow"/>
              </a:rPr>
              <a:t>Turkish company: Strong commercial capabilities and flexible tendering operations.</a:t>
            </a:r>
          </a:p>
        </p:txBody>
      </p:sp>
      <p:sp>
        <p:nvSpPr>
          <p:cNvPr id="3" name="文本框 2"/>
          <p:cNvSpPr txBox="1"/>
          <p:nvPr/>
        </p:nvSpPr>
        <p:spPr>
          <a:xfrm>
            <a:off x="432435" y="2504440"/>
            <a:ext cx="8225155" cy="2633155"/>
          </a:xfrm>
          <a:prstGeom prst="rect">
            <a:avLst/>
          </a:prstGeom>
          <a:noFill/>
        </p:spPr>
        <p:txBody>
          <a:bodyPr wrap="square" lIns="12700" tIns="12700" rIns="12700" bIns="12700" rtlCol="0">
            <a:noAutofit/>
          </a:bodyPr>
          <a:lstStyle/>
          <a:p>
            <a:pPr>
              <a:lnSpc>
                <a:spcPct val="117000"/>
              </a:lnSpc>
            </a:pPr>
            <a:r>
              <a:rPr lang="zh-CN" altLang="en-US" sz="1300">
                <a:latin typeface="Arial Narrow" panose="020B0606020202030204" pitchFamily="34" charset="0"/>
                <a:ea typeface="SimHei"/>
                <a:cs typeface="Arial"/>
                <a:sym typeface="Arial"/>
              </a:rPr>
              <a:t>Our Joint Venture:</a:t>
            </a:r>
          </a:p>
          <a:p>
            <a:pPr marL="285750" indent="-285750">
              <a:lnSpc>
                <a:spcPct val="117000"/>
              </a:lnSpc>
              <a:buFont typeface="Arial" panose="020B0604020202090204" pitchFamily="34" charset="0"/>
              <a:buChar char="•"/>
            </a:pPr>
            <a:r>
              <a:rPr lang="zh-CN" altLang="en-US" sz="1300">
                <a:latin typeface="Arial Narrow" panose="020B0606020202030204" pitchFamily="34" charset="0"/>
                <a:ea typeface="SimHei"/>
                <a:cs typeface="Arial Narrow"/>
                <a:sym typeface="Arial Narrow"/>
              </a:rPr>
              <a:t>Prior to tendering, the contractor shall also possess robust commercial management capabilities.</a:t>
            </a:r>
          </a:p>
          <a:p>
            <a:pPr marL="285750" indent="-285750">
              <a:lnSpc>
                <a:spcPct val="117000"/>
              </a:lnSpc>
              <a:buFont typeface="Arial" panose="020B0604020202090204" pitchFamily="34" charset="0"/>
              <a:buChar char="•"/>
            </a:pPr>
            <a:r>
              <a:rPr lang="zh-CN" altLang="en-US" sz="1300">
                <a:latin typeface="Arial Narrow" panose="020B0606020202030204" pitchFamily="34" charset="0"/>
                <a:ea typeface="SimHei"/>
                <a:cs typeface="Arial Narrow"/>
                <a:sym typeface="Arial Narrow"/>
              </a:rPr>
              <a:t>In collaboration with leading domestic design firms and engineering companies with extensive implementation and management expertise, we are capable of preparing high-quality technical proposals.</a:t>
            </a:r>
          </a:p>
          <a:p>
            <a:pPr marL="285750" indent="-285750">
              <a:lnSpc>
                <a:spcPct val="117000"/>
              </a:lnSpc>
              <a:buFont typeface="Arial" panose="020B0604020202090204" pitchFamily="34" charset="0"/>
              <a:buChar char="•"/>
            </a:pPr>
            <a:r>
              <a:rPr lang="zh-CN" altLang="en-US" sz="1300">
                <a:latin typeface="Arial Narrow" panose="020B0606020202030204" pitchFamily="34" charset="0"/>
                <a:ea typeface="SimHei"/>
                <a:cs typeface="Arial Narrow"/>
                <a:sym typeface="Arial Narrow"/>
              </a:rPr>
              <a:t>China National Petroleum Corporation has deeply cultivated the Pakistani market and, compared with other central state-owned enterprises, possesses a more thorough understanding of bidding for commercial competitive projects in Pakistan. It currently has multiple ongoing projects in Lahore, supported by an established management team and dedicated equipment, and maintains insight into local material supply dynamics, enabling it to prepare financially competitive bids.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lIns="12700" tIns="12700" rIns="12700" bIns="12700" rtlCol="0">
            <a:noAutofit/>
          </a:bodyPr>
          <a:lstStyle/>
          <a:p>
            <a:pPr algn="l"/>
            <a:r>
              <a:rPr lang="zh-CN" altLang="en-US" sz="1100" b="1" dirty="0">
                <a:latin typeface="Arial" charset="0"/>
                <a:ea typeface="SimHei" charset="0"/>
                <a:cs typeface="Arial" charset="0"/>
                <a:sym typeface="Arial"/>
              </a:rPr>
              <a:t>III. Competition and Risk Analysis</a:t>
            </a:r>
            <a:endParaRPr kumimoji="1" lang="zh-CN" altLang="en-US" sz="1100" b="1" i="0" u="none" strike="noStrike" kern="1200" cap="none" spc="0" normalizeH="0" baseline="0" noProof="0" dirty="0">
              <a:ln>
                <a:noFill/>
              </a:ln>
              <a:solidFill>
                <a:prstClr val="white"/>
              </a:solidFill>
              <a:effectLst/>
              <a:uLnTx/>
              <a:uFillTx/>
              <a:latin typeface="Arial" panose="020B0503020204020204" pitchFamily="34" charset="-122"/>
              <a:ea typeface="SimHei" panose="020B0503020204020204" pitchFamily="34" charset="-122"/>
              <a:cs typeface="Arial"/>
              <a:sym typeface="Arial"/>
            </a:endParaRPr>
          </a:p>
          <a:p>
            <a:endParaRPr lang="zh-CN" altLang="en-US" sz="1100" b="1" dirty="0">
              <a:latin typeface="宋体" charset="0"/>
              <a:ea typeface="宋体" charset="0"/>
              <a:cs typeface="宋体" charset="0"/>
            </a:endParaRPr>
          </a:p>
        </p:txBody>
      </p:sp>
      <p:graphicFrame>
        <p:nvGraphicFramePr>
          <p:cNvPr id="4" name="表格 3"/>
          <p:cNvGraphicFramePr/>
          <p:nvPr>
            <p:extLst>
              <p:ext uri="{D42A27DB-BD31-4B8C-83A1-F6EECF244321}">
                <p14:modId xmlns:p14="http://schemas.microsoft.com/office/powerpoint/2010/main" val="2953383580"/>
              </p:ext>
            </p:extLst>
          </p:nvPr>
        </p:nvGraphicFramePr>
        <p:xfrm>
          <a:off x="194310" y="908050"/>
          <a:ext cx="8856345" cy="3627120"/>
        </p:xfrm>
        <a:graphic>
          <a:graphicData uri="http://schemas.openxmlformats.org/drawingml/2006/table">
            <a:tbl>
              <a:tblPr firstRow="1" bandRow="1">
                <a:tableStyleId>{5C22544A-7EE6-4342-B048-85BDC9FD1C3A}</a:tableStyleId>
              </a:tblPr>
              <a:tblGrid>
                <a:gridCol w="1540510">
                  <a:extLst>
                    <a:ext uri="{9D8B030D-6E8A-4147-A177-3AD203B41FA5}">
                      <a16:colId xmlns:a16="http://schemas.microsoft.com/office/drawing/2014/main" val="20000"/>
                    </a:ext>
                  </a:extLst>
                </a:gridCol>
                <a:gridCol w="2719070">
                  <a:extLst>
                    <a:ext uri="{9D8B030D-6E8A-4147-A177-3AD203B41FA5}">
                      <a16:colId xmlns:a16="http://schemas.microsoft.com/office/drawing/2014/main" val="20001"/>
                    </a:ext>
                  </a:extLst>
                </a:gridCol>
                <a:gridCol w="650875">
                  <a:extLst>
                    <a:ext uri="{9D8B030D-6E8A-4147-A177-3AD203B41FA5}">
                      <a16:colId xmlns:a16="http://schemas.microsoft.com/office/drawing/2014/main" val="20002"/>
                    </a:ext>
                  </a:extLst>
                </a:gridCol>
                <a:gridCol w="3945890">
                  <a:extLst>
                    <a:ext uri="{9D8B030D-6E8A-4147-A177-3AD203B41FA5}">
                      <a16:colId xmlns:a16="http://schemas.microsoft.com/office/drawing/2014/main" val="20003"/>
                    </a:ext>
                  </a:extLst>
                </a:gridCol>
              </a:tblGrid>
              <a:tr h="295029">
                <a:tc>
                  <a:txBody>
                    <a:bodyPr/>
                    <a:lstStyle/>
                    <a:p>
                      <a:pPr algn="ctr">
                        <a:buNone/>
                      </a:pPr>
                      <a:r>
                        <a:rPr lang="zh-CN" altLang="en-US" sz="800">
                          <a:latin typeface="Arial"/>
                          <a:ea typeface="SimHei"/>
                          <a:cs typeface="Arial"/>
                          <a:sym typeface="Arial"/>
                        </a:rPr>
                        <a:t>Risk Category</a:t>
                      </a:r>
                    </a:p>
                  </a:txBody>
                  <a:tcPr anchor="ctr"/>
                </a:tc>
                <a:tc>
                  <a:txBody>
                    <a:bodyPr/>
                    <a:lstStyle/>
                    <a:p>
                      <a:pPr algn="ctr">
                        <a:buNone/>
                      </a:pPr>
                      <a:r>
                        <a:rPr lang="zh-CN" altLang="en-US" sz="800">
                          <a:sym typeface="Arial"/>
                        </a:rPr>
                        <a:t>Risk Description</a:t>
                      </a:r>
                      <a:endParaRPr lang="zh-CN" altLang="en-US" sz="800">
                        <a:latin typeface="Arial"/>
                        <a:ea typeface="SimHei"/>
                        <a:cs typeface="Arial"/>
                        <a:sym typeface="Arial"/>
                      </a:endParaRPr>
                    </a:p>
                  </a:txBody>
                  <a:tcPr anchor="ctr"/>
                </a:tc>
                <a:tc>
                  <a:txBody>
                    <a:bodyPr/>
                    <a:lstStyle/>
                    <a:p>
                      <a:pPr algn="ctr">
                        <a:buNone/>
                      </a:pPr>
                      <a:r>
                        <a:rPr lang="zh-CN" altLang="en-US" sz="800">
                          <a:latin typeface="Arial"/>
                          <a:ea typeface="SimHei"/>
                          <a:cs typeface="Arial"/>
                          <a:sym typeface="Arial"/>
                        </a:rPr>
                        <a:t>Risk Level</a:t>
                      </a:r>
                    </a:p>
                  </a:txBody>
                  <a:tcPr anchor="ctr"/>
                </a:tc>
                <a:tc>
                  <a:txBody>
                    <a:bodyPr/>
                    <a:lstStyle/>
                    <a:p>
                      <a:pPr algn="ctr">
                        <a:buNone/>
                      </a:pPr>
                      <a:r>
                        <a:rPr lang="zh-CN" altLang="en-US" sz="800">
                          <a:latin typeface="Arial"/>
                          <a:ea typeface="SimHei"/>
                          <a:cs typeface="Arial"/>
                          <a:sym typeface="Arial"/>
                        </a:rPr>
                        <a:t>and response measures</a:t>
                      </a:r>
                    </a:p>
                  </a:txBody>
                  <a:tcPr anchor="ctr"/>
                </a:tc>
                <a:extLst>
                  <a:ext uri="{0D108BD9-81ED-4DB2-BD59-A6C34878D82A}">
                    <a16:rowId xmlns:a16="http://schemas.microsoft.com/office/drawing/2014/main" val="10000"/>
                  </a:ext>
                </a:extLst>
              </a:tr>
              <a:tr h="989215">
                <a:tc>
                  <a:txBody>
                    <a:bodyPr/>
                    <a:lstStyle/>
                    <a:p>
                      <a:pPr algn="ctr">
                        <a:buNone/>
                      </a:pPr>
                      <a:r>
                        <a:rPr lang="zh-CN" altLang="en-US" sz="800">
                          <a:latin typeface="Arial"/>
                          <a:ea typeface="SimHei"/>
                          <a:cs typeface="Arial"/>
                          <a:sym typeface="Arial"/>
                        </a:rPr>
                        <a:t>Safety Risk</a:t>
                      </a:r>
                    </a:p>
                  </a:txBody>
                  <a:tcPr anchor="ctr"/>
                </a:tc>
                <a:tc>
                  <a:txBody>
                    <a:bodyPr/>
                    <a:lstStyle/>
                    <a:p>
                      <a:pPr algn="just">
                        <a:buNone/>
                      </a:pPr>
                      <a:r>
                        <a:rPr lang="zh-CN" altLang="en-US" sz="800">
                          <a:latin typeface="Arial Narrow"/>
                          <a:ea typeface="SimHei"/>
                          <a:cs typeface="Arial Narrow"/>
                          <a:sym typeface="Arial Narrow"/>
                        </a:rPr>
                        <a:t>Lahore is classified as an orange-risk area, not a terrorism-affected region, and is friendly toward Chinese-invested enterprises and Chinese nationals; however, it does entail risks related to public security, traffic, and construction safety.</a:t>
                      </a:r>
                    </a:p>
                  </a:txBody>
                  <a:tcPr anchor="ctr"/>
                </a:tc>
                <a:tc>
                  <a:txBody>
                    <a:bodyPr/>
                    <a:lstStyle/>
                    <a:p>
                      <a:pPr algn="ctr">
                        <a:buNone/>
                      </a:pPr>
                      <a:r>
                        <a:rPr lang="zh-CN" altLang="en-US" sz="800">
                          <a:latin typeface="Arial"/>
                          <a:ea typeface="SimHei"/>
                          <a:cs typeface="Arial"/>
                          <a:sym typeface="Arial"/>
                        </a:rPr>
                        <a:t>China</a:t>
                      </a:r>
                    </a:p>
                  </a:txBody>
                  <a:tcPr anchor="ctr"/>
                </a:tc>
                <a:tc>
                  <a:txBody>
                    <a:bodyPr/>
                    <a:lstStyle/>
                    <a:p>
                      <a:pPr algn="just">
                        <a:buNone/>
                      </a:pPr>
                      <a:r>
                        <a:rPr lang="zh-CN" altLang="en-US" sz="800">
                          <a:latin typeface="Arial Narrow"/>
                          <a:ea typeface="SimHei"/>
                          <a:cs typeface="Arial Narrow"/>
                          <a:sym typeface="Arial Narrow"/>
                        </a:rPr>
                        <a:t>Prior to bidding, conduct on-site inspections, develop a scientifically sound and feasible security plan, coordinate with local military and police authorities to allocate security personnel, and include the full amount of security costs in the bid price. Should the project be awarded, strictly implement the safety-assurance measures prescribed by higher-level authorities and relevant local departments; carry out construction-safety training, oversight, and corrective actions; and ensure that, with adequate security measures in place, overall safety risks remain under control.</a:t>
                      </a:r>
                    </a:p>
                  </a:txBody>
                  <a:tcPr anchor="ctr"/>
                </a:tc>
                <a:extLst>
                  <a:ext uri="{0D108BD9-81ED-4DB2-BD59-A6C34878D82A}">
                    <a16:rowId xmlns:a16="http://schemas.microsoft.com/office/drawing/2014/main" val="10001"/>
                  </a:ext>
                </a:extLst>
              </a:tr>
              <a:tr h="572703">
                <a:tc>
                  <a:txBody>
                    <a:bodyPr/>
                    <a:lstStyle/>
                    <a:p>
                      <a:pPr algn="ctr">
                        <a:buNone/>
                      </a:pPr>
                      <a:r>
                        <a:rPr lang="zh-CN" altLang="en-US" sz="800">
                          <a:latin typeface="Arial"/>
                          <a:ea typeface="SimHei"/>
                          <a:cs typeface="Arial"/>
                          <a:sym typeface="Arial"/>
                        </a:rPr>
                        <a:t>Compliance Risk</a:t>
                      </a:r>
                    </a:p>
                  </a:txBody>
                  <a:tcPr anchor="ctr"/>
                </a:tc>
                <a:tc>
                  <a:txBody>
                    <a:bodyPr/>
                    <a:lstStyle/>
                    <a:p>
                      <a:pPr algn="just">
                        <a:buNone/>
                      </a:pPr>
                      <a:r>
                        <a:rPr lang="zh-CN" altLang="en-US" sz="800">
                          <a:latin typeface="Arial Narrow"/>
                          <a:ea typeface="SimHei"/>
                          <a:cs typeface="Arial Narrow"/>
                          <a:sym typeface="Arial Narrow"/>
                        </a:rPr>
                        <a:t>Pakistan is a high-risk country, and the project is financed by the Asian Infrastructure Investment Bank, which entails risks related to bid compliance.</a:t>
                      </a:r>
                    </a:p>
                  </a:txBody>
                  <a:tcPr anchor="ctr"/>
                </a:tc>
                <a:tc>
                  <a:txBody>
                    <a:bodyPr/>
                    <a:lstStyle/>
                    <a:p>
                      <a:pPr algn="ctr">
                        <a:buNone/>
                      </a:pPr>
                      <a:r>
                        <a:rPr lang="zh-CN" altLang="en-US" sz="800">
                          <a:latin typeface="Arial"/>
                          <a:ea typeface="SimHei"/>
                          <a:cs typeface="Arial"/>
                          <a:sym typeface="Arial"/>
                        </a:rPr>
                        <a:t>High</a:t>
                      </a:r>
                    </a:p>
                  </a:txBody>
                  <a:tcPr anchor="ctr"/>
                </a:tc>
                <a:tc>
                  <a:txBody>
                    <a:bodyPr/>
                    <a:lstStyle/>
                    <a:p>
                      <a:pPr algn="just">
                        <a:buNone/>
                      </a:pPr>
                      <a:r>
                        <a:rPr lang="zh-CN" altLang="en-US" sz="800">
                          <a:latin typeface="Arial Narrow"/>
                          <a:ea typeface="SimHei"/>
                          <a:cs typeface="Arial Narrow"/>
                          <a:sym typeface="Arial Narrow"/>
                        </a:rPr>
                        <a:t>Strictly comply with the relevant compliance procedures of the Ministry of Commerce, the National Development and Reform Commission, the joint-stock company, and the group company; standardize and supervise the bidding activities of cooperating parties to ensure bid compliance.</a:t>
                      </a:r>
                    </a:p>
                  </a:txBody>
                  <a:tcPr anchor="ctr"/>
                </a:tc>
                <a:extLst>
                  <a:ext uri="{0D108BD9-81ED-4DB2-BD59-A6C34878D82A}">
                    <a16:rowId xmlns:a16="http://schemas.microsoft.com/office/drawing/2014/main" val="10002"/>
                  </a:ext>
                </a:extLst>
              </a:tr>
              <a:tr h="1093342">
                <a:tc>
                  <a:txBody>
                    <a:bodyPr/>
                    <a:lstStyle/>
                    <a:p>
                      <a:pPr algn="ctr">
                        <a:buNone/>
                      </a:pPr>
                      <a:r>
                        <a:rPr lang="zh-CN" altLang="en-US" sz="800">
                          <a:latin typeface="Arial"/>
                          <a:ea typeface="SimHei"/>
                          <a:cs typeface="Arial"/>
                          <a:sym typeface="Arial"/>
                        </a:rPr>
                        <a:t>Technical and Environmental Risks</a:t>
                      </a:r>
                    </a:p>
                  </a:txBody>
                  <a:tcPr anchor="ctr"/>
                </a:tc>
                <a:tc>
                  <a:txBody>
                    <a:bodyPr/>
                    <a:lstStyle/>
                    <a:p>
                      <a:pPr algn="just">
                        <a:buNone/>
                      </a:pPr>
                      <a:r>
                        <a:rPr lang="zh-CN" altLang="en-US" sz="800">
                          <a:latin typeface="Arial Narrow"/>
                          <a:ea typeface="SimHei"/>
                          <a:cs typeface="Arial Narrow"/>
                          <a:sym typeface="Arial Narrow"/>
                        </a:rPr>
                        <a:t>This project marks the first municipal infrastructure undertaking in Pakistan to employ pipe-jacking technology. Although this technology is well-established domestically, in Pakistan it may face challenges such as inaccuracies in geological and hydrological data, mismatches between equipment and ground conditions, the protection and relocation of existing utilities, and environmental risks.</a:t>
                      </a:r>
                    </a:p>
                  </a:txBody>
                  <a:tcPr anchor="ctr"/>
                </a:tc>
                <a:tc>
                  <a:txBody>
                    <a:bodyPr/>
                    <a:lstStyle/>
                    <a:p>
                      <a:pPr algn="ctr">
                        <a:buNone/>
                      </a:pPr>
                      <a:r>
                        <a:rPr lang="zh-CN" altLang="en-US" sz="800">
                          <a:latin typeface="Arial"/>
                          <a:ea typeface="SimHei"/>
                          <a:cs typeface="Arial"/>
                          <a:sym typeface="Arial"/>
                        </a:rPr>
                        <a:t>China</a:t>
                      </a:r>
                    </a:p>
                  </a:txBody>
                  <a:tcPr anchor="ctr"/>
                </a:tc>
                <a:tc>
                  <a:txBody>
                    <a:bodyPr/>
                    <a:lstStyle/>
                    <a:p>
                      <a:pPr algn="just">
                        <a:buNone/>
                      </a:pPr>
                      <a:r>
                        <a:rPr lang="en-US" altLang="zh-CN" sz="800">
                          <a:latin typeface="Arial Narrow"/>
                          <a:ea typeface="SimHei"/>
                          <a:cs typeface="Arial Narrow"/>
                          <a:sym typeface="Arial Narrow"/>
                        </a:rPr>
                        <a:t>1. Conduct a thorough review of the geological and hydrological surveys, and supplement with high-density exploration if necessary; 2. Customize key components of the equipment based on the composite strata, stock sufficient spare parts, and ensure proper maintenance; 3. Verify existing underground utilities with the relevant authorities, prepare and submit special protection or relocation plans along with emergency response plans, and carry out construction in designated zones and phases.</a:t>
                      </a:r>
                      <a:endParaRPr lang="zh-CN" altLang="en-US" sz="800">
                        <a:latin typeface="Arial Narrow"/>
                        <a:ea typeface="SimHei"/>
                        <a:cs typeface="Arial Narrow"/>
                        <a:sym typeface="Arial Narrow"/>
                      </a:endParaRPr>
                    </a:p>
                  </a:txBody>
                  <a:tcPr anchor="ctr"/>
                </a:tc>
                <a:extLst>
                  <a:ext uri="{0D108BD9-81ED-4DB2-BD59-A6C34878D82A}">
                    <a16:rowId xmlns:a16="http://schemas.microsoft.com/office/drawing/2014/main" val="10003"/>
                  </a:ext>
                </a:extLst>
              </a:tr>
              <a:tr h="676831">
                <a:tc>
                  <a:txBody>
                    <a:bodyPr/>
                    <a:lstStyle/>
                    <a:p>
                      <a:pPr algn="ctr">
                        <a:buNone/>
                      </a:pPr>
                      <a:r>
                        <a:rPr lang="zh-CN" altLang="en-US" sz="800">
                          <a:latin typeface="Arial"/>
                          <a:ea typeface="SimHei"/>
                          <a:cs typeface="Arial"/>
                          <a:sym typeface="Arial"/>
                        </a:rPr>
                        <a:t>Cost Risk</a:t>
                      </a:r>
                    </a:p>
                  </a:txBody>
                  <a:tcPr anchor="ctr"/>
                </a:tc>
                <a:tc>
                  <a:txBody>
                    <a:bodyPr/>
                    <a:lstStyle/>
                    <a:p>
                      <a:pPr algn="just">
                        <a:buNone/>
                      </a:pPr>
                      <a:r>
                        <a:rPr lang="zh-CN" altLang="en-US" sz="800">
                          <a:latin typeface="Arial Narrow"/>
                          <a:ea typeface="SimHei"/>
                          <a:cs typeface="Arial Narrow"/>
                          <a:sym typeface="Arial Narrow"/>
                        </a:rPr>
                        <a:t>Material price fluctuations and the risks arising therefrom.</a:t>
                      </a:r>
                    </a:p>
                  </a:txBody>
                  <a:tcPr anchor="ctr"/>
                </a:tc>
                <a:tc>
                  <a:txBody>
                    <a:bodyPr/>
                    <a:lstStyle/>
                    <a:p>
                      <a:pPr algn="ctr">
                        <a:buNone/>
                      </a:pPr>
                      <a:r>
                        <a:rPr lang="zh-CN" altLang="en-US" sz="800">
                          <a:latin typeface="Arial"/>
                          <a:ea typeface="SimHei"/>
                          <a:cs typeface="Arial"/>
                          <a:sym typeface="Arial"/>
                        </a:rPr>
                        <a:t>High</a:t>
                      </a:r>
                    </a:p>
                  </a:txBody>
                  <a:tcPr anchor="ctr"/>
                </a:tc>
                <a:tc>
                  <a:txBody>
                    <a:bodyPr/>
                    <a:lstStyle/>
                    <a:p>
                      <a:pPr algn="just">
                        <a:buNone/>
                      </a:pPr>
                      <a:r>
                        <a:rPr lang="en-US" altLang="zh-CN" sz="800">
                          <a:latin typeface="Arial Narrow"/>
                          <a:ea typeface="SimHei"/>
                          <a:cs typeface="Arial Narrow"/>
                          <a:sym typeface="Arial Narrow"/>
                        </a:rPr>
                        <a:t>1. Utilize contractual provisions such as foreign exchange rate adjustments and price escalation clauses to prepare unbalanced bid prices; 2. Optimize the construction organization plan and procurement schedule, ensure safety and quality, and allow for schedule buffers; 3. Leverage change orders and claims to enhance project profitability.</a:t>
                      </a:r>
                      <a:endParaRPr lang="zh-CN" altLang="en-US" sz="800">
                        <a:latin typeface="Arial Narrow"/>
                        <a:ea typeface="SimHei"/>
                        <a:cs typeface="Arial Narrow"/>
                        <a:sym typeface="Arial Narrow"/>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97155" y="539750"/>
            <a:ext cx="3450590" cy="368300"/>
          </a:xfrm>
          <a:prstGeom prst="rect">
            <a:avLst/>
          </a:prstGeom>
          <a:noFill/>
        </p:spPr>
        <p:txBody>
          <a:bodyPr wrap="none" lIns="12700" tIns="12700" rIns="12700" bIns="12700" rtlCol="0">
            <a:noAutofit/>
          </a:bodyPr>
          <a:lstStyle/>
          <a:p>
            <a:pPr algn="l"/>
            <a:r>
              <a:rPr lang="zh-CN" altLang="en-US" sz="1100" b="1" dirty="0">
                <a:latin typeface="Arial" charset="0"/>
                <a:ea typeface="SimHei" charset="0"/>
                <a:cs typeface="Arial" charset="0"/>
                <a:sym typeface="Arial"/>
              </a:rPr>
              <a:t>III. Competition and Risk Analysis</a:t>
            </a:r>
            <a:endParaRPr kumimoji="1" lang="zh-CN" altLang="en-US" sz="1100" b="1" i="0" u="none" strike="noStrike" kern="1200" cap="none" spc="0" normalizeH="0" baseline="0" noProof="0" dirty="0">
              <a:ln>
                <a:noFill/>
              </a:ln>
              <a:solidFill>
                <a:prstClr val="white"/>
              </a:solidFill>
              <a:effectLst/>
              <a:uLnTx/>
              <a:uFillTx/>
              <a:latin typeface="Arial" panose="020B0503020204020204" pitchFamily="34" charset="-122"/>
              <a:ea typeface="SimHei" panose="020B0503020204020204" pitchFamily="34" charset="-122"/>
              <a:cs typeface="Arial"/>
              <a:sym typeface="Arial"/>
            </a:endParaRPr>
          </a:p>
          <a:p>
            <a:endParaRPr lang="zh-CN" altLang="en-US" sz="1100" b="1" dirty="0">
              <a:latin typeface="宋体" charset="0"/>
              <a:ea typeface="宋体" charset="0"/>
              <a:cs typeface="宋体" charset="0"/>
            </a:endParaRPr>
          </a:p>
        </p:txBody>
      </p:sp>
      <p:graphicFrame>
        <p:nvGraphicFramePr>
          <p:cNvPr id="4" name="表格 3"/>
          <p:cNvGraphicFramePr/>
          <p:nvPr>
            <p:extLst>
              <p:ext uri="{D42A27DB-BD31-4B8C-83A1-F6EECF244321}">
                <p14:modId xmlns:p14="http://schemas.microsoft.com/office/powerpoint/2010/main" val="2704852112"/>
              </p:ext>
            </p:extLst>
          </p:nvPr>
        </p:nvGraphicFramePr>
        <p:xfrm>
          <a:off x="342265" y="1109980"/>
          <a:ext cx="8341995" cy="3360420"/>
        </p:xfrm>
        <a:graphic>
          <a:graphicData uri="http://schemas.openxmlformats.org/drawingml/2006/table">
            <a:tbl>
              <a:tblPr firstRow="1" bandRow="1">
                <a:tableStyleId>{5C22544A-7EE6-4342-B048-85BDC9FD1C3A}</a:tableStyleId>
              </a:tblPr>
              <a:tblGrid>
                <a:gridCol w="2780665">
                  <a:extLst>
                    <a:ext uri="{9D8B030D-6E8A-4147-A177-3AD203B41FA5}">
                      <a16:colId xmlns:a16="http://schemas.microsoft.com/office/drawing/2014/main" val="20000"/>
                    </a:ext>
                  </a:extLst>
                </a:gridCol>
                <a:gridCol w="2780665">
                  <a:extLst>
                    <a:ext uri="{9D8B030D-6E8A-4147-A177-3AD203B41FA5}">
                      <a16:colId xmlns:a16="http://schemas.microsoft.com/office/drawing/2014/main" val="20001"/>
                    </a:ext>
                  </a:extLst>
                </a:gridCol>
                <a:gridCol w="2780665">
                  <a:extLst>
                    <a:ext uri="{9D8B030D-6E8A-4147-A177-3AD203B41FA5}">
                      <a16:colId xmlns:a16="http://schemas.microsoft.com/office/drawing/2014/main" val="20002"/>
                    </a:ext>
                  </a:extLst>
                </a:gridCol>
              </a:tblGrid>
              <a:tr h="420754">
                <a:tc>
                  <a:txBody>
                    <a:bodyPr/>
                    <a:lstStyle/>
                    <a:p>
                      <a:pPr algn="ctr">
                        <a:buNone/>
                      </a:pPr>
                      <a:r>
                        <a:rPr lang="zh-CN" altLang="en-US" sz="1010">
                          <a:latin typeface="Arial"/>
                          <a:ea typeface="SimHei"/>
                          <a:cs typeface="Arial"/>
                          <a:sym typeface="Arial"/>
                        </a:rPr>
                        <a:t>Filing Category</a:t>
                      </a:r>
                    </a:p>
                  </a:txBody>
                  <a:tcPr anchor="ctr"/>
                </a:tc>
                <a:tc>
                  <a:txBody>
                    <a:bodyPr/>
                    <a:lstStyle/>
                    <a:p>
                      <a:pPr algn="ctr">
                        <a:buNone/>
                      </a:pPr>
                      <a:r>
                        <a:rPr lang="zh-CN" altLang="en-US" sz="1010">
                          <a:latin typeface="Arial"/>
                          <a:ea typeface="SimHei"/>
                          <a:cs typeface="Arial"/>
                          <a:sym typeface="Arial"/>
                        </a:rPr>
                        <a:t>Current Progress</a:t>
                      </a:r>
                    </a:p>
                  </a:txBody>
                  <a:tcPr anchor="ctr"/>
                </a:tc>
                <a:tc>
                  <a:txBody>
                    <a:bodyPr/>
                    <a:lstStyle/>
                    <a:p>
                      <a:pPr algn="ctr">
                        <a:buNone/>
                      </a:pPr>
                      <a:r>
                        <a:rPr lang="zh-CN" altLang="en-US" sz="1010">
                          <a:latin typeface="Arial"/>
                          <a:ea typeface="SimHei"/>
                          <a:cs typeface="Arial"/>
                          <a:sym typeface="Arial"/>
                        </a:rPr>
                        <a:t>Remarks</a:t>
                      </a:r>
                    </a:p>
                  </a:txBody>
                  <a:tcPr anchor="ctr"/>
                </a:tc>
                <a:extLst>
                  <a:ext uri="{0D108BD9-81ED-4DB2-BD59-A6C34878D82A}">
                    <a16:rowId xmlns:a16="http://schemas.microsoft.com/office/drawing/2014/main" val="10000"/>
                  </a:ext>
                </a:extLst>
              </a:tr>
              <a:tr h="852728">
                <a:tc>
                  <a:txBody>
                    <a:bodyPr/>
                    <a:lstStyle/>
                    <a:p>
                      <a:pPr algn="ctr">
                        <a:buNone/>
                      </a:pPr>
                      <a:r>
                        <a:rPr lang="zh-CN" altLang="en-US" sz="1010">
                          <a:latin typeface="Arial Narrow"/>
                          <a:ea typeface="SimHei"/>
                          <a:cs typeface="Arial Narrow"/>
                          <a:sym typeface="Arial Narrow"/>
                        </a:rPr>
                        <a:t>Support Letter from the Commercial Section</a:t>
                      </a:r>
                    </a:p>
                  </a:txBody>
                  <a:tcPr anchor="ctr"/>
                </a:tc>
                <a:tc>
                  <a:txBody>
                    <a:bodyPr/>
                    <a:lstStyle/>
                    <a:p>
                      <a:pPr algn="ctr">
                        <a:buNone/>
                      </a:pPr>
                      <a:r>
                        <a:rPr lang="zh-CN" altLang="en-US" sz="1010">
                          <a:latin typeface="Arial"/>
                          <a:ea typeface="SimHei"/>
                          <a:cs typeface="Arial"/>
                          <a:sym typeface="Arial"/>
                        </a:rPr>
                        <a:t>Completed</a:t>
                      </a:r>
                    </a:p>
                  </a:txBody>
                  <a:tcPr anchor="ctr"/>
                </a:tc>
                <a:tc>
                  <a:txBody>
                    <a:bodyPr/>
                    <a:lstStyle/>
                    <a:p>
                      <a:pPr algn="just">
                        <a:buNone/>
                      </a:pPr>
                      <a:r>
                        <a:rPr lang="en-US" altLang="zh-CN" sz="1010">
                          <a:latin typeface="Arial Narrow"/>
                          <a:ea typeface="SimHei"/>
                          <a:cs typeface="Arial Narrow"/>
                          <a:sym typeface="Arial Narrow"/>
                        </a:rPr>
                        <a:t>10 On the 24th of the month, an application was submitted to the Commercial Section. 11 Received the letter of support on the 30th of the month.</a:t>
                      </a:r>
                      <a:endParaRPr lang="zh-CN" altLang="en-US" sz="1010">
                        <a:latin typeface="Arial Narrow"/>
                        <a:ea typeface="SimHei"/>
                        <a:cs typeface="Arial Narrow"/>
                        <a:sym typeface="Arial Narrow"/>
                      </a:endParaRPr>
                    </a:p>
                  </a:txBody>
                  <a:tcPr anchor="ctr"/>
                </a:tc>
                <a:extLst>
                  <a:ext uri="{0D108BD9-81ED-4DB2-BD59-A6C34878D82A}">
                    <a16:rowId xmlns:a16="http://schemas.microsoft.com/office/drawing/2014/main" val="10001"/>
                  </a:ext>
                </a:extLst>
              </a:tr>
              <a:tr h="695646">
                <a:tc>
                  <a:txBody>
                    <a:bodyPr/>
                    <a:lstStyle/>
                    <a:p>
                      <a:pPr algn="ctr">
                        <a:buNone/>
                      </a:pPr>
                      <a:r>
                        <a:rPr lang="zh-CN" altLang="en-US" sz="1010">
                          <a:latin typeface="Arial"/>
                          <a:ea typeface="SimHei"/>
                          <a:cs typeface="Arial"/>
                          <a:sym typeface="Arial"/>
                        </a:rPr>
                        <a:t>Shareholding Company Filing</a:t>
                      </a:r>
                    </a:p>
                  </a:txBody>
                  <a:tcPr anchor="ctr"/>
                </a:tc>
                <a:tc>
                  <a:txBody>
                    <a:bodyPr/>
                    <a:lstStyle/>
                    <a:p>
                      <a:pPr algn="ctr">
                        <a:buNone/>
                      </a:pPr>
                      <a:r>
                        <a:rPr lang="zh-CN" altLang="en-US" sz="1010">
                          <a:latin typeface="Arial"/>
                          <a:ea typeface="SimHei"/>
                          <a:cs typeface="Arial"/>
                          <a:sym typeface="Arial"/>
                        </a:rPr>
                        <a:t>Submitted and under review.</a:t>
                      </a:r>
                    </a:p>
                  </a:txBody>
                  <a:tcPr anchor="ctr"/>
                </a:tc>
                <a:tc>
                  <a:txBody>
                    <a:bodyPr/>
                    <a:lstStyle/>
                    <a:p>
                      <a:pPr algn="just">
                        <a:buNone/>
                      </a:pPr>
                      <a:r>
                        <a:rPr lang="zh-CN" altLang="en-US" sz="1010">
                          <a:latin typeface="Arial Narrow"/>
                          <a:ea typeface="SimHei"/>
                          <a:cs typeface="Arial Narrow"/>
                          <a:sym typeface="Arial Narrow"/>
                        </a:rPr>
                        <a:t>The initial registration was rejected; after obtaining a letter of support, a second registration application was submitted.</a:t>
                      </a:r>
                    </a:p>
                  </a:txBody>
                  <a:tcPr anchor="ctr"/>
                </a:tc>
                <a:extLst>
                  <a:ext uri="{0D108BD9-81ED-4DB2-BD59-A6C34878D82A}">
                    <a16:rowId xmlns:a16="http://schemas.microsoft.com/office/drawing/2014/main" val="10002"/>
                  </a:ext>
                </a:extLst>
              </a:tr>
              <a:tr h="852728">
                <a:tc>
                  <a:txBody>
                    <a:bodyPr/>
                    <a:lstStyle/>
                    <a:p>
                      <a:pPr algn="ctr">
                        <a:buNone/>
                      </a:pPr>
                      <a:r>
                        <a:rPr lang="zh-CN" altLang="en-US" sz="1010">
                          <a:latin typeface="Arial"/>
                          <a:ea typeface="SimHei"/>
                          <a:cs typeface="Arial"/>
                          <a:sym typeface="Arial"/>
                        </a:rPr>
                        <a:t>Ministry of Commerce Filing</a:t>
                      </a:r>
                    </a:p>
                  </a:txBody>
                  <a:tcPr anchor="ctr"/>
                </a:tc>
                <a:tc>
                  <a:txBody>
                    <a:bodyPr/>
                    <a:lstStyle/>
                    <a:p>
                      <a:pPr algn="ctr">
                        <a:buNone/>
                      </a:pPr>
                      <a:r>
                        <a:rPr lang="zh-CN" altLang="en-US" sz="1010">
                          <a:sym typeface="Arial"/>
                        </a:rPr>
                        <a:t>Submitted and under review.</a:t>
                      </a:r>
                    </a:p>
                  </a:txBody>
                  <a:tcPr anchor="ctr"/>
                </a:tc>
                <a:tc>
                  <a:txBody>
                    <a:bodyPr/>
                    <a:lstStyle/>
                    <a:p>
                      <a:pPr algn="just">
                        <a:buNone/>
                      </a:pPr>
                      <a:r>
                        <a:rPr lang="en-US" altLang="zh-CN" sz="1010">
                          <a:latin typeface="Arial Narrow"/>
                          <a:ea typeface="SimHei"/>
                          <a:cs typeface="Arial Narrow"/>
                          <a:sym typeface="Arial Narrow"/>
                        </a:rPr>
                        <a:t>12 Filed for record on the 1st of the month, 12 On the 5th and 17th of the month, supplementary supporting materials were submitted as requested by the Ministry of Commerce.</a:t>
                      </a:r>
                      <a:endParaRPr lang="zh-CN" altLang="en-US" sz="1010">
                        <a:latin typeface="Arial Narrow"/>
                        <a:ea typeface="SimHei"/>
                        <a:cs typeface="Arial Narrow"/>
                        <a:sym typeface="Arial Narrow"/>
                      </a:endParaRPr>
                    </a:p>
                  </a:txBody>
                  <a:tcPr anchor="ctr"/>
                </a:tc>
                <a:extLst>
                  <a:ext uri="{0D108BD9-81ED-4DB2-BD59-A6C34878D82A}">
                    <a16:rowId xmlns:a16="http://schemas.microsoft.com/office/drawing/2014/main" val="10003"/>
                  </a:ext>
                </a:extLst>
              </a:tr>
              <a:tr h="538565">
                <a:tc>
                  <a:txBody>
                    <a:bodyPr/>
                    <a:lstStyle/>
                    <a:p>
                      <a:pPr algn="ctr">
                        <a:buNone/>
                      </a:pPr>
                      <a:r>
                        <a:rPr lang="zh-CN" altLang="en-US" sz="1010">
                          <a:latin typeface="Arial"/>
                          <a:ea typeface="SimHei"/>
                          <a:cs typeface="Arial"/>
                          <a:sym typeface="Arial"/>
                        </a:rPr>
                        <a:t>NDRC filing</a:t>
                      </a:r>
                    </a:p>
                  </a:txBody>
                  <a:tcPr anchor="ctr"/>
                </a:tc>
                <a:tc>
                  <a:txBody>
                    <a:bodyPr/>
                    <a:lstStyle/>
                    <a:p>
                      <a:pPr algn="ctr">
                        <a:buNone/>
                      </a:pPr>
                      <a:r>
                        <a:rPr lang="zh-CN" altLang="en-US" sz="1010">
                          <a:latin typeface="Arial"/>
                          <a:ea typeface="SimHei"/>
                          <a:cs typeface="Arial"/>
                          <a:sym typeface="Arial"/>
                        </a:rPr>
                        <a:t>Filed and registered</a:t>
                      </a:r>
                    </a:p>
                  </a:txBody>
                  <a:tcPr anchor="ctr"/>
                </a:tc>
                <a:tc>
                  <a:txBody>
                    <a:bodyPr/>
                    <a:lstStyle/>
                    <a:p>
                      <a:pPr algn="just">
                        <a:buNone/>
                      </a:pPr>
                      <a:r>
                        <a:rPr lang="zh-CN" altLang="en-US" sz="1010">
                          <a:latin typeface="Arial Narrow"/>
                          <a:ea typeface="SimHei"/>
                          <a:cs typeface="Arial Narrow"/>
                          <a:sym typeface="Arial Narrow"/>
                        </a:rPr>
                        <a:t>As a project with a contract value exceeding USD 100 million, it shall be filed as required.</a:t>
                      </a:r>
                    </a:p>
                  </a:txBody>
                  <a:tcPr anchor="ct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îşḻîḋê"/>
          <p:cNvSpPr txBox="1"/>
          <p:nvPr/>
        </p:nvSpPr>
        <p:spPr>
          <a:xfrm>
            <a:off x="2490470" y="1757680"/>
            <a:ext cx="4163060" cy="3385820"/>
          </a:xfrm>
          <a:prstGeom prst="rect">
            <a:avLst/>
          </a:prstGeom>
        </p:spPr>
        <p:txBody>
          <a:bodyPr vert="horz" lIns="12700" tIns="12700" rIns="12700" bIns="12700" rtlCol="0" anchor="ctr" anchorCtr="0">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ctr">
              <a:lnSpc>
                <a:spcPct val="135000"/>
              </a:lnSpc>
            </a:pPr>
            <a:r>
              <a:rPr lang="zh-CN" altLang="en-US" sz="2970" spc="-5" dirty="0">
                <a:solidFill>
                  <a:srgbClr val="015BAC"/>
                </a:solidFill>
                <a:latin typeface="Arial Narrow" panose="020B0606020202030204" pitchFamily="34" charset="0"/>
                <a:ea typeface="SimHei"/>
                <a:cs typeface="Arial"/>
                <a:sym typeface="Arial"/>
              </a:rPr>
              <a:t>Thank you for listening.</a:t>
            </a:r>
          </a:p>
          <a:p>
            <a:pPr algn="ctr">
              <a:lnSpc>
                <a:spcPct val="135000"/>
              </a:lnSpc>
            </a:pPr>
            <a:r>
              <a:rPr lang="zh-CN" altLang="en-US" sz="2970" dirty="0">
                <a:solidFill>
                  <a:srgbClr val="015BAC"/>
                </a:solidFill>
                <a:latin typeface="Arial Narrow" panose="020B0606020202030204" pitchFamily="34" charset="0"/>
                <a:ea typeface="SimHei"/>
                <a:cs typeface="Arial"/>
                <a:sym typeface="Arial"/>
              </a:rPr>
              <a:t>Please kindly provide your instructions.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220*285"/>
  <p:tag name="TABLE_ENDDRAG_RECT" val="7*71*220*285"/>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10489</Words>
  <Application>Microsoft Office PowerPoint</Application>
  <PresentationFormat>全屏显示(16:9)</PresentationFormat>
  <Paragraphs>226</Paragraphs>
  <Slides>19</Slides>
  <Notes>0</Notes>
  <HiddenSlides>1</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19</vt:i4>
      </vt:variant>
    </vt:vector>
  </HeadingPairs>
  <TitlesOfParts>
    <vt:vector size="26" baseType="lpstr">
      <vt:lpstr>仿宋</vt:lpstr>
      <vt:lpstr>宋体</vt:lpstr>
      <vt:lpstr>Arial</vt:lpstr>
      <vt:lpstr>Arial Narrow</vt:lpstr>
      <vt:lpstr>Calibri</vt:lpstr>
      <vt:lpstr>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topduty</dc:creator>
  <cp:lastModifiedBy>e51723</cp:lastModifiedBy>
  <cp:revision>67</cp:revision>
  <dcterms:created xsi:type="dcterms:W3CDTF">2026-01-23T06:38:52Z</dcterms:created>
  <dcterms:modified xsi:type="dcterms:W3CDTF">2026-09-10T03:49:29Z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79056BFE2A2F2D1951F84C63E91F4247</vt:lpwstr>
  </property>
</Properties>
</file>