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23"/>
  </p:notesMasterIdLst>
  <p:sldIdLst>
    <p:sldId id="263" r:id="rId4"/>
    <p:sldId id="275" r:id="rId5"/>
    <p:sldId id="282" r:id="rId6"/>
    <p:sldId id="260" r:id="rId7"/>
    <p:sldId id="364" r:id="rId8"/>
    <p:sldId id="360" r:id="rId9"/>
    <p:sldId id="361" r:id="rId10"/>
    <p:sldId id="362" r:id="rId11"/>
    <p:sldId id="363" r:id="rId12"/>
    <p:sldId id="283" r:id="rId13"/>
    <p:sldId id="365" r:id="rId14"/>
    <p:sldId id="366" r:id="rId15"/>
    <p:sldId id="367" r:id="rId16"/>
    <p:sldId id="371" r:id="rId17"/>
    <p:sldId id="313" r:id="rId18"/>
    <p:sldId id="368" r:id="rId19"/>
    <p:sldId id="369" r:id="rId20"/>
    <p:sldId id="372" r:id="rId21"/>
    <p:sldId id="370" r:id="rId2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3" userDrawn="1">
          <p15:clr>
            <a:srgbClr val="A4A3A4"/>
          </p15:clr>
        </p15:guide>
        <p15:guide id="2" pos="2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06" y="38"/>
      </p:cViewPr>
      <p:guideLst>
        <p:guide orient="horz" pos="1623"/>
        <p:guide pos="28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4"/>
        <p:guide pos="209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7B7EB4-10DF-45A7-A402-565BD51F9B67}" type="doc">
      <dgm:prSet loTypeId="urn:microsoft.com/office/officeart/2005/8/layout/list1#1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2C39741B-25E8-470F-B50D-640C5B1CEC0C}">
      <dgm:prSet phldr="0" custT="1"/>
      <dgm:spPr/>
      <dgm:t>
        <a:bodyPr vert="horz" wrap="square"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/>
            <a:t>（一）</a:t>
          </a:r>
          <a:r>
            <a:rPr lang="zh-CN" altLang="en-US" sz="1800" b="1" dirty="0"/>
            <a:t>项目</a:t>
          </a:r>
          <a:r>
            <a:rPr lang="zh-CN" altLang="en-US" sz="1800" b="1" dirty="0"/>
            <a:t>介绍</a:t>
          </a:r>
          <a:r>
            <a:rPr lang="zh-CN" altLang="en-US" sz="1800" b="1" dirty="0"/>
            <a:t/>
          </a:r>
          <a:endParaRPr lang="zh-CN" altLang="en-US" sz="1800" b="1" dirty="0"/>
        </a:p>
      </dgm:t>
    </dgm:pt>
    <dgm:pt modelId="{CDFF6A37-A04F-4BDA-9C35-7EA6F69A585A}" cxnId="{DA562DEB-B537-4E53-9510-DD2D941E6295}" type="parTrans">
      <dgm:prSet/>
      <dgm:spPr/>
      <dgm:t>
        <a:bodyPr/>
        <a:lstStyle/>
        <a:p>
          <a:endParaRPr lang="zh-CN" altLang="en-US"/>
        </a:p>
      </dgm:t>
    </dgm:pt>
    <dgm:pt modelId="{85680420-EB13-44CF-8AE0-782EA68EA2FB}" cxnId="{DA562DEB-B537-4E53-9510-DD2D941E6295}" type="sibTrans">
      <dgm:prSet/>
      <dgm:spPr/>
      <dgm:t>
        <a:bodyPr/>
        <a:lstStyle/>
        <a:p>
          <a:endParaRPr lang="zh-CN" altLang="en-US"/>
        </a:p>
      </dgm:t>
    </dgm:pt>
    <dgm:pt modelId="{4A1711A8-55BA-45E3-AD66-4E12C0DE1D7F}">
      <dgm:prSet phldr="0" custT="1"/>
      <dgm:spPr/>
      <dgm:t>
        <a:bodyPr vert="horz" wrap="square"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/>
            <a:t>（</a:t>
          </a:r>
          <a:r>
            <a:rPr lang="zh-CN" altLang="en-US" sz="1800" b="1" dirty="0"/>
            <a:t>二</a:t>
          </a:r>
          <a:r>
            <a:rPr lang="zh-CN" sz="1800" b="1" dirty="0"/>
            <a:t>）</a:t>
          </a:r>
          <a:r>
            <a:rPr lang="zh-CN" sz="1800" b="1" dirty="0">
              <a:sym typeface="+mn-ea"/>
            </a:rPr>
            <a:t>评标规则</a:t>
          </a:r>
          <a:r>
            <a:rPr lang="zh-CN" sz="1800" b="1" dirty="0">
              <a:sym typeface="+mn-ea"/>
            </a:rPr>
            <a:t>与</a:t>
          </a:r>
          <a:r>
            <a:rPr lang="zh-CN" sz="1800" b="1" dirty="0"/>
            <a:t>投标</a:t>
          </a:r>
          <a:r>
            <a:rPr lang="zh-CN" sz="1800" b="1" dirty="0"/>
            <a:t>组织</a:t>
          </a:r>
          <a:endParaRPr lang="zh-CN" sz="1800" b="1" dirty="0"/>
        </a:p>
      </dgm:t>
    </dgm:pt>
    <dgm:pt modelId="{D01911FD-E78D-4905-AE84-A952DC4FDB8C}" cxnId="{736DD24E-74E6-4220-9CC9-25BE1E11B2D4}" type="parTrans">
      <dgm:prSet/>
      <dgm:spPr/>
      <dgm:t>
        <a:bodyPr/>
        <a:lstStyle/>
        <a:p>
          <a:endParaRPr lang="zh-CN" altLang="en-US"/>
        </a:p>
      </dgm:t>
    </dgm:pt>
    <dgm:pt modelId="{E69EA44D-985C-43C6-8BCD-16ADB89B4758}" cxnId="{736DD24E-74E6-4220-9CC9-25BE1E11B2D4}" type="sibTrans">
      <dgm:prSet/>
      <dgm:spPr/>
      <dgm:t>
        <a:bodyPr/>
        <a:lstStyle/>
        <a:p>
          <a:endParaRPr lang="zh-CN" altLang="en-US"/>
        </a:p>
      </dgm:t>
    </dgm:pt>
    <dgm:pt modelId="{6DD90F3D-FA57-45CC-8097-C84E0FA265CA}">
      <dgm:prSet phldr="0" custT="1"/>
      <dgm:spPr/>
      <dgm:t>
        <a:bodyPr vert="horz" wrap="square"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/>
            <a:t>（</a:t>
          </a:r>
          <a:r>
            <a:rPr lang="zh-CN" altLang="en-US" sz="1800" b="1" dirty="0"/>
            <a:t>三</a:t>
          </a:r>
          <a:r>
            <a:rPr lang="zh-CN" sz="1800" b="1" dirty="0"/>
            <a:t>）</a:t>
          </a:r>
          <a:r>
            <a:rPr lang="zh-CN" sz="1800" b="1" dirty="0"/>
            <a:t>竞争</a:t>
          </a:r>
          <a:r>
            <a:rPr lang="zh-CN" sz="1800" b="1" dirty="0"/>
            <a:t>与</a:t>
          </a:r>
          <a:r>
            <a:rPr lang="zh-CN" sz="1800" b="1" dirty="0"/>
            <a:t>风险分析</a:t>
          </a:r>
          <a:r>
            <a:rPr lang="zh-CN" sz="1800" b="1" dirty="0"/>
            <a:t/>
          </a:r>
          <a:endParaRPr lang="zh-CN" sz="1800" b="1" dirty="0"/>
        </a:p>
      </dgm:t>
    </dgm:pt>
    <dgm:pt modelId="{52787310-ACFC-4806-85DD-AF4AEDB450BE}" cxnId="{6639B92C-DFBB-4C67-BBAB-97176951889B}" type="parTrans">
      <dgm:prSet/>
      <dgm:spPr/>
      <dgm:t>
        <a:bodyPr/>
        <a:lstStyle/>
        <a:p>
          <a:endParaRPr lang="zh-CN" altLang="en-US"/>
        </a:p>
      </dgm:t>
    </dgm:pt>
    <dgm:pt modelId="{5D3236B7-6796-422E-9880-E179A263D348}" cxnId="{6639B92C-DFBB-4C67-BBAB-97176951889B}" type="sibTrans">
      <dgm:prSet/>
      <dgm:spPr/>
      <dgm:t>
        <a:bodyPr/>
        <a:lstStyle/>
        <a:p>
          <a:endParaRPr lang="zh-CN" altLang="en-US"/>
        </a:p>
      </dgm:t>
    </dgm:pt>
    <dgm:pt modelId="{05FE66B2-B5FD-45A1-8AFE-820A095D28CA}" type="pres">
      <dgm:prSet presAssocID="{0A7B7EB4-10DF-45A7-A402-565BD51F9B67}" presName="linear" presStyleCnt="0">
        <dgm:presLayoutVars>
          <dgm:dir/>
          <dgm:animLvl val="lvl"/>
          <dgm:resizeHandles val="exact"/>
        </dgm:presLayoutVars>
      </dgm:prSet>
      <dgm:spPr/>
    </dgm:pt>
    <dgm:pt modelId="{9B3850B9-374B-42A7-B791-BE6D706A568E}" type="pres">
      <dgm:prSet presAssocID="{2C39741B-25E8-470F-B50D-640C5B1CEC0C}" presName="parentLin" presStyleCnt="0"/>
      <dgm:spPr/>
    </dgm:pt>
    <dgm:pt modelId="{67228E6A-7A45-4175-A8DE-2D26EA40E46D}" type="pres">
      <dgm:prSet presAssocID="{2C39741B-25E8-470F-B50D-640C5B1CEC0C}" presName="parentLeftMargin" presStyleCnt="0"/>
      <dgm:spPr/>
    </dgm:pt>
    <dgm:pt modelId="{34AD5942-41A4-4691-A143-B88CC0CD3BAC}" type="pres">
      <dgm:prSet presAssocID="{2C39741B-25E8-470F-B50D-640C5B1CEC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5563EF-6927-497B-ADAF-3184FC54FC08}" type="pres">
      <dgm:prSet presAssocID="{2C39741B-25E8-470F-B50D-640C5B1CEC0C}" presName="negativeSpace" presStyleCnt="0"/>
      <dgm:spPr/>
    </dgm:pt>
    <dgm:pt modelId="{CAE10567-CE09-44AC-8E8F-C5B9F21AC231}" type="pres">
      <dgm:prSet presAssocID="{2C39741B-25E8-470F-B50D-640C5B1CEC0C}" presName="childText" presStyleLbl="conFgAcc1" presStyleIdx="0" presStyleCnt="3">
        <dgm:presLayoutVars>
          <dgm:bulletEnabled val="1"/>
        </dgm:presLayoutVars>
      </dgm:prSet>
      <dgm:spPr/>
    </dgm:pt>
    <dgm:pt modelId="{74E33908-6A2D-4900-A71E-E9F326ACCB17}" type="pres">
      <dgm:prSet presAssocID="{85680420-EB13-44CF-8AE0-782EA68EA2FB}" presName="spaceBetweenRectangles" presStyleCnt="0"/>
      <dgm:spPr/>
    </dgm:pt>
    <dgm:pt modelId="{4BD7A068-C0B5-4B66-A1C5-959FAFA94ECA}" type="pres">
      <dgm:prSet presAssocID="{4A1711A8-55BA-45E3-AD66-4E12C0DE1D7F}" presName="parentLin" presStyleCnt="0"/>
      <dgm:spPr/>
    </dgm:pt>
    <dgm:pt modelId="{ADC5E9BF-D191-44B2-8AFE-874D2F110781}" type="pres">
      <dgm:prSet presAssocID="{4A1711A8-55BA-45E3-AD66-4E12C0DE1D7F}" presName="parentLeftMargin" presStyleCnt="0"/>
      <dgm:spPr/>
    </dgm:pt>
    <dgm:pt modelId="{AABCF39E-33B0-4101-BB8E-E90D5ABED560}" type="pres">
      <dgm:prSet presAssocID="{4A1711A8-55BA-45E3-AD66-4E12C0DE1D7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AAB2740-A124-4503-AA17-E65C1FF7ADFC}" type="pres">
      <dgm:prSet presAssocID="{4A1711A8-55BA-45E3-AD66-4E12C0DE1D7F}" presName="negativeSpace" presStyleCnt="0"/>
      <dgm:spPr/>
    </dgm:pt>
    <dgm:pt modelId="{35F1A7BB-5848-4134-834D-A95E69AAE32F}" type="pres">
      <dgm:prSet presAssocID="{4A1711A8-55BA-45E3-AD66-4E12C0DE1D7F}" presName="childText" presStyleLbl="conFgAcc1" presStyleIdx="1" presStyleCnt="3">
        <dgm:presLayoutVars>
          <dgm:bulletEnabled val="1"/>
        </dgm:presLayoutVars>
      </dgm:prSet>
      <dgm:spPr/>
    </dgm:pt>
    <dgm:pt modelId="{4124E96A-AA91-4578-8EA3-32B415756EF3}" type="pres">
      <dgm:prSet presAssocID="{E69EA44D-985C-43C6-8BCD-16ADB89B4758}" presName="spaceBetweenRectangles" presStyleCnt="0"/>
      <dgm:spPr/>
    </dgm:pt>
    <dgm:pt modelId="{DB289762-6268-48D9-95BE-9DBBA274EC37}" type="pres">
      <dgm:prSet presAssocID="{6DD90F3D-FA57-45CC-8097-C84E0FA265CA}" presName="parentLin" presStyleCnt="0"/>
      <dgm:spPr/>
    </dgm:pt>
    <dgm:pt modelId="{2EA9F202-9A91-4577-94DC-6F606EF7D86F}" type="pres">
      <dgm:prSet presAssocID="{6DD90F3D-FA57-45CC-8097-C84E0FA265CA}" presName="parentLeftMargin" presStyleCnt="0"/>
      <dgm:spPr/>
    </dgm:pt>
    <dgm:pt modelId="{842F7237-80AB-4CBE-A86A-099502AC5B28}" type="pres">
      <dgm:prSet presAssocID="{6DD90F3D-FA57-45CC-8097-C84E0FA265C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7E3A75A-B477-4D36-8ED8-F96426A65490}" type="pres">
      <dgm:prSet presAssocID="{6DD90F3D-FA57-45CC-8097-C84E0FA265CA}" presName="negativeSpace" presStyleCnt="0"/>
      <dgm:spPr/>
    </dgm:pt>
    <dgm:pt modelId="{3137EA89-BF5A-44F6-9E6D-2E892534E866}" type="pres">
      <dgm:prSet presAssocID="{6DD90F3D-FA57-45CC-8097-C84E0FA265C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A562DEB-B537-4E53-9510-DD2D941E6295}" srcId="{0A7B7EB4-10DF-45A7-A402-565BD51F9B67}" destId="{2C39741B-25E8-470F-B50D-640C5B1CEC0C}" srcOrd="0" destOrd="0" parTransId="{CDFF6A37-A04F-4BDA-9C35-7EA6F69A585A}" sibTransId="{85680420-EB13-44CF-8AE0-782EA68EA2FB}"/>
    <dgm:cxn modelId="{736DD24E-74E6-4220-9CC9-25BE1E11B2D4}" srcId="{0A7B7EB4-10DF-45A7-A402-565BD51F9B67}" destId="{4A1711A8-55BA-45E3-AD66-4E12C0DE1D7F}" srcOrd="1" destOrd="0" parTransId="{D01911FD-E78D-4905-AE84-A952DC4FDB8C}" sibTransId="{E69EA44D-985C-43C6-8BCD-16ADB89B4758}"/>
    <dgm:cxn modelId="{6639B92C-DFBB-4C67-BBAB-97176951889B}" srcId="{0A7B7EB4-10DF-45A7-A402-565BD51F9B67}" destId="{6DD90F3D-FA57-45CC-8097-C84E0FA265CA}" srcOrd="2" destOrd="0" parTransId="{52787310-ACFC-4806-85DD-AF4AEDB450BE}" sibTransId="{5D3236B7-6796-422E-9880-E179A263D348}"/>
    <dgm:cxn modelId="{EB071227-0566-4A43-8320-6402A12AEC18}" type="presOf" srcId="{0A7B7EB4-10DF-45A7-A402-565BD51F9B67}" destId="{05FE66B2-B5FD-45A1-8AFE-820A095D28CA}" srcOrd="0" destOrd="0" presId="urn:microsoft.com/office/officeart/2005/8/layout/list1#1"/>
    <dgm:cxn modelId="{B455B776-B82A-4F1B-89B8-EE0DA9A4A477}" type="presParOf" srcId="{05FE66B2-B5FD-45A1-8AFE-820A095D28CA}" destId="{9B3850B9-374B-42A7-B791-BE6D706A568E}" srcOrd="0" destOrd="0" presId="urn:microsoft.com/office/officeart/2005/8/layout/list1#1"/>
    <dgm:cxn modelId="{7D31DC0E-7B32-4C6E-9BEE-960AAC0E44B3}" type="presParOf" srcId="{9B3850B9-374B-42A7-B791-BE6D706A568E}" destId="{67228E6A-7A45-4175-A8DE-2D26EA40E46D}" srcOrd="0" destOrd="0" presId="urn:microsoft.com/office/officeart/2005/8/layout/list1#1"/>
    <dgm:cxn modelId="{198256CF-E225-4D45-A7D7-51FCD6A566D0}" type="presOf" srcId="{2C39741B-25E8-470F-B50D-640C5B1CEC0C}" destId="{67228E6A-7A45-4175-A8DE-2D26EA40E46D}" srcOrd="0" destOrd="0" presId="urn:microsoft.com/office/officeart/2005/8/layout/list1#1"/>
    <dgm:cxn modelId="{6B5268DE-46BE-4D00-A4C6-89F17DA45D45}" type="presParOf" srcId="{9B3850B9-374B-42A7-B791-BE6D706A568E}" destId="{34AD5942-41A4-4691-A143-B88CC0CD3BAC}" srcOrd="1" destOrd="0" presId="urn:microsoft.com/office/officeart/2005/8/layout/list1#1"/>
    <dgm:cxn modelId="{5A8A2DCA-4767-4923-BC8B-F5CB2E73AD9D}" type="presOf" srcId="{2C39741B-25E8-470F-B50D-640C5B1CEC0C}" destId="{34AD5942-41A4-4691-A143-B88CC0CD3BAC}" srcOrd="0" destOrd="0" presId="urn:microsoft.com/office/officeart/2005/8/layout/list1#1"/>
    <dgm:cxn modelId="{B4A67BBD-BF2A-43A8-AC4F-F0BB413A5C2B}" type="presParOf" srcId="{05FE66B2-B5FD-45A1-8AFE-820A095D28CA}" destId="{765563EF-6927-497B-ADAF-3184FC54FC08}" srcOrd="1" destOrd="0" presId="urn:microsoft.com/office/officeart/2005/8/layout/list1#1"/>
    <dgm:cxn modelId="{39A8345E-E725-4611-8567-AE8575812EDA}" type="presParOf" srcId="{05FE66B2-B5FD-45A1-8AFE-820A095D28CA}" destId="{CAE10567-CE09-44AC-8E8F-C5B9F21AC231}" srcOrd="2" destOrd="0" presId="urn:microsoft.com/office/officeart/2005/8/layout/list1#1"/>
    <dgm:cxn modelId="{0D16DDC7-670B-4234-9B39-7009E67A9C4D}" type="presParOf" srcId="{05FE66B2-B5FD-45A1-8AFE-820A095D28CA}" destId="{74E33908-6A2D-4900-A71E-E9F326ACCB17}" srcOrd="3" destOrd="0" presId="urn:microsoft.com/office/officeart/2005/8/layout/list1#1"/>
    <dgm:cxn modelId="{ABE6060E-13E1-4E0E-8BFC-F0EFCD161562}" type="presParOf" srcId="{05FE66B2-B5FD-45A1-8AFE-820A095D28CA}" destId="{4BD7A068-C0B5-4B66-A1C5-959FAFA94ECA}" srcOrd="4" destOrd="0" presId="urn:microsoft.com/office/officeart/2005/8/layout/list1#1"/>
    <dgm:cxn modelId="{CA56A750-116C-478F-9B49-BBE3D7BA208C}" type="presParOf" srcId="{4BD7A068-C0B5-4B66-A1C5-959FAFA94ECA}" destId="{ADC5E9BF-D191-44B2-8AFE-874D2F110781}" srcOrd="0" destOrd="4" presId="urn:microsoft.com/office/officeart/2005/8/layout/list1#1"/>
    <dgm:cxn modelId="{79068F9C-CD47-4627-B605-603CDC8FB6D3}" type="presOf" srcId="{4A1711A8-55BA-45E3-AD66-4E12C0DE1D7F}" destId="{ADC5E9BF-D191-44B2-8AFE-874D2F110781}" srcOrd="0" destOrd="0" presId="urn:microsoft.com/office/officeart/2005/8/layout/list1#1"/>
    <dgm:cxn modelId="{28B1A6EF-1E47-4DE2-9FFF-9EB8C7B88BCF}" type="presParOf" srcId="{4BD7A068-C0B5-4B66-A1C5-959FAFA94ECA}" destId="{AABCF39E-33B0-4101-BB8E-E90D5ABED560}" srcOrd="1" destOrd="4" presId="urn:microsoft.com/office/officeart/2005/8/layout/list1#1"/>
    <dgm:cxn modelId="{2CBF041E-7FF3-42E4-9AF4-C76D5BC18BDB}" type="presOf" srcId="{4A1711A8-55BA-45E3-AD66-4E12C0DE1D7F}" destId="{AABCF39E-33B0-4101-BB8E-E90D5ABED560}" srcOrd="0" destOrd="0" presId="urn:microsoft.com/office/officeart/2005/8/layout/list1#1"/>
    <dgm:cxn modelId="{C90CEDFB-0454-4A25-AEE6-EBD38212CA77}" type="presParOf" srcId="{05FE66B2-B5FD-45A1-8AFE-820A095D28CA}" destId="{AAAB2740-A124-4503-AA17-E65C1FF7ADFC}" srcOrd="5" destOrd="0" presId="urn:microsoft.com/office/officeart/2005/8/layout/list1#1"/>
    <dgm:cxn modelId="{DBB5FE4E-C8CA-41DE-AAA8-5542656C1C1A}" type="presParOf" srcId="{05FE66B2-B5FD-45A1-8AFE-820A095D28CA}" destId="{35F1A7BB-5848-4134-834D-A95E69AAE32F}" srcOrd="6" destOrd="0" presId="urn:microsoft.com/office/officeart/2005/8/layout/list1#1"/>
    <dgm:cxn modelId="{3F2E3554-55D5-41BE-B805-0F90EE08880C}" type="presParOf" srcId="{05FE66B2-B5FD-45A1-8AFE-820A095D28CA}" destId="{4124E96A-AA91-4578-8EA3-32B415756EF3}" srcOrd="7" destOrd="0" presId="urn:microsoft.com/office/officeart/2005/8/layout/list1#1"/>
    <dgm:cxn modelId="{1DF42F09-686B-41FE-B41E-678D414B1233}" type="presParOf" srcId="{05FE66B2-B5FD-45A1-8AFE-820A095D28CA}" destId="{DB289762-6268-48D9-95BE-9DBBA274EC37}" srcOrd="8" destOrd="0" presId="urn:microsoft.com/office/officeart/2005/8/layout/list1#1"/>
    <dgm:cxn modelId="{C453B031-C95C-41EC-A1CD-D3A0544E9024}" type="presParOf" srcId="{DB289762-6268-48D9-95BE-9DBBA274EC37}" destId="{2EA9F202-9A91-4577-94DC-6F606EF7D86F}" srcOrd="0" destOrd="8" presId="urn:microsoft.com/office/officeart/2005/8/layout/list1#1"/>
    <dgm:cxn modelId="{AFFE030C-BA99-473F-BAD5-6309364DE6C5}" type="presOf" srcId="{6DD90F3D-FA57-45CC-8097-C84E0FA265CA}" destId="{2EA9F202-9A91-4577-94DC-6F606EF7D86F}" srcOrd="0" destOrd="0" presId="urn:microsoft.com/office/officeart/2005/8/layout/list1#1"/>
    <dgm:cxn modelId="{59574BE8-377C-43AC-B5C4-1C577A6D778A}" type="presParOf" srcId="{DB289762-6268-48D9-95BE-9DBBA274EC37}" destId="{842F7237-80AB-4CBE-A86A-099502AC5B28}" srcOrd="1" destOrd="8" presId="urn:microsoft.com/office/officeart/2005/8/layout/list1#1"/>
    <dgm:cxn modelId="{39F3EF0B-E2AA-4164-8D59-8553477FB47B}" type="presOf" srcId="{6DD90F3D-FA57-45CC-8097-C84E0FA265CA}" destId="{842F7237-80AB-4CBE-A86A-099502AC5B28}" srcOrd="0" destOrd="0" presId="urn:microsoft.com/office/officeart/2005/8/layout/list1#1"/>
    <dgm:cxn modelId="{652AF2DE-1F7E-4229-A110-614C5EC85758}" type="presParOf" srcId="{05FE66B2-B5FD-45A1-8AFE-820A095D28CA}" destId="{57E3A75A-B477-4D36-8ED8-F96426A65490}" srcOrd="9" destOrd="0" presId="urn:microsoft.com/office/officeart/2005/8/layout/list1#1"/>
    <dgm:cxn modelId="{005C52C0-4215-41B7-BB2D-DE860BB19921}" type="presParOf" srcId="{05FE66B2-B5FD-45A1-8AFE-820A095D28CA}" destId="{3137EA89-BF5A-44F6-9E6D-2E892534E866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200802" cy="3096344"/>
        <a:chOff x="0" y="0"/>
        <a:chExt cx="7200802" cy="3096344"/>
      </a:xfrm>
    </dsp:grpSpPr>
    <dsp:sp modelId="{CAE10567-CE09-44AC-8E8F-C5B9F21AC231}">
      <dsp:nvSpPr>
        <dsp:cNvPr id="5" name="矩形 4"/>
        <dsp:cNvSpPr/>
      </dsp:nvSpPr>
      <dsp:spPr bwMode="white">
        <a:xfrm>
          <a:off x="0" y="384832"/>
          <a:ext cx="7200802" cy="579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58862" tIns="479044" rIns="558862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84832"/>
        <a:ext cx="7200802" cy="579600"/>
      </dsp:txXfrm>
    </dsp:sp>
    <dsp:sp modelId="{34AD5942-41A4-4691-A143-B88CC0CD3BAC}">
      <dsp:nvSpPr>
        <dsp:cNvPr id="4" name="圆角矩形 3"/>
        <dsp:cNvSpPr/>
      </dsp:nvSpPr>
      <dsp:spPr bwMode="white">
        <a:xfrm>
          <a:off x="360040" y="45352"/>
          <a:ext cx="5040561" cy="6789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0521" tIns="0" rIns="190521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/>
            <a:t>（一）</a:t>
          </a:r>
          <a:r>
            <a:rPr lang="zh-CN" altLang="en-US" sz="1800" b="1" dirty="0"/>
            <a:t>项目</a:t>
          </a:r>
          <a:r>
            <a:rPr lang="zh-CN" altLang="en-US" sz="1800" b="1" dirty="0"/>
            <a:t>介绍</a:t>
          </a:r>
          <a:endParaRPr lang="zh-CN" altLang="en-US" sz="1800" b="1" dirty="0"/>
        </a:p>
      </dsp:txBody>
      <dsp:txXfrm>
        <a:off x="360040" y="45352"/>
        <a:ext cx="5040561" cy="678960"/>
      </dsp:txXfrm>
    </dsp:sp>
    <dsp:sp modelId="{35F1A7BB-5848-4134-834D-A95E69AAE32F}">
      <dsp:nvSpPr>
        <dsp:cNvPr id="8" name="矩形 7"/>
        <dsp:cNvSpPr/>
      </dsp:nvSpPr>
      <dsp:spPr bwMode="white">
        <a:xfrm>
          <a:off x="0" y="1428112"/>
          <a:ext cx="7200802" cy="579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58862" tIns="479044" rIns="558862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428112"/>
        <a:ext cx="7200802" cy="579600"/>
      </dsp:txXfrm>
    </dsp:sp>
    <dsp:sp modelId="{AABCF39E-33B0-4101-BB8E-E90D5ABED560}">
      <dsp:nvSpPr>
        <dsp:cNvPr id="7" name="圆角矩形 6"/>
        <dsp:cNvSpPr/>
      </dsp:nvSpPr>
      <dsp:spPr bwMode="white">
        <a:xfrm>
          <a:off x="360040" y="1088632"/>
          <a:ext cx="5040561" cy="6789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0521" tIns="0" rIns="190521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/>
            <a:t>（</a:t>
          </a:r>
          <a:r>
            <a:rPr lang="zh-CN" altLang="en-US" sz="1800" b="1" dirty="0"/>
            <a:t>二</a:t>
          </a:r>
          <a:r>
            <a:rPr lang="zh-CN" sz="1800" b="1" dirty="0"/>
            <a:t>）</a:t>
          </a:r>
          <a:r>
            <a:rPr lang="zh-CN" sz="1800" b="1" dirty="0">
              <a:sym typeface="+mn-ea"/>
            </a:rPr>
            <a:t>评标规则</a:t>
          </a:r>
          <a:r>
            <a:rPr lang="zh-CN" sz="1800" b="1" dirty="0">
              <a:sym typeface="+mn-ea"/>
            </a:rPr>
            <a:t>与</a:t>
          </a:r>
          <a:r>
            <a:rPr lang="zh-CN" sz="1800" b="1" dirty="0"/>
            <a:t>投标</a:t>
          </a:r>
          <a:r>
            <a:rPr lang="zh-CN" sz="1800" b="1" dirty="0"/>
            <a:t>组织</a:t>
          </a:r>
          <a:endParaRPr lang="zh-CN" sz="1800" b="1" dirty="0"/>
        </a:p>
      </dsp:txBody>
      <dsp:txXfrm>
        <a:off x="360040" y="1088632"/>
        <a:ext cx="5040561" cy="678960"/>
      </dsp:txXfrm>
    </dsp:sp>
    <dsp:sp modelId="{3137EA89-BF5A-44F6-9E6D-2E892534E866}">
      <dsp:nvSpPr>
        <dsp:cNvPr id="11" name="矩形 10"/>
        <dsp:cNvSpPr/>
      </dsp:nvSpPr>
      <dsp:spPr bwMode="white">
        <a:xfrm>
          <a:off x="0" y="2471392"/>
          <a:ext cx="7200802" cy="579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58862" tIns="479044" rIns="558862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471392"/>
        <a:ext cx="7200802" cy="579600"/>
      </dsp:txXfrm>
    </dsp:sp>
    <dsp:sp modelId="{842F7237-80AB-4CBE-A86A-099502AC5B28}">
      <dsp:nvSpPr>
        <dsp:cNvPr id="10" name="圆角矩形 9"/>
        <dsp:cNvSpPr/>
      </dsp:nvSpPr>
      <dsp:spPr bwMode="white">
        <a:xfrm>
          <a:off x="360040" y="2131912"/>
          <a:ext cx="5040561" cy="6789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0521" tIns="0" rIns="190521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/>
            <a:t>（</a:t>
          </a:r>
          <a:r>
            <a:rPr lang="zh-CN" altLang="en-US" sz="1800" b="1" dirty="0"/>
            <a:t>三</a:t>
          </a:r>
          <a:r>
            <a:rPr lang="zh-CN" sz="1800" b="1" dirty="0"/>
            <a:t>）</a:t>
          </a:r>
          <a:r>
            <a:rPr lang="zh-CN" sz="1800" b="1" dirty="0"/>
            <a:t>竞争</a:t>
          </a:r>
          <a:r>
            <a:rPr lang="zh-CN" sz="1800" b="1" dirty="0"/>
            <a:t>与</a:t>
          </a:r>
          <a:r>
            <a:rPr lang="zh-CN" sz="1800" b="1" dirty="0"/>
            <a:t>风险分析</a:t>
          </a:r>
          <a:endParaRPr lang="zh-CN" sz="1800" b="1" dirty="0"/>
        </a:p>
      </dsp:txBody>
      <dsp:txXfrm>
        <a:off x="360040" y="2131912"/>
        <a:ext cx="5040561" cy="678960"/>
      </dsp:txXfrm>
    </dsp:sp>
    <dsp:sp modelId="{67228E6A-7A45-4175-A8DE-2D26EA40E46D}">
      <dsp:nvSpPr>
        <dsp:cNvPr id="3" name="矩形 2" hidden="1"/>
        <dsp:cNvSpPr/>
      </dsp:nvSpPr>
      <dsp:spPr>
        <a:xfrm>
          <a:off x="0" y="45352"/>
          <a:ext cx="360040" cy="678960"/>
        </a:xfrm>
        <a:prstGeom prst="rect">
          <a:avLst/>
        </a:prstGeom>
      </dsp:spPr>
      <dsp:txXfrm>
        <a:off x="0" y="45352"/>
        <a:ext cx="360040" cy="678960"/>
      </dsp:txXfrm>
    </dsp:sp>
    <dsp:sp modelId="{ADC5E9BF-D191-44B2-8AFE-874D2F110781}">
      <dsp:nvSpPr>
        <dsp:cNvPr id="6" name="矩形 5" hidden="1"/>
        <dsp:cNvSpPr/>
      </dsp:nvSpPr>
      <dsp:spPr>
        <a:xfrm>
          <a:off x="0" y="1088632"/>
          <a:ext cx="360040" cy="678960"/>
        </a:xfrm>
        <a:prstGeom prst="rect">
          <a:avLst/>
        </a:prstGeom>
      </dsp:spPr>
      <dsp:txXfrm>
        <a:off x="0" y="1088632"/>
        <a:ext cx="360040" cy="678960"/>
      </dsp:txXfrm>
    </dsp:sp>
    <dsp:sp modelId="{2EA9F202-9A91-4577-94DC-6F606EF7D86F}">
      <dsp:nvSpPr>
        <dsp:cNvPr id="9" name="矩形 8" hidden="1"/>
        <dsp:cNvSpPr/>
      </dsp:nvSpPr>
      <dsp:spPr>
        <a:xfrm>
          <a:off x="0" y="2131912"/>
          <a:ext cx="360040" cy="678960"/>
        </a:xfrm>
        <a:prstGeom prst="rect">
          <a:avLst/>
        </a:prstGeom>
      </dsp:spPr>
      <dsp:txXfrm>
        <a:off x="0" y="2131912"/>
        <a:ext cx="360040" cy="678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72A42-46BD-4547-8DDA-A60B962BB6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5CA9B-D085-4A76-8339-6F219D8C55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Redamancy\Desktop\图片展示条.png图片展示条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 bwMode="auto">
          <a:xfrm>
            <a:off x="1818" y="3931426"/>
            <a:ext cx="914717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topduty\Desktop\ppt-09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" y="374213"/>
            <a:ext cx="9150351" cy="25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topduty\Desktop\ppt-10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" y="4569972"/>
            <a:ext cx="9170988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C:\Users\Redamancy\Desktop\LOGO.pngLOGO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>
          <a:xfrm>
            <a:off x="251460" y="151765"/>
            <a:ext cx="1926590" cy="236220"/>
          </a:xfrm>
          <a:prstGeom prst="rect">
            <a:avLst/>
          </a:prstGeom>
        </p:spPr>
      </p:pic>
      <p:pic>
        <p:nvPicPr>
          <p:cNvPr id="8" name="Picture 4" descr="C:\Users\Redamancy\Desktop\slogen.pngslogen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7625500" y="4755035"/>
            <a:ext cx="1440180" cy="21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5" descr="C:\Users\topduty\Desktop\ppt-09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" y="374213"/>
            <a:ext cx="9150351" cy="25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:\Users\topduty\Desktop\ppt-1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" y="4569972"/>
            <a:ext cx="9170988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:\Users\Redamancy\Desktop\slogen.pngslogen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7625500" y="4755035"/>
            <a:ext cx="1440180" cy="21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C:\Users\Redamancy\Desktop\LOGO.pngLOGO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>
          <a:xfrm>
            <a:off x="251460" y="151765"/>
            <a:ext cx="1926590" cy="2362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69695" y="1113790"/>
            <a:ext cx="628840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拉合尔污水管道及终端排放站项目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投标立项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69360" y="3085465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巴基斯坦分公司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6210" y="3422650"/>
            <a:ext cx="1211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2"/>
          <p:cNvSpPr>
            <a:spLocks noChangeArrowheads="1"/>
          </p:cNvSpPr>
          <p:nvPr/>
        </p:nvSpPr>
        <p:spPr bwMode="auto">
          <a:xfrm>
            <a:off x="3608998" y="723900"/>
            <a:ext cx="19191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zh-CN" altLang="en-US" sz="2800" b="1" dirty="0">
                <a:solidFill>
                  <a:srgbClr val="2B67AF"/>
                </a:solidFill>
              </a:rPr>
              <a:t>汇 报 内 容</a:t>
            </a:r>
            <a:endParaRPr lang="zh-CN" altLang="en-US" sz="2800" b="1" dirty="0">
              <a:solidFill>
                <a:srgbClr val="2B67AF"/>
              </a:solidFill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971599" y="1402326"/>
          <a:ext cx="7200802" cy="3096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2983230" y="1837690"/>
            <a:ext cx="5690870" cy="74358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279525" rtl="0" eaLnBrk="1" fontAlgn="auto" latinLnBrk="0" hangingPunct="1">
              <a:lnSpc>
                <a:spcPct val="10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  <a:endParaRPr kumimoji="1" lang="zh-CN" altLang="en-US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燕尾形 1"/>
          <p:cNvSpPr/>
          <p:nvPr/>
        </p:nvSpPr>
        <p:spPr>
          <a:xfrm>
            <a:off x="518160" y="1837055"/>
            <a:ext cx="2105025" cy="744220"/>
          </a:xfrm>
          <a:prstGeom prst="chevron">
            <a:avLst/>
          </a:prstGeom>
          <a:solidFill>
            <a:srgbClr val="B40000"/>
          </a:solidFill>
          <a:ln w="25400">
            <a:solidFill>
              <a:schemeClr val="bg1"/>
            </a:solidFill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bIns="91440" anchor="b"/>
          <a:lstStyle/>
          <a:p>
            <a:pPr marL="0"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29337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一、项目介绍——</a:t>
            </a:r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基础信息</a:t>
            </a:r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7155" y="908050"/>
            <a:ext cx="5287010" cy="3534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【项目名称】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拉合尔污水管道及终端排放站项目</a:t>
            </a:r>
            <a:endParaRPr lang="zh-CN" altLang="en-US" sz="1400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0" algn="just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【项目业主】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拉合尔水务与卫生局（政府）</a:t>
            </a:r>
            <a:endParaRPr lang="zh-CN" altLang="en-US" sz="1400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  <a:sym typeface="+mn-ea"/>
            </a:endParaRPr>
          </a:p>
          <a:p>
            <a:pPr indent="0" algn="just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【项目监理】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美国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EBA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公司牵头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+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三家巴基斯坦公司联营体</a:t>
            </a:r>
            <a:endParaRPr lang="zh-CN" altLang="en-US" sz="1400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0" algn="just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【项目位置】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巴基斯坦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旁遮普省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拉合尔市</a:t>
            </a:r>
            <a:endParaRPr lang="en-US" altLang="zh-CN" sz="1400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0" algn="just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【预计合同额】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 1.75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亿美元</a:t>
            </a:r>
            <a:endParaRPr lang="zh-CN" altLang="en-US" sz="1400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0" algn="just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【资金来源】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亚投行</a:t>
            </a:r>
            <a:endParaRPr lang="zh-CN" altLang="en-US" sz="1400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-355600" algn="l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extLst>
                <a:ext uri="{35155182-B16C-46BC-9424-99874614C6A1}">
                  <wpsdc:indentchars xmlns:wpsdc="http://www.wps.cn/officeDocument/2017/drawingmlCustomData" val="-200" checksum="3501742630"/>
                </a:ext>
              </a:extLst>
            </a:pP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【工程内容】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设计、新建</a:t>
            </a:r>
            <a:r>
              <a:rPr lang="en-US" altLang="zh-CN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32</a:t>
            </a:r>
            <a:r>
              <a:rPr lang="zh-CN" altLang="en-US" sz="14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公里混凝土污水管道，以及一座终端排放站。</a:t>
            </a:r>
            <a:endParaRPr lang="zh-CN" altLang="en-US" sz="1400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0" algn="just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【招标方式】</a:t>
            </a:r>
            <a:r>
              <a:rPr lang="en-US" altLang="zh-CN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国际公开招标</a:t>
            </a:r>
            <a:r>
              <a:rPr lang="en-US" altLang="zh-CN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+ </a:t>
            </a:r>
            <a:r>
              <a:rPr lang="zh-CN" altLang="en-US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资格后审</a:t>
            </a:r>
            <a:endParaRPr lang="zh-CN" altLang="en-US" sz="1400">
              <a:solidFill>
                <a:schemeClr val="tx1"/>
              </a:solidFill>
              <a:latin typeface="宋体" charset="0"/>
              <a:ea typeface="宋体" charset="0"/>
              <a:cs typeface="宋体" charset="0"/>
              <a:sym typeface="+mn-ea"/>
            </a:endParaRPr>
          </a:p>
          <a:p>
            <a:pPr indent="0" algn="just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【交标日期】</a:t>
            </a:r>
            <a:r>
              <a:rPr lang="en-US" altLang="zh-CN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2026</a:t>
            </a:r>
            <a:r>
              <a:rPr lang="zh-CN" altLang="en-US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年</a:t>
            </a:r>
            <a:r>
              <a:rPr lang="en-US" altLang="zh-CN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1</a:t>
            </a:r>
            <a:r>
              <a:rPr lang="zh-CN" altLang="en-US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29</a:t>
            </a:r>
            <a:r>
              <a:rPr lang="zh-CN" altLang="en-US" sz="14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日</a:t>
            </a:r>
            <a:endParaRPr lang="zh-CN" altLang="en-US" sz="1400">
              <a:solidFill>
                <a:schemeClr val="tx1"/>
              </a:solidFill>
              <a:latin typeface="宋体" charset="0"/>
              <a:ea typeface="宋体" charset="0"/>
              <a:cs typeface="宋体" charset="0"/>
              <a:sym typeface="+mn-ea"/>
            </a:endParaRPr>
          </a:p>
        </p:txBody>
      </p:sp>
      <p:pic>
        <p:nvPicPr>
          <p:cNvPr id="8" name="图片 7" descr="/Users/xuzhuoran/Library/Containers/com.kingsoft.wpsoffice.mac/Data/tmp/picturecompress_20260102174539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640" y="539750"/>
            <a:ext cx="3583940" cy="2331085"/>
          </a:xfrm>
          <a:prstGeom prst="rect">
            <a:avLst/>
          </a:prstGeom>
        </p:spPr>
      </p:pic>
      <p:pic>
        <p:nvPicPr>
          <p:cNvPr id="5" name="图片 4" descr="/Users/xuzhuoran/Library/Containers/com.kingsoft.wpsoffice.mac/Data/tmp/picturecompress_20251021232346/output_1.pngoutput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40" y="2455545"/>
            <a:ext cx="3583305" cy="2024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29337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一、项目介绍——商务</a:t>
            </a:r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条件</a:t>
            </a:r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63575" y="908050"/>
          <a:ext cx="3543300" cy="368173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88720"/>
                <a:gridCol w="2354580"/>
              </a:tblGrid>
              <a:tr h="4051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合同类型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EPC</a:t>
                      </a:r>
                      <a:r>
                        <a:rPr lang="zh-CN" altLang="en-US" sz="1200" b="0"/>
                        <a:t>施工总承包</a:t>
                      </a:r>
                      <a:endParaRPr lang="zh-CN" altLang="en-US" sz="1200" b="0"/>
                    </a:p>
                  </a:txBody>
                  <a:tcPr anchor="ctr" anchorCtr="0"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使用合同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FIDIC EPC</a:t>
                      </a:r>
                      <a:r>
                        <a:rPr lang="zh-CN" altLang="en-US" sz="1200" b="0"/>
                        <a:t>银皮书</a:t>
                      </a:r>
                      <a:r>
                        <a:rPr lang="en-US" altLang="zh-CN" sz="1200" b="0"/>
                        <a:t>2017</a:t>
                      </a:r>
                      <a:r>
                        <a:rPr lang="zh-CN" altLang="en-US" sz="1200" b="0"/>
                        <a:t>版（修订后</a:t>
                      </a:r>
                      <a:r>
                        <a:rPr lang="en-US" altLang="zh-CN" sz="1200" b="0"/>
                        <a:t>2022</a:t>
                      </a:r>
                      <a:r>
                        <a:rPr lang="zh-CN" altLang="en-US" sz="1200" b="0"/>
                        <a:t>再版）</a:t>
                      </a:r>
                      <a:endParaRPr lang="zh-CN" altLang="en-US" sz="1200" b="0"/>
                    </a:p>
                  </a:txBody>
                  <a:tcPr anchor="ctr" anchorCtr="0"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工期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30</a:t>
                      </a:r>
                      <a:r>
                        <a:rPr lang="zh-CN" altLang="en-US" sz="1200" b="0"/>
                        <a:t>个月（含设计</a:t>
                      </a:r>
                      <a:r>
                        <a:rPr lang="en-US" altLang="zh-CN" sz="1200" b="0"/>
                        <a:t>6</a:t>
                      </a:r>
                      <a:r>
                        <a:rPr lang="zh-CN" altLang="en-US" sz="1200" b="0"/>
                        <a:t>个月）</a:t>
                      </a:r>
                      <a:endParaRPr lang="zh-CN" altLang="en-US" sz="1200" b="0"/>
                    </a:p>
                  </a:txBody>
                  <a:tcPr anchor="ctr" anchorCtr="0"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投标保函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150</a:t>
                      </a:r>
                      <a:r>
                        <a:rPr lang="zh-CN" altLang="en-US" sz="1200" b="0"/>
                        <a:t>万美元</a:t>
                      </a:r>
                      <a:endParaRPr lang="zh-CN" altLang="en-US" sz="1200" b="0"/>
                    </a:p>
                  </a:txBody>
                  <a:tcPr anchor="ctr" anchorCtr="0"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预付款保函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20%</a:t>
                      </a:r>
                      <a:endParaRPr lang="en-US" altLang="zh-CN" sz="1200" b="0"/>
                    </a:p>
                  </a:txBody>
                  <a:tcPr anchor="ctr" anchorCtr="0"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履约保函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10%</a:t>
                      </a:r>
                      <a:endParaRPr lang="en-US" altLang="zh-CN" sz="1200" b="0"/>
                    </a:p>
                  </a:txBody>
                  <a:tcPr anchor="ctr" anchorCtr="0"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质保金比例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5%</a:t>
                      </a:r>
                      <a:endParaRPr lang="en-US" altLang="zh-CN" sz="1200" b="0"/>
                    </a:p>
                  </a:txBody>
                  <a:tcPr anchor="ctr" anchorCtr="0"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质保期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365</a:t>
                      </a:r>
                      <a:r>
                        <a:rPr lang="zh-CN" altLang="en-US" sz="1200" b="0"/>
                        <a:t>天</a:t>
                      </a:r>
                      <a:endParaRPr lang="zh-CN" altLang="en-US" sz="1200" b="0"/>
                    </a:p>
                  </a:txBody>
                  <a:tcPr anchor="ctr" anchorCtr="0"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/>
                        <a:t>延期罚款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设计阶段</a:t>
                      </a:r>
                      <a:r>
                        <a:rPr lang="en-US" altLang="zh-CN" sz="1200" b="0"/>
                        <a:t>1%/</a:t>
                      </a:r>
                      <a:r>
                        <a:rPr lang="zh-CN" altLang="en-US" sz="1200" b="0"/>
                        <a:t>天，施工阶段</a:t>
                      </a:r>
                      <a:r>
                        <a:rPr lang="en-US" altLang="zh-CN" sz="1200" b="0"/>
                        <a:t>0.05%/</a:t>
                      </a:r>
                      <a:r>
                        <a:rPr lang="zh-CN" altLang="en-US" sz="1200" b="0"/>
                        <a:t>天，上限</a:t>
                      </a:r>
                      <a:r>
                        <a:rPr lang="en-US" altLang="zh-CN" sz="1200" b="0"/>
                        <a:t>10%</a:t>
                      </a:r>
                      <a:endParaRPr lang="en-US" altLang="zh-CN" sz="1200" b="0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5038090" y="908050"/>
          <a:ext cx="3869055" cy="368109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97940"/>
                <a:gridCol w="2571115"/>
              </a:tblGrid>
              <a:tr h="3822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latin typeface="宋体" charset="0"/>
                          <a:ea typeface="宋体" charset="0"/>
                        </a:rPr>
                        <a:t>外币支付</a:t>
                      </a:r>
                      <a:endParaRPr lang="zh-CN" altLang="en-US" sz="1200" b="1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允许最多</a:t>
                      </a: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50%</a:t>
                      </a: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外币支付</a:t>
                      </a:r>
                      <a:endParaRPr lang="zh-CN" altLang="en-US" sz="12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anchor="ctr" anchorCtr="0"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latin typeface="宋体" charset="0"/>
                          <a:ea typeface="宋体" charset="0"/>
                        </a:rPr>
                        <a:t>最低计价金额</a:t>
                      </a:r>
                      <a:endParaRPr lang="zh-CN" altLang="en-US" sz="1200" b="1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>
                        <a:buFont typeface="Arial" panose="020B0604020202090204" pitchFamily="34" charset="0"/>
                        <a:buNone/>
                      </a:pP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合同额的</a:t>
                      </a: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3%</a:t>
                      </a:r>
                      <a:endParaRPr lang="en-US" altLang="zh-CN" sz="12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anchor="ctr" anchorCtr="0"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latin typeface="宋体" charset="0"/>
                          <a:ea typeface="宋体" charset="0"/>
                        </a:rPr>
                        <a:t>计价周期</a:t>
                      </a:r>
                      <a:endParaRPr lang="zh-CN" altLang="en-US" sz="1200" b="1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>
                        <a:buFont typeface="Arial" panose="020B0604020202090204" pitchFamily="34" charset="0"/>
                        <a:buNone/>
                      </a:pP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56</a:t>
                      </a: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天</a:t>
                      </a:r>
                      <a:endParaRPr lang="zh-CN" altLang="en-US" sz="12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anchor="ctr" anchorCtr="0"/>
                </a:tc>
              </a:tr>
              <a:tr h="8388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latin typeface="宋体" charset="0"/>
                          <a:ea typeface="宋体" charset="0"/>
                        </a:rPr>
                        <a:t>价格调差</a:t>
                      </a:r>
                      <a:endParaRPr lang="zh-CN" altLang="en-US" sz="1200" b="1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卢比部分</a:t>
                      </a: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60%</a:t>
                      </a: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可调（水泥、钢筋、柴油、人工）</a:t>
                      </a:r>
                      <a:endParaRPr lang="zh-CN" altLang="en-US" sz="12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外币部分</a:t>
                      </a: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30%</a:t>
                      </a: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可调（外国劳工、不锈钢、</a:t>
                      </a: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HDPE</a:t>
                      </a: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内衬）</a:t>
                      </a:r>
                      <a:endParaRPr lang="zh-CN" altLang="en-US" sz="12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anchor="ctr" anchorCtr="0"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latin typeface="宋体" charset="0"/>
                          <a:ea typeface="宋体" charset="0"/>
                        </a:rPr>
                        <a:t>暂定金</a:t>
                      </a:r>
                      <a:endParaRPr lang="zh-CN" altLang="en-US" sz="1200" b="1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39</a:t>
                      </a: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亿卢比（合</a:t>
                      </a: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1400</a:t>
                      </a: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万美元）</a:t>
                      </a:r>
                      <a:endParaRPr lang="zh-CN" altLang="en-US" sz="12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anchor="ctr" anchorCtr="0"/>
                </a:tc>
              </a:tr>
              <a:tr h="6038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1">
                          <a:latin typeface="宋体" charset="0"/>
                          <a:ea typeface="宋体" charset="0"/>
                        </a:rPr>
                        <a:t>DAAB</a:t>
                      </a:r>
                      <a:endParaRPr lang="en-US" altLang="zh-CN" sz="1200" b="1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适用国际商会仲裁规则，仲裁委员会</a:t>
                      </a:r>
                      <a:r>
                        <a:rPr lang="en-US" altLang="zh-CN" sz="1200" b="0">
                          <a:latin typeface="宋体" charset="0"/>
                          <a:ea typeface="宋体" charset="0"/>
                          <a:cs typeface="宋体" charset="0"/>
                        </a:rPr>
                        <a:t>3</a:t>
                      </a:r>
                      <a:r>
                        <a:rPr lang="zh-CN" altLang="en-US" sz="1200" b="0">
                          <a:latin typeface="宋体" charset="0"/>
                          <a:ea typeface="宋体" charset="0"/>
                          <a:cs typeface="宋体" charset="0"/>
                        </a:rPr>
                        <a:t>人，仲裁地点为迪拜或伦敦</a:t>
                      </a:r>
                      <a:endParaRPr lang="zh-CN" altLang="en-US" sz="12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anchor="ctr" anchorCtr="0"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latin typeface="宋体" charset="0"/>
                          <a:ea typeface="宋体" charset="0"/>
                        </a:rPr>
                        <a:t>投标资格</a:t>
                      </a:r>
                      <a:endParaRPr lang="zh-CN" altLang="en-US" sz="1200" b="1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latin typeface="宋体" charset="0"/>
                          <a:ea typeface="宋体" charset="0"/>
                        </a:rPr>
                        <a:t>国际公开招标，资格后审</a:t>
                      </a:r>
                      <a:endParaRPr lang="zh-CN" altLang="en-US" sz="1200" b="0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latin typeface="宋体" charset="0"/>
                          <a:ea typeface="宋体" charset="0"/>
                        </a:rPr>
                        <a:t>适用法律</a:t>
                      </a:r>
                      <a:endParaRPr lang="zh-CN" altLang="en-US" sz="1200" b="1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latin typeface="宋体" charset="0"/>
                          <a:ea typeface="宋体" charset="0"/>
                        </a:rPr>
                        <a:t>巴基斯坦法律</a:t>
                      </a:r>
                      <a:endParaRPr lang="zh-CN" altLang="en-US" sz="1200" b="0">
                        <a:latin typeface="宋体" charset="0"/>
                        <a:ea typeface="宋体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11" name="直接连接符 10"/>
          <p:cNvCxnSpPr/>
          <p:nvPr/>
        </p:nvCxnSpPr>
        <p:spPr>
          <a:xfrm>
            <a:off x="4622800" y="1062355"/>
            <a:ext cx="0" cy="3333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49968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一、项目介绍——主要工程内容（以线路</a:t>
            </a:r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划分）</a:t>
            </a:r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97155" y="908050"/>
          <a:ext cx="2795905" cy="3625850"/>
        </p:xfrm>
        <a:graphic>
          <a:graphicData uri="http://schemas.openxmlformats.org/drawingml/2006/table">
            <a:tbl>
              <a:tblPr/>
              <a:tblGrid>
                <a:gridCol w="544830"/>
                <a:gridCol w="772795"/>
                <a:gridCol w="638175"/>
                <a:gridCol w="840105"/>
              </a:tblGrid>
              <a:tr h="737235"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/>
                          <a:ea typeface="仿宋"/>
                        </a:rPr>
                        <a:t>线路</a:t>
                      </a:r>
                      <a:endParaRPr 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/>
                          <a:ea typeface="仿宋"/>
                        </a:rPr>
                        <a:t>起止位置</a:t>
                      </a:r>
                      <a:endParaRPr 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/>
                          <a:ea typeface="仿宋"/>
                        </a:rPr>
                        <a:t>管径（</a:t>
                      </a:r>
                      <a:r>
                        <a:rPr lang="en-US" altLang="zh-CN" sz="1200">
                          <a:latin typeface="仿宋"/>
                          <a:ea typeface="仿宋"/>
                        </a:rPr>
                        <a:t>mm</a:t>
                      </a:r>
                      <a:r>
                        <a:rPr lang="zh-CN" altLang="en-US" sz="1200">
                          <a:latin typeface="仿宋"/>
                          <a:ea typeface="仿宋"/>
                        </a:rPr>
                        <a:t>）</a:t>
                      </a:r>
                      <a:endParaRPr lang="zh-CN" altLang="en-US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/>
                          <a:ea typeface="仿宋"/>
                        </a:rPr>
                        <a:t>长度（</a:t>
                      </a:r>
                      <a:r>
                        <a:rPr lang="en-US" altLang="zh-CN" sz="1200">
                          <a:latin typeface="仿宋"/>
                          <a:ea typeface="仿宋"/>
                        </a:rPr>
                        <a:t>km</a:t>
                      </a:r>
                      <a:r>
                        <a:rPr lang="zh-CN" altLang="en-US" sz="1200">
                          <a:latin typeface="仿宋"/>
                          <a:ea typeface="仿宋"/>
                        </a:rPr>
                        <a:t>）</a:t>
                      </a:r>
                      <a:endParaRPr lang="zh-CN" altLang="en-US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40435"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/>
                          <a:ea typeface="仿宋"/>
                        </a:rPr>
                        <a:t>红线</a:t>
                      </a:r>
                      <a:endParaRPr 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仿宋"/>
                          <a:ea typeface="仿宋"/>
                        </a:rPr>
                        <a:t>LARECHS Colony</a:t>
                      </a:r>
                      <a:r>
                        <a:rPr lang="en-US" altLang="zh-CN" sz="1200">
                          <a:latin typeface="仿宋"/>
                          <a:ea typeface="仿宋"/>
                        </a:rPr>
                        <a:t> </a:t>
                      </a:r>
                      <a:r>
                        <a:rPr lang="zh-CN" altLang="en-US" sz="1200">
                          <a:latin typeface="仿宋"/>
                          <a:ea typeface="仿宋"/>
                        </a:rPr>
                        <a:t>至 </a:t>
                      </a:r>
                      <a:r>
                        <a:rPr lang="en-US" altLang="zh-CN" sz="1200">
                          <a:latin typeface="仿宋"/>
                          <a:ea typeface="仿宋"/>
                        </a:rPr>
                        <a:t>Qartaba Chowk</a:t>
                      </a:r>
                      <a:endParaRPr lang="en-US" alt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仿宋"/>
                          <a:ea typeface="仿宋"/>
                        </a:rPr>
                        <a:t>1050, 1500, 2400</a:t>
                      </a:r>
                      <a:endParaRPr lang="en-US" alt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仿宋"/>
                          <a:ea typeface="仿宋"/>
                        </a:rPr>
                        <a:t>12.14</a:t>
                      </a:r>
                      <a:endParaRPr lang="en-US" alt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41070"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/>
                          <a:ea typeface="仿宋"/>
                        </a:rPr>
                        <a:t>绿线</a:t>
                      </a:r>
                      <a:endParaRPr 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00B050"/>
                          </a:solidFill>
                          <a:latin typeface="仿宋"/>
                          <a:ea typeface="仿宋"/>
                        </a:rPr>
                        <a:t>Gurumangat Road</a:t>
                      </a:r>
                      <a:r>
                        <a:rPr lang="en-US" altLang="zh-CN" sz="1200">
                          <a:latin typeface="仿宋"/>
                          <a:ea typeface="仿宋"/>
                        </a:rPr>
                        <a:t> </a:t>
                      </a:r>
                      <a:r>
                        <a:rPr lang="zh-CN" altLang="en-US" sz="1200">
                          <a:latin typeface="仿宋"/>
                          <a:ea typeface="仿宋"/>
                        </a:rPr>
                        <a:t>至 </a:t>
                      </a:r>
                      <a:r>
                        <a:rPr lang="en-US" altLang="zh-CN" sz="1200">
                          <a:latin typeface="仿宋"/>
                          <a:ea typeface="仿宋"/>
                        </a:rPr>
                        <a:t>Qartaba Chowk</a:t>
                      </a:r>
                      <a:endParaRPr lang="en-US" alt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仿宋"/>
                          <a:ea typeface="仿宋"/>
                        </a:rPr>
                        <a:t>1050, 1500, 2400</a:t>
                      </a:r>
                      <a:endParaRPr lang="en-US" alt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仿宋"/>
                          <a:ea typeface="仿宋"/>
                        </a:rPr>
                        <a:t>12.82</a:t>
                      </a:r>
                      <a:endParaRPr lang="en-US" alt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07110"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/>
                          <a:ea typeface="仿宋"/>
                        </a:rPr>
                        <a:t>粉</a:t>
                      </a:r>
                      <a:r>
                        <a:rPr lang="zh-CN" sz="1200">
                          <a:latin typeface="仿宋"/>
                          <a:ea typeface="仿宋"/>
                        </a:rPr>
                        <a:t>线</a:t>
                      </a:r>
                      <a:endParaRPr 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FF54EB"/>
                          </a:solidFill>
                          <a:latin typeface="仿宋"/>
                          <a:ea typeface="仿宋"/>
                        </a:rPr>
                        <a:t>Qartaba Chowk</a:t>
                      </a:r>
                      <a:r>
                        <a:rPr lang="en-US" altLang="zh-CN" sz="1200">
                          <a:solidFill>
                            <a:srgbClr val="FF54EB"/>
                          </a:solidFill>
                          <a:latin typeface="仿宋"/>
                          <a:ea typeface="仿宋"/>
                        </a:rPr>
                        <a:t> </a:t>
                      </a:r>
                      <a:r>
                        <a:rPr lang="zh-CN" altLang="en-US" sz="1200">
                          <a:latin typeface="仿宋"/>
                          <a:ea typeface="仿宋"/>
                        </a:rPr>
                        <a:t>至 </a:t>
                      </a:r>
                      <a:r>
                        <a:rPr lang="en-US" altLang="zh-CN" sz="1200">
                          <a:latin typeface="仿宋"/>
                          <a:ea typeface="仿宋"/>
                        </a:rPr>
                        <a:t>Gulshan-e-Ravi</a:t>
                      </a:r>
                      <a:r>
                        <a:rPr lang="zh-CN" altLang="en-US" sz="1200">
                          <a:latin typeface="仿宋"/>
                          <a:ea typeface="仿宋"/>
                        </a:rPr>
                        <a:t>（</a:t>
                      </a:r>
                      <a:r>
                        <a:rPr lang="zh-CN" altLang="en-US" sz="1200">
                          <a:latin typeface="仿宋"/>
                          <a:ea typeface="仿宋"/>
                        </a:rPr>
                        <a:t>排水站）</a:t>
                      </a:r>
                      <a:endParaRPr lang="zh-CN" altLang="en-US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仿宋"/>
                          <a:ea typeface="仿宋"/>
                        </a:rPr>
                        <a:t>1050, 3500</a:t>
                      </a:r>
                      <a:endParaRPr lang="en-US" alt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仿宋"/>
                          <a:ea typeface="仿宋"/>
                        </a:rPr>
                        <a:t>7.25</a:t>
                      </a:r>
                      <a:endParaRPr lang="en-US" altLang="zh-CN" sz="1200">
                        <a:latin typeface="仿宋"/>
                        <a:ea typeface="仿宋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 descr="/Users/xuzhuoran/Library/Containers/com.kingsoft.wpsoffice.mac/Data/tmp/picturecompress_20251021232043/output_1.pngoutput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330" y="908050"/>
            <a:ext cx="6249670" cy="3625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49968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一、项目介绍——主要工程内容（以</a:t>
            </a:r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管径划分）</a:t>
            </a:r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328295" y="1024890"/>
          <a:ext cx="8478520" cy="3408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630"/>
                <a:gridCol w="2119630"/>
                <a:gridCol w="2119630"/>
                <a:gridCol w="2119630"/>
              </a:tblGrid>
              <a:tr h="5359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管内径（毫米）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累计里程（米）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工作井最大间距（米）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顶管机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</a:tr>
              <a:tr h="4787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1050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9837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190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</a:rPr>
                        <a:t>2台</a:t>
                      </a:r>
                      <a:endParaRPr lang="zh-CN" altLang="en-US" sz="160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 anchorCtr="0"/>
                </a:tc>
              </a:tr>
              <a:tr h="4787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1500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5454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250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</a:rPr>
                        <a:t>1台</a:t>
                      </a:r>
                      <a:endParaRPr lang="zh-CN" altLang="en-US" sz="160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 anchorCtr="0"/>
                </a:tc>
              </a:tr>
              <a:tr h="4787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2400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11582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350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</a:rPr>
                        <a:t>2台</a:t>
                      </a:r>
                      <a:endParaRPr lang="zh-CN" altLang="en-US" sz="160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 anchorCtr="0"/>
                </a:tc>
              </a:tr>
              <a:tr h="47815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3500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5337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500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</a:rPr>
                        <a:t>1台</a:t>
                      </a:r>
                      <a:endParaRPr lang="zh-CN" altLang="en-US" sz="160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 anchorCtr="0"/>
                </a:tc>
              </a:tr>
              <a:tr h="4787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450-750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8480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采用明挖法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68580" marR="68580" marT="0" marB="0" anchor="ctr" anchorCtr="0"/>
                </a:tc>
                <a:tc hMerge="1">
                  <a:tcPr/>
                </a:tc>
              </a:tr>
              <a:tr h="47879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  <a:sym typeface="+mn-ea"/>
                        </a:rPr>
                        <a:t>累计顶管</a:t>
                      </a:r>
                      <a:r>
                        <a:rPr lang="en-US" altLang="zh-CN" sz="1600">
                          <a:latin typeface="宋体" charset="0"/>
                          <a:ea typeface="宋体" charset="0"/>
                          <a:cs typeface="宋体" charset="0"/>
                          <a:sym typeface="+mn-ea"/>
                        </a:rPr>
                        <a:t>32.2</a:t>
                      </a: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  <a:sym typeface="+mn-ea"/>
                        </a:rPr>
                        <a:t>公里，明挖</a:t>
                      </a:r>
                      <a:r>
                        <a:rPr lang="en-US" altLang="zh-CN" sz="1600">
                          <a:latin typeface="宋体" charset="0"/>
                          <a:ea typeface="宋体" charset="0"/>
                          <a:cs typeface="宋体" charset="0"/>
                          <a:sym typeface="+mn-ea"/>
                        </a:rPr>
                        <a:t>8.48</a:t>
                      </a: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  <a:sym typeface="+mn-ea"/>
                        </a:rPr>
                        <a:t>公里，工作井</a:t>
                      </a:r>
                      <a:r>
                        <a:rPr lang="en-US" altLang="zh-CN" sz="1600">
                          <a:latin typeface="宋体" charset="0"/>
                          <a:ea typeface="宋体" charset="0"/>
                          <a:cs typeface="宋体" charset="0"/>
                          <a:sym typeface="+mn-ea"/>
                        </a:rPr>
                        <a:t>165</a:t>
                      </a: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  <a:sym typeface="+mn-ea"/>
                        </a:rPr>
                        <a:t>个。</a:t>
                      </a:r>
                      <a:endParaRPr lang="zh-CN" altLang="en-US" sz="1600">
                        <a:latin typeface="宋体" charset="0"/>
                        <a:ea typeface="宋体" charset="0"/>
                        <a:cs typeface="宋体" charset="0"/>
                        <a:sym typeface="+mn-ea"/>
                      </a:endParaRPr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392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一、项目介绍——主要工程内容</a:t>
            </a:r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1061720"/>
            <a:ext cx="5038090" cy="29845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>
              <a:lnSpc>
                <a:spcPct val="130000"/>
              </a:lnSpc>
            </a:pP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终端排放站：</a:t>
            </a:r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>
                <a:latin typeface="宋体" charset="0"/>
                <a:ea typeface="宋体" charset="0"/>
                <a:cs typeface="宋体" charset="0"/>
                <a:sym typeface="+mn-ea"/>
              </a:rPr>
              <a:t>848 cusec</a:t>
            </a:r>
            <a:r>
              <a:rPr lang="zh-CN" altLang="en-US" sz="1600" dirty="0">
                <a:latin typeface="宋体" charset="0"/>
                <a:ea typeface="宋体" charset="0"/>
                <a:cs typeface="宋体" charset="0"/>
                <a:sym typeface="+mn-ea"/>
              </a:rPr>
              <a:t>（</a:t>
            </a:r>
            <a:r>
              <a:rPr lang="en-US" altLang="zh-CN" sz="1600" dirty="0">
                <a:latin typeface="宋体" charset="0"/>
                <a:ea typeface="宋体" charset="0"/>
                <a:cs typeface="宋体" charset="0"/>
                <a:sym typeface="+mn-ea"/>
              </a:rPr>
              <a:t>24</a:t>
            </a:r>
            <a:r>
              <a:rPr lang="zh-CN" altLang="en-US" sz="1600" dirty="0">
                <a:latin typeface="宋体" charset="0"/>
                <a:ea typeface="宋体" charset="0"/>
                <a:cs typeface="宋体" charset="0"/>
                <a:sym typeface="+mn-ea"/>
              </a:rPr>
              <a:t>立方米</a:t>
            </a:r>
            <a:r>
              <a:rPr lang="en-US" altLang="zh-CN" sz="1600" dirty="0">
                <a:latin typeface="宋体" charset="0"/>
                <a:ea typeface="宋体" charset="0"/>
                <a:cs typeface="宋体" charset="0"/>
                <a:sym typeface="+mn-ea"/>
              </a:rPr>
              <a:t>/</a:t>
            </a:r>
            <a:r>
              <a:rPr lang="zh-CN" altLang="en-US" sz="1600" dirty="0">
                <a:latin typeface="宋体" charset="0"/>
                <a:ea typeface="宋体" charset="0"/>
                <a:cs typeface="宋体" charset="0"/>
                <a:sym typeface="+mn-ea"/>
              </a:rPr>
              <a:t>秒）</a:t>
            </a:r>
            <a:endParaRPr lang="zh-CN" altLang="en-US" sz="1600" dirty="0">
              <a:latin typeface="宋体" charset="0"/>
              <a:ea typeface="宋体" charset="0"/>
              <a:cs typeface="宋体" charset="0"/>
              <a:sym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进水设施、过滤间、湿井、干井、配水井、出水管道、分流渠和排放渠的首部调节闸以及相关配套工程</a:t>
            </a:r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SCADA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系统</a:t>
            </a:r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450kW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光伏系统</a:t>
            </a:r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6390" y="1061720"/>
            <a:ext cx="3346450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450590" cy="3683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一、项目介绍——</a:t>
            </a:r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施工技术</a:t>
            </a:r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5905" y="1120775"/>
            <a:ext cx="4267200" cy="3409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巴基斯坦首个采用顶管施工的市政管道项目：</a:t>
            </a:r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【工作井深】工作井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165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个，井深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8-20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米</a:t>
            </a:r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【地质情况】印度河冲积平原，地形平坦。表层以粉质黏土、黏土为主，软塑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-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硬塑，厚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0-7m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。顶管工作层以砂类土为主，夹部分粉粒及少量砾石，稍湿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-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饱和，中密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-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密实。红线绿线（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25km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）未见地下水，粉线（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7.2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公里）部份区段地下水深</a:t>
            </a:r>
            <a:r>
              <a:rPr lang="en-US" altLang="zh-CN" sz="1600">
                <a:latin typeface="宋体" charset="0"/>
                <a:ea typeface="宋体" charset="0"/>
                <a:cs typeface="宋体" charset="0"/>
              </a:rPr>
              <a:t>12-20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米。</a:t>
            </a:r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r>
              <a:rPr lang="zh-CN" altLang="en-US" sz="1600">
                <a:latin typeface="宋体" charset="0"/>
                <a:ea typeface="宋体" charset="0"/>
                <a:cs typeface="宋体" charset="0"/>
              </a:rPr>
              <a:t>【既有设施】地下既有设施已通过图纸明确，施工可能涉及交通干扰。</a:t>
            </a:r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  <a:p>
            <a:endParaRPr lang="zh-CN" altLang="en-US" sz="1600"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1725" y="631825"/>
            <a:ext cx="1963420" cy="1866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725" y="2498725"/>
            <a:ext cx="4163695" cy="2032000"/>
          </a:xfrm>
          <a:prstGeom prst="rect">
            <a:avLst/>
          </a:prstGeom>
        </p:spPr>
      </p:pic>
      <p:pic>
        <p:nvPicPr>
          <p:cNvPr id="5" name="图片 4" descr="/Users/xuzhuoran/Library/Containers/com.kingsoft.wpsoffice.mac/Data/tmp/picturecompress_20260102194342/output_1.pngoutput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145" y="631825"/>
            <a:ext cx="2199640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2983230" y="1837690"/>
            <a:ext cx="5690870" cy="74358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279525" rtl="0" eaLnBrk="1" fontAlgn="auto" latinLnBrk="0" hangingPunct="1">
              <a:lnSpc>
                <a:spcPct val="10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sz="3200" b="1" dirty="0">
                <a:sym typeface="+mn-ea"/>
              </a:rPr>
              <a:t>评标规则与</a:t>
            </a:r>
            <a:r>
              <a:rPr lang="zh-CN" sz="3200" b="1" dirty="0">
                <a:sym typeface="+mn-ea"/>
              </a:rPr>
              <a:t>投标组织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燕尾形 1"/>
          <p:cNvSpPr/>
          <p:nvPr/>
        </p:nvSpPr>
        <p:spPr>
          <a:xfrm>
            <a:off x="518160" y="1837055"/>
            <a:ext cx="2105025" cy="744220"/>
          </a:xfrm>
          <a:prstGeom prst="chevron">
            <a:avLst/>
          </a:prstGeom>
          <a:solidFill>
            <a:srgbClr val="B40000"/>
          </a:solidFill>
          <a:ln w="25400">
            <a:solidFill>
              <a:schemeClr val="bg1"/>
            </a:solidFill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bIns="91440" anchor="b"/>
          <a:lstStyle/>
          <a:p>
            <a:pPr marL="0"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rPr>
              <a:t>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450590" cy="3683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二、</a:t>
            </a:r>
            <a:r>
              <a:rPr lang="zh-CN" b="1" dirty="0">
                <a:sym typeface="+mn-ea"/>
              </a:rPr>
              <a:t>评标规则与投标组织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8935" y="1071880"/>
            <a:ext cx="8382635" cy="244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70000"/>
              </a:lnSpc>
            </a:pPr>
            <a:r>
              <a:rPr lang="zh-CN" altLang="en-US">
                <a:sym typeface="+mn-ea"/>
              </a:rPr>
              <a:t>评标规则：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一阶段两信封模式，技术标通过者开财务标，原则上财务标最低标中标。</a:t>
            </a:r>
            <a:endParaRPr lang="zh-CN" altLang="en-US"/>
          </a:p>
          <a:p>
            <a:pPr marL="2857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技术标通过标准：满分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sym typeface="+mn-ea"/>
              </a:rPr>
              <a:t>分，总分得</a:t>
            </a:r>
            <a:r>
              <a:rPr lang="en-US" altLang="zh-CN">
                <a:sym typeface="+mn-ea"/>
              </a:rPr>
              <a:t>65</a:t>
            </a:r>
            <a:r>
              <a:rPr lang="zh-CN" altLang="en-US">
                <a:sym typeface="+mn-ea"/>
              </a:rPr>
              <a:t>分通过，根据标书既定评分规则打分。</a:t>
            </a:r>
            <a:endParaRPr lang="zh-CN" altLang="en-US"/>
          </a:p>
          <a:p>
            <a:pPr marL="2857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技术标评分计算方法：业绩</a:t>
            </a:r>
            <a:r>
              <a:rPr lang="en-US" altLang="zh-CN">
                <a:sym typeface="+mn-ea"/>
              </a:rPr>
              <a:t>[</a:t>
            </a:r>
            <a:r>
              <a:rPr lang="zh-CN" altLang="en-US">
                <a:sym typeface="+mn-ea"/>
              </a:rPr>
              <a:t>数量权重</a:t>
            </a:r>
            <a:r>
              <a:rPr lang="en-US" altLang="zh-CN">
                <a:sym typeface="+mn-ea"/>
              </a:rPr>
              <a:t>] </a:t>
            </a:r>
            <a:r>
              <a:rPr lang="zh-CN" altLang="en-US">
                <a:sym typeface="+mn-ea"/>
              </a:rPr>
              <a:t>乘以</a:t>
            </a:r>
            <a:r>
              <a:rPr lang="en-US" altLang="zh-CN">
                <a:sym typeface="+mn-ea"/>
              </a:rPr>
              <a:t> [</a:t>
            </a:r>
            <a:r>
              <a:rPr lang="zh-CN" altLang="en-US">
                <a:sym typeface="+mn-ea"/>
              </a:rPr>
              <a:t>质量权重</a:t>
            </a:r>
            <a:r>
              <a:rPr lang="en-US" altLang="zh-CN">
                <a:sym typeface="+mn-ea"/>
              </a:rPr>
              <a:t>]</a:t>
            </a:r>
            <a:endParaRPr lang="zh-CN" altLang="en-US"/>
          </a:p>
          <a:p>
            <a:pPr marL="2857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财务标不得低于工程师预算价的</a:t>
            </a:r>
            <a:r>
              <a:rPr lang="en-US" altLang="zh-CN">
                <a:sym typeface="+mn-ea"/>
              </a:rPr>
              <a:t>20%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450590" cy="3683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二、</a:t>
            </a:r>
            <a:r>
              <a:rPr lang="zh-CN" b="1" dirty="0">
                <a:sym typeface="+mn-ea"/>
              </a:rPr>
              <a:t>评标规则与投标组织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8935" y="908050"/>
            <a:ext cx="8382635" cy="3385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altLang="en-US">
                <a:sym typeface="+mn-ea"/>
              </a:rPr>
              <a:t>投标组织：</a:t>
            </a:r>
            <a:endParaRPr lang="zh-CN" altLang="en-US">
              <a:sym typeface="+mn-ea"/>
            </a:endParaRP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altLang="en-US">
                <a:sym typeface="+mn-ea"/>
              </a:rPr>
              <a:t>【联营体牵头方】以联营体名义投标，中土作为联营体牵头方占比</a:t>
            </a:r>
            <a:r>
              <a:rPr lang="en-US" altLang="zh-CN">
                <a:sym typeface="+mn-ea"/>
              </a:rPr>
              <a:t>51%</a:t>
            </a:r>
            <a:r>
              <a:rPr lang="zh-CN" altLang="en-US">
                <a:sym typeface="+mn-ea"/>
              </a:rPr>
              <a:t>，负责投标组织、与使领馆和业主</a:t>
            </a:r>
            <a:r>
              <a:rPr lang="zh-CN" altLang="en-US">
                <a:sym typeface="+mn-ea"/>
              </a:rPr>
              <a:t>协调，编制报价，组标交标等</a:t>
            </a:r>
            <a:r>
              <a:rPr lang="zh-CN" altLang="en-US">
                <a:sym typeface="+mn-ea"/>
              </a:rPr>
              <a:t>工作。</a:t>
            </a:r>
            <a:endParaRPr lang="zh-CN" altLang="en-US">
              <a:sym typeface="+mn-ea"/>
            </a:endParaRP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altLang="en-US">
                <a:sym typeface="+mn-ea"/>
              </a:rPr>
              <a:t>【联营体合作方】中铁隆工程集团有限公司，占比</a:t>
            </a:r>
            <a:r>
              <a:rPr lang="en-US" altLang="zh-CN">
                <a:sym typeface="+mn-ea"/>
              </a:rPr>
              <a:t>49%</a:t>
            </a:r>
            <a:endParaRPr lang="zh-CN" altLang="en-US">
              <a:sym typeface="+mn-ea"/>
            </a:endParaRP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altLang="en-US">
                <a:sym typeface="+mn-ea"/>
              </a:rPr>
              <a:t>【设计专业分包】深圳市市政设计研究院有限公司</a:t>
            </a:r>
            <a:endParaRPr lang="zh-CN" altLang="en-US">
              <a:sym typeface="+mn-ea"/>
            </a:endParaRP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                       </a:t>
            </a:r>
            <a:r>
              <a:rPr lang="zh-CN" altLang="en-US">
                <a:sym typeface="+mn-ea"/>
              </a:rPr>
              <a:t>上海市政工程设计研究总院（集团）有限公司</a:t>
            </a:r>
            <a:endParaRPr lang="zh-CN" altLang="en-US">
              <a:sym typeface="+mn-ea"/>
            </a:endParaRPr>
          </a:p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altLang="en-US">
                <a:sym typeface="+mn-ea"/>
              </a:rPr>
              <a:t>【设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备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供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商】铁建重工（暂定，待比价）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450590" cy="3683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二、</a:t>
            </a:r>
            <a:r>
              <a:rPr lang="zh-CN" b="1" dirty="0">
                <a:sym typeface="+mn-ea"/>
              </a:rPr>
              <a:t>评标规则与投标组织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" y="960120"/>
            <a:ext cx="795655" cy="7956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2655" y="1156335"/>
            <a:ext cx="1844675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1600">
                <a:latin typeface="宋体" charset="0"/>
                <a:ea typeface="宋体" charset="0"/>
                <a:cs typeface="宋体" charset="0"/>
                <a:sym typeface="+mn-ea"/>
              </a:rPr>
              <a:t>中铁隆工程集团</a:t>
            </a:r>
            <a:endParaRPr lang="en-US" altLang="zh-CN" sz="1600">
              <a:latin typeface="宋体" charset="0"/>
              <a:ea typeface="宋体" charset="0"/>
              <a:cs typeface="宋体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890" y="1710055"/>
            <a:ext cx="2968625" cy="286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1600"/>
              <a:t>成立于</a:t>
            </a:r>
            <a:r>
              <a:rPr lang="en-US" altLang="zh-CN" sz="1600"/>
              <a:t>1998</a:t>
            </a:r>
            <a:r>
              <a:rPr lang="zh-CN" altLang="en-US" sz="1600"/>
              <a:t>年，以轨道交通、水环境、城市更新为主营业务的</a:t>
            </a:r>
            <a:r>
              <a:rPr lang="zh-CN" altLang="en-US" sz="1600"/>
              <a:t>工程总承包企业，</a:t>
            </a:r>
            <a:r>
              <a:rPr lang="zh-CN" altLang="en-US" sz="1600" b="1" u="sng"/>
              <a:t>具有市政总承包一级资质</a:t>
            </a:r>
            <a:r>
              <a:rPr lang="zh-CN" altLang="en-US" sz="1600"/>
              <a:t>，山东高速子公司。</a:t>
            </a:r>
            <a:endParaRPr lang="zh-CN" altLang="en-US" sz="1600"/>
          </a:p>
          <a:p>
            <a:pPr algn="just"/>
            <a:endParaRPr lang="zh-CN" altLang="en-US" sz="1600"/>
          </a:p>
          <a:p>
            <a:pPr algn="just"/>
            <a:r>
              <a:rPr lang="zh-CN" altLang="en-US" sz="1600" b="1"/>
              <a:t>与中土组成联营体，中土</a:t>
            </a:r>
            <a:r>
              <a:rPr lang="en-US" altLang="zh-CN" sz="1600" b="1"/>
              <a:t>51%</a:t>
            </a:r>
            <a:r>
              <a:rPr lang="zh-CN" altLang="en-US" sz="1600" b="1"/>
              <a:t>，中铁隆</a:t>
            </a:r>
            <a:r>
              <a:rPr lang="en-US" altLang="zh-CN" sz="1600" b="1"/>
              <a:t>49%</a:t>
            </a:r>
            <a:r>
              <a:rPr lang="zh-CN" altLang="en-US" sz="1600" b="1"/>
              <a:t>，开对等</a:t>
            </a:r>
            <a:r>
              <a:rPr lang="zh-CN" altLang="en-US" sz="1600" b="1"/>
              <a:t>保函。</a:t>
            </a:r>
            <a:endParaRPr lang="zh-CN" altLang="en-US" sz="1600" b="1"/>
          </a:p>
          <a:p>
            <a:pPr algn="just"/>
            <a:endParaRPr lang="zh-CN" altLang="en-US" sz="1600"/>
          </a:p>
          <a:p>
            <a:pPr algn="just"/>
            <a:r>
              <a:rPr lang="zh-CN" altLang="en-US" sz="1600"/>
              <a:t>主要负责提供施工业绩，编制技术方案编制和</a:t>
            </a:r>
            <a:r>
              <a:rPr lang="zh-CN" altLang="en-US" sz="1600"/>
              <a:t>提供报价</a:t>
            </a:r>
            <a:r>
              <a:rPr lang="zh-CN" altLang="en-US" sz="1600"/>
              <a:t>参考。</a:t>
            </a:r>
            <a:endParaRPr lang="zh-CN" altLang="en-US" sz="1600"/>
          </a:p>
        </p:txBody>
      </p:sp>
      <p:cxnSp>
        <p:nvCxnSpPr>
          <p:cNvPr id="11" name="直接连接符 10"/>
          <p:cNvCxnSpPr/>
          <p:nvPr/>
        </p:nvCxnSpPr>
        <p:spPr>
          <a:xfrm>
            <a:off x="3256280" y="1062355"/>
            <a:ext cx="0" cy="3333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 descr="截屏2026-01-02 20.49.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65" y="986155"/>
            <a:ext cx="520700" cy="6477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895465" y="1112520"/>
            <a:ext cx="156464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1600">
                <a:latin typeface="宋体" charset="0"/>
                <a:ea typeface="宋体" charset="0"/>
                <a:cs typeface="宋体" charset="0"/>
                <a:sym typeface="+mn-ea"/>
              </a:rPr>
              <a:t>上海市政</a:t>
            </a:r>
            <a:r>
              <a:rPr lang="zh-CN" altLang="en-US" sz="1600">
                <a:latin typeface="宋体" charset="0"/>
                <a:ea typeface="宋体" charset="0"/>
                <a:cs typeface="宋体" charset="0"/>
                <a:sym typeface="+mn-ea"/>
              </a:rPr>
              <a:t>院</a:t>
            </a:r>
            <a:endParaRPr lang="zh-CN" altLang="en-US" sz="1600">
              <a:latin typeface="宋体" charset="0"/>
              <a:ea typeface="宋体" charset="0"/>
              <a:cs typeface="宋体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08045" y="1677670"/>
            <a:ext cx="2632710" cy="286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1600"/>
              <a:t>成立于</a:t>
            </a:r>
            <a:r>
              <a:rPr lang="en-US" altLang="zh-CN" sz="1600"/>
              <a:t>1984</a:t>
            </a:r>
            <a:r>
              <a:rPr lang="zh-CN" altLang="en-US" sz="1600"/>
              <a:t>年，以交通基础设施、市政、园林、地下空间等设计勘察咨询为主业，</a:t>
            </a:r>
            <a:r>
              <a:rPr lang="zh-CN" altLang="en-US" sz="1600" b="1" u="sng"/>
              <a:t>具有工程勘察综合甲级资质</a:t>
            </a:r>
            <a:r>
              <a:rPr lang="zh-CN" altLang="en-US" sz="1600"/>
              <a:t>，深圳地铁</a:t>
            </a:r>
            <a:r>
              <a:rPr lang="zh-CN" altLang="en-US" sz="1600"/>
              <a:t>集团子公司。</a:t>
            </a:r>
            <a:endParaRPr lang="zh-CN" altLang="en-US" sz="1600"/>
          </a:p>
          <a:p>
            <a:pPr algn="just"/>
            <a:endParaRPr lang="zh-CN" altLang="en-US" sz="1600"/>
          </a:p>
          <a:p>
            <a:pPr algn="just"/>
            <a:r>
              <a:rPr lang="zh-CN" altLang="en-US" sz="1600"/>
              <a:t>作为联营体的</a:t>
            </a:r>
            <a:r>
              <a:rPr lang="zh-CN" altLang="en-US" sz="1600" b="1"/>
              <a:t>设计专业分包</a:t>
            </a:r>
            <a:endParaRPr lang="zh-CN" altLang="en-US" sz="1600"/>
          </a:p>
          <a:p>
            <a:pPr algn="just"/>
            <a:endParaRPr lang="zh-CN" altLang="en-US" sz="1600"/>
          </a:p>
          <a:p>
            <a:pPr algn="just"/>
            <a:endParaRPr lang="zh-CN" altLang="en-US" sz="1600"/>
          </a:p>
          <a:p>
            <a:pPr algn="just"/>
            <a:r>
              <a:rPr lang="zh-CN" altLang="en-US" sz="1600"/>
              <a:t>主要负责编制</a:t>
            </a:r>
            <a:r>
              <a:rPr lang="zh-CN" altLang="en-US" sz="1600" b="1" u="sng"/>
              <a:t>顶管设计方案</a:t>
            </a:r>
            <a:r>
              <a:rPr lang="zh-CN" altLang="en-US" sz="1600"/>
              <a:t>，协助编制</a:t>
            </a:r>
            <a:r>
              <a:rPr lang="zh-CN" altLang="en-US" sz="1600"/>
              <a:t>技术方案。</a:t>
            </a:r>
            <a:endParaRPr lang="zh-CN" altLang="en-US" sz="1600"/>
          </a:p>
        </p:txBody>
      </p:sp>
      <p:pic>
        <p:nvPicPr>
          <p:cNvPr id="12" name="图片 11" descr="截屏2026-01-02 20.49.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745" y="1062355"/>
            <a:ext cx="584200" cy="5715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078605" y="1156335"/>
            <a:ext cx="130683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1600">
                <a:latin typeface="宋体" charset="0"/>
                <a:ea typeface="宋体" charset="0"/>
                <a:cs typeface="宋体" charset="0"/>
                <a:sym typeface="+mn-ea"/>
              </a:rPr>
              <a:t>深圳市政院</a:t>
            </a:r>
            <a:endParaRPr lang="zh-CN" altLang="en-US" sz="1600">
              <a:latin typeface="宋体" charset="0"/>
              <a:ea typeface="宋体" charset="0"/>
              <a:cs typeface="宋体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207760" y="1062355"/>
            <a:ext cx="0" cy="3333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344285" y="1677670"/>
            <a:ext cx="2632710" cy="286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1600"/>
              <a:t>成立于</a:t>
            </a:r>
            <a:r>
              <a:rPr lang="en-US" altLang="zh-CN" sz="1600"/>
              <a:t>1954</a:t>
            </a:r>
            <a:r>
              <a:rPr lang="zh-CN" altLang="en-US" sz="1600"/>
              <a:t>年，以工程设计咨询、工程总承包</a:t>
            </a:r>
            <a:r>
              <a:rPr lang="zh-CN" altLang="en-US" sz="1600"/>
              <a:t>和工程管理为主业，</a:t>
            </a:r>
            <a:r>
              <a:rPr lang="zh-CN" altLang="en-US" sz="1600" b="1" u="sng"/>
              <a:t>具有工程勘察综合甲级资质。</a:t>
            </a:r>
            <a:endParaRPr lang="zh-CN" altLang="en-US" sz="1600" b="1" u="sng"/>
          </a:p>
          <a:p>
            <a:pPr algn="just"/>
            <a:endParaRPr lang="zh-CN" altLang="en-US" sz="1600" b="1" u="sng"/>
          </a:p>
          <a:p>
            <a:pPr algn="just"/>
            <a:endParaRPr lang="zh-CN" altLang="en-US" sz="1600"/>
          </a:p>
          <a:p>
            <a:pPr algn="just"/>
            <a:r>
              <a:rPr lang="zh-CN" altLang="en-US" sz="1600"/>
              <a:t>作为联营体的</a:t>
            </a:r>
            <a:r>
              <a:rPr lang="zh-CN" altLang="en-US" sz="1600" b="1"/>
              <a:t>设计专业分包</a:t>
            </a:r>
            <a:endParaRPr lang="zh-CN" altLang="en-US" sz="1600"/>
          </a:p>
          <a:p>
            <a:pPr algn="just"/>
            <a:endParaRPr lang="zh-CN" altLang="en-US" sz="1600"/>
          </a:p>
          <a:p>
            <a:pPr algn="just"/>
            <a:endParaRPr lang="zh-CN" altLang="en-US" sz="1600"/>
          </a:p>
          <a:p>
            <a:pPr algn="just"/>
            <a:r>
              <a:rPr lang="zh-CN" altLang="en-US" sz="1600"/>
              <a:t>主要负责编制</a:t>
            </a:r>
            <a:r>
              <a:rPr lang="zh-CN" altLang="en-US" sz="1600" b="1" u="sng"/>
              <a:t>终端排放站设计方案</a:t>
            </a:r>
            <a:r>
              <a:rPr lang="zh-CN" altLang="en-US" sz="1600"/>
              <a:t>，协助编制</a:t>
            </a:r>
            <a:r>
              <a:rPr lang="zh-CN" altLang="en-US" sz="1600"/>
              <a:t>技术方案。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450590" cy="3683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二、</a:t>
            </a:r>
            <a:r>
              <a:rPr lang="zh-CN" b="1" dirty="0">
                <a:sym typeface="+mn-ea"/>
              </a:rPr>
              <a:t>评标规则与投标组织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205740" y="908050"/>
          <a:ext cx="8681720" cy="361315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68475"/>
                <a:gridCol w="1925955"/>
                <a:gridCol w="1661160"/>
                <a:gridCol w="3326130"/>
              </a:tblGrid>
              <a:tr h="394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业绩类别</a:t>
                      </a:r>
                      <a:endParaRPr lang="zh-CN" altLang="en-US" sz="1200"/>
                    </a:p>
                  </a:txBody>
                  <a:tcPr anchor="ctr" anchorCtr="0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业绩要求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提供单位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业绩项目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2260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施工业绩</a:t>
                      </a:r>
                      <a:endParaRPr lang="zh-CN" altLang="en-US" sz="1200"/>
                    </a:p>
                  </a:txBody>
                  <a:tcPr anchor="ctr" anchorCtr="0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顶管施工业绩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中铁隆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武候区</a:t>
                      </a:r>
                      <a:r>
                        <a:rPr lang="en-US" altLang="zh-CN" sz="1100"/>
                        <a:t>“</a:t>
                      </a:r>
                      <a:r>
                        <a:rPr lang="zh-CN" altLang="en-US" sz="1100"/>
                        <a:t>宜居水岸</a:t>
                      </a:r>
                      <a:r>
                        <a:rPr lang="en-US" altLang="zh-CN" sz="1100"/>
                        <a:t>”</a:t>
                      </a:r>
                      <a:r>
                        <a:rPr lang="zh-CN" altLang="en-US" sz="1100"/>
                        <a:t>一期</a:t>
                      </a:r>
                      <a:r>
                        <a:rPr lang="en-US" altLang="zh-CN" sz="1100"/>
                        <a:t> PPP </a:t>
                      </a:r>
                      <a:r>
                        <a:rPr lang="zh-CN" altLang="en-US" sz="1100"/>
                        <a:t>项目</a:t>
                      </a:r>
                      <a:endParaRPr lang="zh-CN" altLang="en-US" sz="1100"/>
                    </a:p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龙泉驿区西江河流域水环境综合整治项目二期</a:t>
                      </a:r>
                      <a:r>
                        <a:rPr lang="en-US" altLang="zh-CN" sz="1100"/>
                        <a:t> PPP </a:t>
                      </a:r>
                      <a:r>
                        <a:rPr lang="zh-CN" altLang="en-US" sz="1100"/>
                        <a:t>项目</a:t>
                      </a:r>
                      <a:endParaRPr lang="zh-CN" altLang="en-US" sz="1100"/>
                    </a:p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西河污水处理二厂项目</a:t>
                      </a:r>
                      <a:endParaRPr lang="zh-CN" altLang="en-US" sz="11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1175">
                <a:tc vMerge="1"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泵站施工业绩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>
                    <a:lnL w="9525">
                      <a:solidFill>
                        <a:schemeClr val="tx1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87693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设计业绩</a:t>
                      </a:r>
                      <a:endParaRPr lang="zh-CN" altLang="en-US" sz="1200"/>
                    </a:p>
                  </a:txBody>
                  <a:tcPr anchor="ctr" anchorCtr="0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顶管设计业绩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深圳市政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西咸新区能源金融贸易区凤栖路周边排水干管工程</a:t>
                      </a:r>
                      <a:r>
                        <a:rPr lang="en-US" altLang="zh-CN" sz="1100"/>
                        <a:t>EPC</a:t>
                      </a:r>
                      <a:r>
                        <a:rPr lang="zh-CN" altLang="en-US" sz="1100"/>
                        <a:t>总承包项目</a:t>
                      </a:r>
                      <a:endParaRPr lang="zh-CN" altLang="en-US" sz="1100"/>
                    </a:p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成都市绕城高速输水管道（成洛路</a:t>
                      </a:r>
                      <a:r>
                        <a:rPr lang="en-US" altLang="zh-CN" sz="1100"/>
                        <a:t>-</a:t>
                      </a:r>
                      <a:r>
                        <a:rPr lang="zh-CN" altLang="en-US" sz="1100"/>
                        <a:t>川陕路）工程勘察设计</a:t>
                      </a:r>
                      <a:endParaRPr lang="zh-CN" altLang="en-US" sz="11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20090">
                <a:tc vMerge="1"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泵站设计业绩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上海市政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杨浦区民星南排水系统改造工程</a:t>
                      </a:r>
                      <a:endParaRPr lang="zh-CN" altLang="en-US" sz="1100"/>
                    </a:p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庙彭排水系统新建工程</a:t>
                      </a:r>
                      <a:endParaRPr lang="zh-CN" altLang="en-US" sz="1100"/>
                    </a:p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云岭西排水系统工程</a:t>
                      </a:r>
                      <a:endParaRPr lang="zh-CN" altLang="en-US" sz="11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73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一般业绩</a:t>
                      </a:r>
                      <a:endParaRPr lang="zh-CN" altLang="en-US" sz="1200"/>
                    </a:p>
                  </a:txBody>
                  <a:tcPr anchor="ctr" anchorCtr="0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一般工程承包业绩和相似业绩。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中土</a:t>
                      </a:r>
                      <a:endParaRPr lang="zh-CN" altLang="en-US" sz="12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卡夫河供水项目</a:t>
                      </a:r>
                      <a:endParaRPr lang="zh-CN" altLang="en-US" sz="1100"/>
                    </a:p>
                    <a:p>
                      <a:pPr marL="171450" indent="-171450" algn="just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100"/>
                        <a:t>坦桑尼亚森格拉玛供水项目</a:t>
                      </a:r>
                      <a:endParaRPr lang="zh-CN" altLang="en-US" sz="1100"/>
                    </a:p>
                  </a:txBody>
                  <a:tcPr anchor="ctr" anchorCtr="0">
                    <a:lnL w="9525">
                      <a:solidFill>
                        <a:schemeClr val="tx1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2983230" y="1837690"/>
            <a:ext cx="5690870" cy="74358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279525" rtl="0" eaLnBrk="1" fontAlgn="auto" latinLnBrk="0" hangingPunct="1">
              <a:lnSpc>
                <a:spcPct val="10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sz="3200" b="1" dirty="0">
                <a:sym typeface="+mn-ea"/>
              </a:rPr>
              <a:t>竞争与风险分析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燕尾形 1"/>
          <p:cNvSpPr/>
          <p:nvPr/>
        </p:nvSpPr>
        <p:spPr>
          <a:xfrm>
            <a:off x="518160" y="1837055"/>
            <a:ext cx="2105025" cy="744220"/>
          </a:xfrm>
          <a:prstGeom prst="chevron">
            <a:avLst/>
          </a:prstGeom>
          <a:solidFill>
            <a:srgbClr val="B40000"/>
          </a:solidFill>
          <a:ln w="25400">
            <a:solidFill>
              <a:schemeClr val="bg1"/>
            </a:solidFill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bIns="91440" anchor="b"/>
          <a:lstStyle/>
          <a:p>
            <a:pPr marL="0"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rPr>
              <a:t>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450590" cy="3683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三、</a:t>
            </a:r>
            <a:r>
              <a:rPr lang="zh-CN" b="1" dirty="0">
                <a:sym typeface="+mn-ea"/>
              </a:rPr>
              <a:t>竞争与风险分析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8935" y="908050"/>
            <a:ext cx="8606155" cy="1345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70000"/>
              </a:lnSpc>
              <a:buFont typeface="Arial" panose="020B0604020202090204" pitchFamily="34" charset="0"/>
              <a:buNone/>
            </a:pPr>
            <a:r>
              <a:rPr lang="zh-CN" altLang="en-US" sz="1600">
                <a:sym typeface="+mn-ea"/>
              </a:rPr>
              <a:t>潜在竞争对手：</a:t>
            </a:r>
            <a:endParaRPr lang="zh-CN" altLang="en-US" sz="1600">
              <a:sym typeface="+mn-ea"/>
            </a:endParaRPr>
          </a:p>
          <a:p>
            <a:pPr marL="2857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zh-CN" altLang="en-US" sz="1600">
                <a:sym typeface="+mn-ea"/>
              </a:rPr>
              <a:t>能建、路桥、电建等央企：商务能力强、相关领域经验更多，投标准备</a:t>
            </a:r>
            <a:r>
              <a:rPr lang="zh-CN" altLang="en-US" sz="1600">
                <a:sym typeface="+mn-ea"/>
              </a:rPr>
              <a:t>启动较早。</a:t>
            </a:r>
            <a:endParaRPr lang="zh-CN" altLang="en-US" sz="1600">
              <a:sym typeface="+mn-ea"/>
            </a:endParaRPr>
          </a:p>
          <a:p>
            <a:pPr marL="2857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zh-CN" altLang="en-US" sz="1600">
                <a:sym typeface="+mn-ea"/>
              </a:rPr>
              <a:t>土耳其公司：商务能力强，投标运作灵活。</a:t>
            </a:r>
            <a:endParaRPr lang="zh-CN" altLang="en-US" sz="16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2435" y="2504440"/>
            <a:ext cx="8225155" cy="2023110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30000"/>
              </a:lnSpc>
            </a:pPr>
            <a:r>
              <a:rPr lang="zh-CN" altLang="en-US" sz="1600"/>
              <a:t>我方联营体：</a:t>
            </a:r>
            <a:endParaRPr lang="zh-CN" altLang="en-US" sz="1600"/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/>
              <a:t>与业主建立标前，同样具备较强商务运作能力。</a:t>
            </a:r>
            <a:endParaRPr lang="zh-CN" altLang="en-US" sz="1600"/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/>
              <a:t>与国内行业头部设计公司及实施管理经验丰富的工程公司合作，能够编制高质量技术标。</a:t>
            </a:r>
            <a:endParaRPr lang="zh-CN" altLang="en-US" sz="1600"/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/>
              <a:t>中土深耕巴基斯坦市场，比其他央企更了解巴基斯坦商业性竞争项目投标，在拉合尔本地有多个在建项目，具备既有管理团队和设备，了解当地材料供应动态，能够编制具有竞争力的财务标。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450590" cy="3683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三、</a:t>
            </a:r>
            <a:r>
              <a:rPr lang="zh-CN" b="1" dirty="0">
                <a:sym typeface="+mn-ea"/>
              </a:rPr>
              <a:t>竞争与风险分析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94310" y="908050"/>
          <a:ext cx="885634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510"/>
                <a:gridCol w="2719070"/>
                <a:gridCol w="650875"/>
                <a:gridCol w="3945890"/>
              </a:tblGrid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风险类别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风险描述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风险等级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及应对措施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安全风险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zh-CN" altLang="en-US" sz="1200"/>
                        <a:t>拉合尔为橙色风险地区，非恐怖主义活动地区，对中资企业和中国人友好，但存在治安、交通和施工安全风险。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中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zh-CN" altLang="en-US" sz="1200"/>
                        <a:t>投标前进行现场考察，编制科学可行的安保方案，与当地军警部门协调配置安保人员，将安保费用足额列入投标成本。若项目中标，严格执行上级单位和当地有关部门规定的安全保障措施，做好施工安全教育、监督和整改，在采取充分安保措施的情况下</a:t>
                      </a:r>
                      <a:r>
                        <a:rPr lang="zh-CN" altLang="en-US" sz="1200"/>
                        <a:t>综合安全</a:t>
                      </a:r>
                      <a:r>
                        <a:rPr lang="zh-CN" altLang="en-US" sz="1200"/>
                        <a:t>风险可控。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合规风险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zh-CN" altLang="en-US" sz="1200"/>
                        <a:t>巴基斯坦为高危国别，项目来源为亚投行，存在</a:t>
                      </a:r>
                      <a:r>
                        <a:rPr lang="zh-CN" altLang="en-US" sz="1200"/>
                        <a:t>投标合规风险。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高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zh-CN" altLang="en-US" sz="1200"/>
                        <a:t>严格履行商务部、发改委、股份公司和集团公司有关合规流程，规范监督合作方投标行为，确保投标</a:t>
                      </a:r>
                      <a:r>
                        <a:rPr lang="zh-CN" altLang="en-US" sz="1200"/>
                        <a:t>合规。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技术及</a:t>
                      </a:r>
                      <a:r>
                        <a:rPr lang="zh-CN" altLang="en-US" sz="1200"/>
                        <a:t>环保风险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zh-CN" altLang="en-US" sz="1200"/>
                        <a:t>本项目为巴基斯坦首次使用顶管技术施工的市政项目，尽管国内技术成熟，在巴可能存在地质水文资料失准、设备与地层不匹配、既有设施保护与改迁和环保</a:t>
                      </a:r>
                      <a:r>
                        <a:rPr lang="zh-CN" altLang="en-US" sz="1200"/>
                        <a:t>风险。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中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en-US" altLang="zh-CN" sz="1200"/>
                        <a:t>1. </a:t>
                      </a:r>
                      <a:r>
                        <a:rPr lang="zh-CN" altLang="en-US" sz="1200"/>
                        <a:t>做好地质水文勘察复核，必要时补充高密度勘探；</a:t>
                      </a:r>
                      <a:r>
                        <a:rPr lang="en-US" altLang="zh-CN" sz="1200"/>
                        <a:t>2. </a:t>
                      </a:r>
                      <a:r>
                        <a:rPr lang="zh-CN" altLang="en-US" sz="1200"/>
                        <a:t>根据复合地层进行定制化涉及设备关键部件，备足备件，做好维保；</a:t>
                      </a:r>
                      <a:r>
                        <a:rPr lang="en-US" altLang="zh-CN" sz="1200"/>
                        <a:t> 3. </a:t>
                      </a:r>
                      <a:r>
                        <a:rPr lang="zh-CN" altLang="en-US" sz="1200"/>
                        <a:t>与有关部门复核地下既有设施，编制报批专项保护或改迁方案和应急预案，分区分步</a:t>
                      </a:r>
                      <a:r>
                        <a:rPr lang="zh-CN" altLang="en-US" sz="1200"/>
                        <a:t>施工。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成本</a:t>
                      </a:r>
                      <a:r>
                        <a:rPr lang="zh-CN" altLang="en-US" sz="1200"/>
                        <a:t>风险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zh-CN" altLang="en-US" sz="1200"/>
                        <a:t>材料价格波动及上述风险带来的成</a:t>
                      </a:r>
                      <a:r>
                        <a:rPr lang="zh-CN" altLang="en-US" sz="1200"/>
                        <a:t>风险。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高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en-US" altLang="zh-CN" sz="1200"/>
                        <a:t>1. </a:t>
                      </a:r>
                      <a:r>
                        <a:rPr lang="zh-CN" altLang="en-US" sz="1200"/>
                        <a:t>利用外汇比例、价格调差等合同条款，编制不平衡报价；</a:t>
                      </a:r>
                      <a:r>
                        <a:rPr lang="en-US" altLang="zh-CN" sz="1200"/>
                        <a:t>2. </a:t>
                      </a:r>
                      <a:r>
                        <a:rPr lang="zh-CN" altLang="en-US" sz="1200"/>
                        <a:t>优化施组和采购计划，把控安全质量，预留工期缓冲；</a:t>
                      </a:r>
                      <a:r>
                        <a:rPr lang="en-US" altLang="zh-CN" sz="1200"/>
                        <a:t> 3. </a:t>
                      </a:r>
                      <a:r>
                        <a:rPr lang="zh-CN" altLang="en-US" sz="1200"/>
                        <a:t>利用变更索赔，提升</a:t>
                      </a:r>
                      <a:r>
                        <a:rPr lang="zh-CN" altLang="en-US" sz="1200"/>
                        <a:t>工程效益。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" y="539750"/>
            <a:ext cx="3450590" cy="3683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b="1" dirty="0">
                <a:latin typeface="宋体" charset="0"/>
                <a:ea typeface="宋体" charset="0"/>
                <a:cs typeface="宋体" charset="0"/>
              </a:rPr>
              <a:t>三、</a:t>
            </a:r>
            <a:r>
              <a:rPr lang="zh-CN" b="1" dirty="0">
                <a:sym typeface="+mn-ea"/>
              </a:rPr>
              <a:t>竞争与风险分析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b="1" dirty="0">
              <a:latin typeface="宋体" charset="0"/>
              <a:ea typeface="宋体" charset="0"/>
              <a:cs typeface="宋体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42265" y="1109980"/>
          <a:ext cx="83419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665"/>
                <a:gridCol w="2780665"/>
                <a:gridCol w="2780665"/>
              </a:tblGrid>
              <a:tr h="571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备案类别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当前进展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备注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经商处支持函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已办妥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en-US" altLang="zh-CN" sz="1400"/>
                        <a:t>10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24</a:t>
                      </a:r>
                      <a:r>
                        <a:rPr lang="zh-CN" altLang="en-US" sz="1400"/>
                        <a:t>日向经商处申请，</a:t>
                      </a:r>
                      <a:r>
                        <a:rPr lang="en-US" altLang="zh-CN" sz="1400"/>
                        <a:t>11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30</a:t>
                      </a:r>
                      <a:r>
                        <a:rPr lang="zh-CN" altLang="en-US" sz="1400"/>
                        <a:t>日收到支持函。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股份公司备案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已提交，</a:t>
                      </a:r>
                      <a:r>
                        <a:rPr lang="zh-CN" altLang="en-US" sz="1400"/>
                        <a:t>审核中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zh-CN" altLang="en-US" sz="1400"/>
                        <a:t>第一次备案被拒，取得支持函后申请了第二次备案。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571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商务部备案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已提交，审核</a:t>
                      </a:r>
                      <a:r>
                        <a:rPr lang="zh-CN" altLang="en-US" sz="1400">
                          <a:sym typeface="+mn-ea"/>
                        </a:rPr>
                        <a:t>中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en-US" altLang="zh-CN" sz="1400"/>
                        <a:t>12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日发起备案，</a:t>
                      </a:r>
                      <a:r>
                        <a:rPr lang="en-US" altLang="zh-CN" sz="1400"/>
                        <a:t>12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5</a:t>
                      </a:r>
                      <a:r>
                        <a:rPr lang="zh-CN" altLang="en-US" sz="1400"/>
                        <a:t>日和</a:t>
                      </a:r>
                      <a:r>
                        <a:rPr lang="en-US" altLang="zh-CN" sz="1400"/>
                        <a:t>17</a:t>
                      </a:r>
                      <a:r>
                        <a:rPr lang="zh-CN" altLang="en-US" sz="1400"/>
                        <a:t>日应商务部要求补充提交了</a:t>
                      </a:r>
                      <a:r>
                        <a:rPr lang="zh-CN" altLang="en-US" sz="1400"/>
                        <a:t>支撑材料。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发改委报备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已备案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buNone/>
                      </a:pPr>
                      <a:r>
                        <a:rPr lang="zh-CN" altLang="en-US" sz="1400"/>
                        <a:t>作为合同额超</a:t>
                      </a: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亿美元项目进行</a:t>
                      </a:r>
                      <a:r>
                        <a:rPr lang="zh-CN" altLang="en-US" sz="1400"/>
                        <a:t>例行备案。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îşḻîḋê"/>
          <p:cNvSpPr txBox="1"/>
          <p:nvPr/>
        </p:nvSpPr>
        <p:spPr>
          <a:xfrm>
            <a:off x="2490470" y="1757680"/>
            <a:ext cx="4163060" cy="16281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4000" spc="-5" dirty="0">
                <a:solidFill>
                  <a:srgbClr val="015BAC"/>
                </a:solidFill>
                <a:latin typeface="+mn-lt"/>
                <a:ea typeface="+mn-ea"/>
                <a:cs typeface="+mn-ea"/>
                <a:sym typeface="+mn-lt"/>
              </a:rPr>
              <a:t>感谢聆听</a:t>
            </a:r>
            <a:endParaRPr lang="zh-CN" altLang="en-US" sz="4000" spc="-5" dirty="0">
              <a:solidFill>
                <a:srgbClr val="015BAC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00" dirty="0">
                <a:solidFill>
                  <a:srgbClr val="015BAC"/>
                </a:solidFill>
                <a:latin typeface="+mn-lt"/>
                <a:ea typeface="+mn-ea"/>
                <a:cs typeface="+mn-ea"/>
                <a:sym typeface="+mn-lt"/>
              </a:rPr>
              <a:t>烦请批示</a:t>
            </a:r>
            <a:endParaRPr lang="zh-CN" altLang="en-US" sz="4000" dirty="0">
              <a:solidFill>
                <a:srgbClr val="015BA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20*285"/>
  <p:tag name="TABLE_ENDDRAG_RECT" val="7*71*220*285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3221</Words>
  <Application>WPS 文字</Application>
  <PresentationFormat>全屏显示(16:9)</PresentationFormat>
  <Paragraphs>415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汉仪旗黑</vt:lpstr>
      <vt:lpstr>黑体</vt:lpstr>
      <vt:lpstr>宋体</vt:lpstr>
      <vt:lpstr>汉仪书宋二KW</vt:lpstr>
      <vt:lpstr>仿宋</vt:lpstr>
      <vt:lpstr>汉仪中黑KW</vt:lpstr>
      <vt:lpstr>方正仿宋_GBK</vt:lpstr>
      <vt:lpstr>Arial Unicode MS</vt:lpstr>
      <vt:lpstr>Calibri</vt:lpstr>
      <vt:lpstr>Helvetica Neue</vt:lpstr>
      <vt:lpstr>仿宋</vt:lpstr>
      <vt:lpstr>微软雅黑</vt:lpstr>
      <vt:lpstr>黑体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topduty</dc:creator>
  <cp:lastModifiedBy>xuzhuoran</cp:lastModifiedBy>
  <cp:revision>65</cp:revision>
  <dcterms:created xsi:type="dcterms:W3CDTF">2026-01-23T06:38:52Z</dcterms:created>
  <dcterms:modified xsi:type="dcterms:W3CDTF">2026-01-23T06:38:52Z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79056BFE2A2F2D1951F84C63E91F4247</vt:lpwstr>
  </property>
</Properties>
</file>